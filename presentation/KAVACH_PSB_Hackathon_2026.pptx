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the jury. KAVACH is a working, multi-service DevSecOps platform we built for PSB Hackathon 2026's Problem Statement 3 -- automated discovery of misconfigurations in open-source dependencies for banking applications. Everything in this deck maps to code that exists in the repository today; where something is a placeholder or future work, we say so explicitly.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PSB Hackathon 2026 is led by the Department of Financial Services under the Ministry of Finance, together with the Indian Banks' Association, and hosted by UCO Bank with IIT Kharagpur as academic partner. The mission is explicit: strengthen cybersecurity across Public Sector Banks. That framing matters for how we built KAVACH -- every design choice, from the Banking Risk Score to RBI/PCI/SWIFT compliance mapping, is aimed at a PSB's real operating constraints, not a generic enterprise.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Problem Statement 3, verbatim in spirit: banking applications depend on hundreds of open-source libraries; traditional SCA tools stop at known CVEs and miss insecure defaults -- hardcoded passwords, weak cipher suites, insecure configuration, unsafe dependency usage. The ask is a static analysis platform that scans code and dependencies, detects both CVEs and misconfigurations, integrates with CI/CD, and produces clear, actionable, remediation-oriented reports. The rest of this deck walks through exactly how KAVACH answers each one of these, module by module, with evidence from the repository.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sourced numbers, not vibes. Sonatype's 2026 supply-chain report shows open-source malware up 75% year over year. Their 2024 report found that 95% of the time a vulnerable component is consumed, a fix already existed -- so the real failure is patch lag, exactly the insecure-defaults gap this problem statement calls out. Verizon's 2025 DBIR puts exploited vulnerabilities, unpatched systems, and misconfigurations at 37% of breaches. And closer to home, India's BFSI sector saw an average 4.1 million attacks a month in 2025 with 248+ confirmed bank breaches. Cite the sources on screen -- this is the kind of slide a jury will fact-check.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KAVACH's answer, at a glance: repository in, CI/CD trigger, nine scanners in parallel, AI explanation layer, a business-aware risk engine, deterministic compliance mapping, and seven report formats out. Every box on this flow corresponds to a real service in the codebase -- we'll open each one up over the next several slides. The screenshot on the right is the authenticated overview dashboard a security engineer sees first.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We're not claiming SonarQube, Snyk, GitHub Advanced Security, OWASP Dependency-Check, or Semgrep are bad tools -- several of them, including Semgrep itself, are running inside KAVACH. The honest differentiation is: none of them ship a banking-specific business risk score, none of them auto-map findings to RBI/PCI DSS/SWIFT CSP clauses, and none of them run this specific 9-tool cross-correlation with a citation-gated AI layer on top. That's KAVACH's lane: not a better Semgrep, but the business and regulatory layer none of them provide.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full component inventory from the README's own architecture diagram, laid out as six layers: ingress (repository, webhook, gateway, auth), orchestration (Redis-backed priority queue and distributed Celery workers), nine parallel scanners, an intelligence layer (aggregation, Banking Risk Score, compliance, AI explanation), the RAG knowledge layer, and delivery (reports, dashboard, notifications, storage). Every node on this slide is a real module in backend/app/ -- we cited file paths for each during our own internal audit.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scan can enter from three places -- manual upload, a direct URL, or a verified GitHub webhook -- and all three converge on one orchestration path. The queue dispatches a Celery chord of all nine scanners in parallel; the chord callback -- aggregation -- fires automatically once every scanner returns, success or failure, because each scanner task catches its own exceptions and always returns a result. Progress streams live over WebSocket, backed by Redis, so the dashboard reflects real per-scanner state, not a fake progress bar.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Nine independent Celery tasks, not nine steps of one script: Semgrep, Joern, AST-Grep, a dependency scanner that itself runs pip-audit plus OSV.dev plus an NVD keyword search, a configuration scanner for Kubernetes/Compose/GitHub Actions plus Dockerfiles, and a dedicated secrets engine. They run on named priority queues -- kavach.critical through kavach.low -- with a dedicated worker pool for urgent scans so a backlog of low-priority jobs never starves a critical one. Every task retries independently and always returns, so a missing local tool -- say, no Joern install -- degrades gracefully rather than failing the whole scan.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want to be precise about terminology here, because an earlier version of our own materials called this 'Zero-Day Prediction' -- the current code renamed it explicitly, because that name overclaimed what a heuristic can support. Attack Surface Exposure is a 0-100 composite of six capped, additive factors -- dependency count, known-CVE density, dependency staleness, risky package categories, configuration risk, and code vulnerability density. It's independent of BRS by design -- a codebase can score a clean BRS today and still carry a high Attack Surface Exposure from dependency rot. It ships with a fixed confidence of 0.55 and is explicitly documented in code as a prototype, with a stated path to a calibrated classifier later.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Banking Risk Score is a weighted average across seven factors -- CVSS at 30%, business-module criticality at 20%, exploitability at 15%, internet exposure and compliance impact and asset value at 10% each, and historical incident count at 5% -- scaled to 0-100 and clamped. It's a weighted average deliberately, not a product, because multiplying seven normalized terms collapses toward zero unless every factor is high, which would hide a genuinely severe single factor. Risk bands are Critical at 82+, High 58-82, Medium 35-58, Low below 35 -- calibrated against real scan data and pinned down with boundary unit tests. Every weight and every business module -- Payments, Authentication, Customer Data, and so on -- lives in Postgres and is editable at runtime through the risk-config API, with no redeploy required.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AI subsystems, addressing two different needs. First: every finding gets an automatic explanation as part of the scan pipeline, from a provider-agnostic gateway that can call Claude, OpenAI, or Gemini in the cloud, or Ollama and vLLM locally, behind one hybrid-mode setting that tries local first and falls back to cloud. If no provider is configured at all, a rule-based template library still produces a deterministic explanation -- a scan's completion is never gated on AI availability. Second: an on-demand retrieval-augmented layer covering chat, per-finding deep-dives, and executive Q&amp;A, detailed next. Structurally -- not just as a policy -- the AI layer only ever reads finding data to build a prompt; it never writes a score or mutates a finding. BRS and Attack Surface Exposure run in a completely separate code path the AI layer never touches.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knowledge base pipeline: an administrator uploads PDF, Markdown, or text reference material -- OWASP guides, internal policy, regulatory text -- deduplicated by content hash and chunked with heading and page awareness. Chunks are embedded locally with BAAI/bge-small-en-v1.5, no external API call, into Postgres with pgvector's HNSW index. A query retrieves the top 20 chunks by cosine similarity, a cross-encoder reranks down to the top 5, and a sigmoid-normalized confidence score must clear 0.5 before the LLM is even invoked. Below that threshold, KAVACH returns a fixed refusal message -- deterministically, not as a prompt suggestion the model could ignore. Every answer that does generate carries real citations: document, section, page, and both similarity scores. That's the core safety argument over plain prompting -- the model can't hallucinate an answer from its own training data, because it never sees the question without the gate first deciding whether grounding evidence actually exists.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evaluation is entirely YAML-driven -- every control ID, title, and trigger condition for RBI IT Framework 2021, PCI DSS v4.0, and SWIFT CSP lives in a YAML file, not in Python. A trigger matches on finding category, minimum severity, source tool, and keywords; any match fails that control, with evidence -- file, line, severity, source -- attached. It's a binary PASS/FAIL per control, rolled up into a per-framework and overall compliance percentage, recomputed live on every request rather than frozen at scan time. We want to be very direct about scope here: this is KAVACH's own illustrative mapping, useful for continuous self-assessment and evidence-gathering -- it is explicitly not a certified PCI QSA, RBI, or SWIFT CSP attestation, and we say that in the code comments themselves, not just in this deck.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roles, enforced at the backend two ways: a coarse middleware that blocks any mutating HTTP verb from a read-only-shaped role outright, and fine-grained per-route permission checks across 13 distinct permission strings. Administrator holds all 13; Security Manager runs and triages scans with risk-config write access; Security Analyst submits scans and uses the AI Assistant; Executive / Board Member is deliberately read-only across risk, compliance, and reporting; Read Only is the self-registration default. Both the web and mobile clients read this same role table, but only to hide navigation -- that's UX convenience, never the actual security boundary. Every login, role change, and permission denial is audit-logged with actor, IP address, and outcome.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Flutter app is a real, native Android/iOS client -- Riverpod for state, a Dio client with a JWT refresh interceptor mirroring the web app's, go_router with the same backend-role-aware redirects, and Freezed models generated to match backend Pydantic schemas field-for-field. It owns no business logic of its own -- every screen calls the identical FastAPI backend. Dashboard, Repositories, Start Scan, and Scan Queue/Details are fully wired to real endpoints today. In the interest of not fabricating anything: Risk Dashboard, Finding Explorer, Compliance, Executive Summary, Notifications, and Settings are honestly-labeled placeholders, because the backend doesn't yet expose the cross-scan rollup or notifications endpoints they'd need -- this is documented directly in the repo's mobile/docs/backend_gaps.md, not glossed over.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web console is the deep-work surface: thirteen-plus role-aware pages, a WebSocket-driven live scan lifecycle instead of polling, Framer Motion animation throughout, and Recharts visualizations that actually respond to the theme -- dark mode here is a genuine two-palette system with its own color tokens, not default Tailwind scaffolding. The showcase feature is the 3D architecture explorer built on React Three Fiber: it adapts rendering cost to device tier, gives every node a distinct custom geometry, and opens a glassmorphism detail panel on click with GSAP-animated camera flights. It's available publicly, with no login, specifically so evaluators and recruiters can explore the system design without needing an account.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things are true here and we want to keep them separate. First, KAVACH has its own real CI/CD pipeline -- GitHub Actions runs pytest, Helm lint and template validation, then builds and pushes Docker images to GHCR only outside pull requests, and deploys via Helm only on main, finishing with a helm-test smoke check. Second, and separately, KAVACH integrates into a customer's CI/CD by accepting a verified GitHub push webhook that automatically enqueues a scan, and by exporting SARIF that plugs straight into GitHub or GitLab's existing code-scanning tab, plus Slack/email/webhook notifications on completion. We're not claiming a merge-blocking gate exists today -- it doesn't yet -- so we've called that out honestly rather than overstating 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exact walkthrough we intend to run live: upload a repository (or one of the bundled sandbox payloads at low/medium/high risk), watch all nine scanners fan out with real WebSocket progress, land on a Banking Risk Score with its risk band, open a finding to see both the automatic explanation and the grounded AI Assistant, check live RBI/PCI/SWIFT compliance status with evidence, generate an executive PDF on demand, look at the dashboard's risk trend and compliance posture, and finally check that same scan's status from the Flutter mobile app to prove it's one backend, not two products.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We're deliberately only citing numbers we can point at in the repository. The aggregation layer collapses nine scanners' overlapping raw findings into one deduplicated set per scan. The RAG layer's own production-hardening benchmark shows p50 end-to-end retrieval around 100-200 milliseconds with no LLM call, and sustains roughly 46.6 requests per second under load with p50 175ms. Every completed scan produces all seven report formats automatically. Beyond the hard numbers: prioritization improves because BRS replaces flat CVSS, compliance visibility improves because PASS/FAIL is live and evidenced rather than a quarterly spreadsheet, and developer productivity improves because one scan produces every format a stakeholder needs. We're not going to put a fabricated '60% faster' number on this slide -- we don't have a controlled before/after study, and the jury will respect the honesty more than the number.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split this into three honesty tiers. In active development, straight from the README's own roadmap: wiring the mobile app's live scan progress to the WebSocket endpoint it doesn't yet use, a cross-scan rollup endpoint, and full SAML assertion validation. On the roadmap, still from the same source: a notifications inbox, a knowledge graph linking findings to CWEs and compliance clauses, root-cause intelligence, a security copilot that proposes rather than silently applies a fix, deeper enterprise integrations, and expanded compliance coverage. The third column -- IDE plugin, continuous-learning RAG, multi-bank SaaS -- is explicitly labeled as vision, not in-progress work, because none of it exists in the codebase today. We'd rather under-promise on this slide than have a juror open the repo and not find it.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We're Team Kavach -- Harshith B, Tejashwan Gangishetty, and Pratham Lal, from Vellore Institute of Technology. Everything in this deck is grounded in the actual repository -- github.com/TROJAN1HAMMER/KAVACH -- and every claim we made about what's implemented versus what's a placeholder or future work is documented in the fact-checklist we're submitting alongside this deck. Happy to take questions, and happy to open any file in the codebase live if the jury wants to verify a specific claim.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362895" y="-3291840"/>
            <a:ext cx="5852160" cy="5852160"/>
          </a:xfrm>
          <a:prstGeom prst="ellipse">
            <a:avLst/>
          </a:prstGeom>
          <a:noFill/>
          <a:ln w="13970">
            <a:solidFill>
              <a:srgbClr val="EDA100">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502920" y="6473952"/>
            <a:ext cx="11185855" cy="0"/>
          </a:xfrm>
          <a:prstGeom prst="line">
            <a:avLst/>
          </a:prstGeom>
          <a:ln w="9525">
            <a:solidFill>
              <a:srgbClr val="2A3654"/>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28816"/>
            <a:ext cx="4572000" cy="274320"/>
          </a:xfrm>
          <a:prstGeom prst="rect">
            <a:avLst/>
          </a:prstGeom>
          <a:noFill/>
        </p:spPr>
        <p:txBody>
          <a:bodyPr wrap="square" anchor="t" lIns="0" rIns="0" tIns="0" bIns="0">
            <a:noAutofit/>
          </a:bodyPr>
          <a:lstStyle/>
          <a:p>
            <a:pPr algn="l">
              <a:lnSpc>
                <a:spcPct val="100000"/>
              </a:lnSpc>
              <a:spcAft>
                <a:spcPts val="0"/>
              </a:spcAft>
            </a:pPr>
            <a:r>
              <a:rPr sz="900" b="0" i="0">
                <a:solidFill>
                  <a:srgbClr val="64708A"/>
                </a:solidFill>
                <a:latin typeface="Segoe UI"/>
              </a:rPr>
              <a:t>KAVACH  ·  PSB Hackathon 2026</a:t>
            </a:r>
          </a:p>
        </p:txBody>
      </p:sp>
      <p:sp>
        <p:nvSpPr>
          <p:cNvPr id="6" name="TextBox 5"/>
          <p:cNvSpPr txBox="1"/>
          <p:nvPr/>
        </p:nvSpPr>
        <p:spPr>
          <a:xfrm>
            <a:off x="10820095" y="6528816"/>
            <a:ext cx="914400" cy="274320"/>
          </a:xfrm>
          <a:prstGeom prst="rect">
            <a:avLst/>
          </a:prstGeom>
          <a:noFill/>
        </p:spPr>
        <p:txBody>
          <a:bodyPr wrap="square" anchor="t" lIns="0" rIns="0" tIns="0" bIns="0">
            <a:noAutofit/>
          </a:bodyPr>
          <a:lstStyle/>
          <a:p>
            <a:pPr algn="r">
              <a:lnSpc>
                <a:spcPct val="100000"/>
              </a:lnSpc>
              <a:spcAft>
                <a:spcPts val="0"/>
              </a:spcAft>
            </a:pPr>
            <a:r>
              <a:rPr sz="900" b="0" i="0">
                <a:solidFill>
                  <a:srgbClr val="64708A"/>
                </a:solidFill>
                <a:latin typeface="Segoe UI"/>
              </a:rPr>
              <a:t>01 / 22</a:t>
            </a:r>
          </a:p>
        </p:txBody>
      </p:sp>
      <p:sp>
        <p:nvSpPr>
          <p:cNvPr id="7" name="Freeform 6"/>
          <p:cNvSpPr/>
          <p:nvPr/>
        </p:nvSpPr>
        <p:spPr>
          <a:xfrm>
            <a:off x="822960" y="658368"/>
            <a:ext cx="658368" cy="658368"/>
          </a:xfrm>
          <a:custGeom>
            <a:avLst/>
            <a:gdLst/>
            <a:ahLst/>
            <a:cxnLst/>
            <a:rect l="l" t="t" r="r" b="b"/>
            <a:pathLst>
              <a:path w="658368" h="658368">
                <a:moveTo>
                  <a:pt x="329184" y="0"/>
                </a:moveTo>
                <a:lnTo>
                  <a:pt x="658368" y="79004"/>
                </a:lnTo>
                <a:lnTo>
                  <a:pt x="658368" y="329184"/>
                </a:lnTo>
                <a:lnTo>
                  <a:pt x="329184" y="658368"/>
                </a:lnTo>
                <a:lnTo>
                  <a:pt x="0" y="329184"/>
                </a:lnTo>
                <a:lnTo>
                  <a:pt x="0" y="79004"/>
                </a:lnTo>
                <a:lnTo>
                  <a:pt x="329184" y="0"/>
                </a:lnTo>
                <a:close/>
              </a:path>
            </a:pathLst>
          </a:cu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27632" y="603504"/>
            <a:ext cx="5486400" cy="640080"/>
          </a:xfrm>
          <a:prstGeom prst="rect">
            <a:avLst/>
          </a:prstGeom>
          <a:noFill/>
        </p:spPr>
        <p:txBody>
          <a:bodyPr wrap="square" anchor="t" lIns="0" rIns="0" tIns="0" bIns="0">
            <a:spAutoFit/>
          </a:bodyPr>
          <a:lstStyle/>
          <a:p>
            <a:pPr algn="l">
              <a:lnSpc>
                <a:spcPct val="100000"/>
              </a:lnSpc>
            </a:pPr>
            <a:r>
              <a:rPr sz="4000" b="1" i="0">
                <a:solidFill>
                  <a:srgbClr val="F5F7FA"/>
                </a:solidFill>
                <a:latin typeface="Segoe UI"/>
              </a:rPr>
              <a:t>KAVACH</a:t>
            </a:r>
          </a:p>
        </p:txBody>
      </p:sp>
      <p:sp>
        <p:nvSpPr>
          <p:cNvPr id="9" name="TextBox 8"/>
          <p:cNvSpPr txBox="1"/>
          <p:nvPr/>
        </p:nvSpPr>
        <p:spPr>
          <a:xfrm>
            <a:off x="1645920" y="1207008"/>
            <a:ext cx="5486400" cy="292608"/>
          </a:xfrm>
          <a:prstGeom prst="rect">
            <a:avLst/>
          </a:prstGeom>
          <a:noFill/>
        </p:spPr>
        <p:txBody>
          <a:bodyPr wrap="square" anchor="t" lIns="0" rIns="0" tIns="0" bIns="0">
            <a:noAutofit/>
          </a:bodyPr>
          <a:lstStyle/>
          <a:p>
            <a:pPr algn="l">
              <a:lnSpc>
                <a:spcPct val="100000"/>
              </a:lnSpc>
              <a:spcAft>
                <a:spcPts val="0"/>
              </a:spcAft>
            </a:pPr>
            <a:r>
              <a:rPr sz="1150" b="1" i="0">
                <a:solidFill>
                  <a:srgbClr val="EDA100"/>
                </a:solidFill>
                <a:latin typeface="Segoe UI"/>
              </a:rPr>
              <a:t>S E C U R E   ·   A N A L Y Z E   ·   P R O T E C T</a:t>
            </a:r>
          </a:p>
        </p:txBody>
      </p:sp>
      <p:cxnSp>
        <p:nvCxnSpPr>
          <p:cNvPr id="10" name="Connector 9"/>
          <p:cNvCxnSpPr/>
          <p:nvPr/>
        </p:nvCxnSpPr>
        <p:spPr>
          <a:xfrm>
            <a:off x="822960" y="1700784"/>
            <a:ext cx="8412480" cy="0"/>
          </a:xfrm>
          <a:prstGeom prst="line">
            <a:avLst/>
          </a:prstGeom>
          <a:ln w="12700">
            <a:solidFill>
              <a:srgbClr val="3A486B"/>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822960" y="2148840"/>
            <a:ext cx="10241280" cy="822960"/>
          </a:xfrm>
          <a:prstGeom prst="rect">
            <a:avLst/>
          </a:prstGeom>
          <a:noFill/>
        </p:spPr>
        <p:txBody>
          <a:bodyPr wrap="square" anchor="t" lIns="0" rIns="0" tIns="0" bIns="0">
            <a:noAutofit/>
          </a:bodyPr>
          <a:lstStyle/>
          <a:p>
            <a:pPr algn="l">
              <a:lnSpc>
                <a:spcPct val="100000"/>
              </a:lnSpc>
              <a:spcAft>
                <a:spcPts val="0"/>
              </a:spcAft>
            </a:pPr>
            <a:r>
              <a:rPr sz="3300" b="1" i="0">
                <a:solidFill>
                  <a:srgbClr val="F5F7FA"/>
                </a:solidFill>
                <a:latin typeface="Segoe UI"/>
              </a:rPr>
              <a:t>AI-Powered DevSecOps Platform for Banking</a:t>
            </a:r>
          </a:p>
        </p:txBody>
      </p:sp>
      <p:sp>
        <p:nvSpPr>
          <p:cNvPr id="12" name="TextBox 11"/>
          <p:cNvSpPr txBox="1"/>
          <p:nvPr/>
        </p:nvSpPr>
        <p:spPr>
          <a:xfrm>
            <a:off x="841248" y="2880360"/>
            <a:ext cx="9692640" cy="457200"/>
          </a:xfrm>
          <a:prstGeom prst="rect">
            <a:avLst/>
          </a:prstGeom>
          <a:noFill/>
        </p:spPr>
        <p:txBody>
          <a:bodyPr wrap="square" anchor="t" lIns="0" rIns="0" tIns="0" bIns="0">
            <a:noAutofit/>
          </a:bodyPr>
          <a:lstStyle/>
          <a:p>
            <a:pPr algn="l">
              <a:lnSpc>
                <a:spcPct val="100000"/>
              </a:lnSpc>
              <a:spcAft>
                <a:spcPts val="0"/>
              </a:spcAft>
            </a:pPr>
            <a:r>
              <a:rPr sz="1400" b="0" i="1">
                <a:solidFill>
                  <a:srgbClr val="9AA7BD"/>
                </a:solidFill>
                <a:latin typeface="Segoe UI"/>
              </a:rPr>
              <a:t>Static code analysis, dependency &amp; configuration scanning, business-aware risk scoring, regulatory compliance mapping, and grounded AI -- across one deduplicated pipeline.</a:t>
            </a:r>
          </a:p>
        </p:txBody>
      </p:sp>
      <p:sp>
        <p:nvSpPr>
          <p:cNvPr id="13" name="Rounded Rectangle 12"/>
          <p:cNvSpPr/>
          <p:nvPr/>
        </p:nvSpPr>
        <p:spPr>
          <a:xfrm>
            <a:off x="841248" y="3520440"/>
            <a:ext cx="1874519" cy="384048"/>
          </a:xfrm>
          <a:prstGeom prst="roundRect">
            <a:avLst>
              <a:gd name="adj" fmla="val 50000"/>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0A0E1A"/>
                </a:solidFill>
                <a:latin typeface="Segoe UI"/>
              </a:rPr>
              <a:t>PSB HACKATHON 2026</a:t>
            </a:r>
          </a:p>
        </p:txBody>
      </p:sp>
      <p:sp>
        <p:nvSpPr>
          <p:cNvPr id="14" name="TextBox 13"/>
          <p:cNvSpPr txBox="1"/>
          <p:nvPr/>
        </p:nvSpPr>
        <p:spPr>
          <a:xfrm>
            <a:off x="2834640" y="3520440"/>
            <a:ext cx="8321040" cy="384048"/>
          </a:xfrm>
          <a:prstGeom prst="rect">
            <a:avLst/>
          </a:prstGeom>
          <a:noFill/>
        </p:spPr>
        <p:txBody>
          <a:bodyPr wrap="square" anchor="ctr" lIns="0" rIns="0" tIns="0" bIns="0">
            <a:noAutofit/>
          </a:bodyPr>
          <a:lstStyle/>
          <a:p>
            <a:pPr algn="l">
              <a:lnSpc>
                <a:spcPct val="100000"/>
              </a:lnSpc>
              <a:spcAft>
                <a:spcPts val="0"/>
              </a:spcAft>
            </a:pPr>
            <a:r>
              <a:rPr sz="1250" b="0" i="0">
                <a:solidFill>
                  <a:srgbClr val="9AA7BD"/>
                </a:solidFill>
                <a:latin typeface="Segoe UI"/>
              </a:rPr>
              <a:t>Problem Statement 3 -- Automated Discovery of Misconfigurations in Open-Source Dependencies</a:t>
            </a:r>
          </a:p>
        </p:txBody>
      </p:sp>
      <p:sp>
        <p:nvSpPr>
          <p:cNvPr id="15" name="Rounded Rectangle 14"/>
          <p:cNvSpPr/>
          <p:nvPr/>
        </p:nvSpPr>
        <p:spPr>
          <a:xfrm>
            <a:off x="822960" y="4160520"/>
            <a:ext cx="10515600" cy="1417320"/>
          </a:xfrm>
          <a:prstGeom prst="roundRect">
            <a:avLst>
              <a:gd name="adj" fmla="val 5500"/>
            </a:avLst>
          </a:prstGeom>
          <a:solidFill>
            <a:srgbClr val="13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4343400"/>
            <a:ext cx="3048000" cy="256032"/>
          </a:xfrm>
          <a:prstGeom prst="rect">
            <a:avLst/>
          </a:prstGeom>
          <a:noFill/>
        </p:spPr>
        <p:txBody>
          <a:bodyPr wrap="square" anchor="t" lIns="0" rIns="0" tIns="0" bIns="0">
            <a:noAutofit/>
          </a:bodyPr>
          <a:lstStyle/>
          <a:p>
            <a:pPr algn="l">
              <a:lnSpc>
                <a:spcPct val="100000"/>
              </a:lnSpc>
              <a:spcAft>
                <a:spcPts val="0"/>
              </a:spcAft>
            </a:pPr>
            <a:r>
              <a:rPr sz="1050" b="1" i="0" spc="120">
                <a:solidFill>
                  <a:srgbClr val="EDA100"/>
                </a:solidFill>
                <a:latin typeface="Segoe UI"/>
              </a:rPr>
              <a:t>TEAM</a:t>
            </a:r>
          </a:p>
        </p:txBody>
      </p:sp>
      <p:sp>
        <p:nvSpPr>
          <p:cNvPr id="17" name="TextBox 16"/>
          <p:cNvSpPr txBox="1"/>
          <p:nvPr/>
        </p:nvSpPr>
        <p:spPr>
          <a:xfrm>
            <a:off x="1097280" y="4645152"/>
            <a:ext cx="3048000" cy="868680"/>
          </a:xfrm>
          <a:prstGeom prst="rect">
            <a:avLst/>
          </a:prstGeom>
          <a:noFill/>
        </p:spPr>
        <p:txBody>
          <a:bodyPr wrap="square" anchor="t" lIns="0" rIns="0" tIns="0" bIns="0">
            <a:noAutofit/>
          </a:bodyPr>
          <a:lstStyle/>
          <a:p>
            <a:pPr algn="l">
              <a:lnSpc>
                <a:spcPct val="125000"/>
              </a:lnSpc>
              <a:spcAft>
                <a:spcPts val="0"/>
              </a:spcAft>
            </a:pPr>
            <a:r>
              <a:rPr sz="1350" b="1" i="0">
                <a:solidFill>
                  <a:srgbClr val="F5F7FA"/>
                </a:solidFill>
                <a:latin typeface="Segoe UI"/>
              </a:rPr>
              <a:t>Kavach</a:t>
            </a:r>
          </a:p>
        </p:txBody>
      </p:sp>
      <p:cxnSp>
        <p:nvCxnSpPr>
          <p:cNvPr id="18" name="Connector 17"/>
          <p:cNvCxnSpPr/>
          <p:nvPr/>
        </p:nvCxnSpPr>
        <p:spPr>
          <a:xfrm>
            <a:off x="4328160" y="4343400"/>
            <a:ext cx="0" cy="1051560"/>
          </a:xfrm>
          <a:prstGeom prst="line">
            <a:avLst/>
          </a:prstGeom>
          <a:ln w="12700">
            <a:solidFill>
              <a:srgbClr val="3A486B"/>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602480" y="4343400"/>
            <a:ext cx="3048000" cy="256032"/>
          </a:xfrm>
          <a:prstGeom prst="rect">
            <a:avLst/>
          </a:prstGeom>
          <a:noFill/>
        </p:spPr>
        <p:txBody>
          <a:bodyPr wrap="square" anchor="t" lIns="0" rIns="0" tIns="0" bIns="0">
            <a:noAutofit/>
          </a:bodyPr>
          <a:lstStyle/>
          <a:p>
            <a:pPr algn="l">
              <a:lnSpc>
                <a:spcPct val="100000"/>
              </a:lnSpc>
              <a:spcAft>
                <a:spcPts val="0"/>
              </a:spcAft>
            </a:pPr>
            <a:r>
              <a:rPr sz="1050" b="1" i="0" spc="120">
                <a:solidFill>
                  <a:srgbClr val="EDA100"/>
                </a:solidFill>
                <a:latin typeface="Segoe UI"/>
              </a:rPr>
              <a:t>TEAM MEMBERS</a:t>
            </a:r>
          </a:p>
        </p:txBody>
      </p:sp>
      <p:sp>
        <p:nvSpPr>
          <p:cNvPr id="20" name="TextBox 19"/>
          <p:cNvSpPr txBox="1"/>
          <p:nvPr/>
        </p:nvSpPr>
        <p:spPr>
          <a:xfrm>
            <a:off x="4602480" y="4645152"/>
            <a:ext cx="3048000" cy="868680"/>
          </a:xfrm>
          <a:prstGeom prst="rect">
            <a:avLst/>
          </a:prstGeom>
          <a:noFill/>
        </p:spPr>
        <p:txBody>
          <a:bodyPr wrap="square" anchor="t" lIns="0" rIns="0" tIns="0" bIns="0">
            <a:noAutofit/>
          </a:bodyPr>
          <a:lstStyle/>
          <a:p>
            <a:pPr algn="l">
              <a:lnSpc>
                <a:spcPct val="125000"/>
              </a:lnSpc>
              <a:spcAft>
                <a:spcPts val="0"/>
              </a:spcAft>
            </a:pPr>
            <a:r>
              <a:rPr sz="1250" b="0" i="0">
                <a:solidFill>
                  <a:srgbClr val="F5F7FA"/>
                </a:solidFill>
                <a:latin typeface="Segoe UI"/>
              </a:rPr>
              <a:t>Harshith B</a:t>
            </a:r>
          </a:p>
          <a:p>
            <a:pPr algn="l">
              <a:lnSpc>
                <a:spcPct val="125000"/>
              </a:lnSpc>
              <a:spcAft>
                <a:spcPts val="0"/>
              </a:spcAft>
            </a:pPr>
            <a:r>
              <a:rPr sz="1250" b="0" i="0">
                <a:solidFill>
                  <a:srgbClr val="F5F7FA"/>
                </a:solidFill>
                <a:latin typeface="Segoe UI"/>
              </a:rPr>
              <a:t>Tejashwan Gangishetty</a:t>
            </a:r>
          </a:p>
          <a:p>
            <a:pPr algn="l">
              <a:lnSpc>
                <a:spcPct val="125000"/>
              </a:lnSpc>
              <a:spcAft>
                <a:spcPts val="0"/>
              </a:spcAft>
            </a:pPr>
            <a:r>
              <a:rPr sz="1250" b="0" i="0">
                <a:solidFill>
                  <a:srgbClr val="F5F7FA"/>
                </a:solidFill>
                <a:latin typeface="Segoe UI"/>
              </a:rPr>
              <a:t>Pratham Lal</a:t>
            </a:r>
          </a:p>
        </p:txBody>
      </p:sp>
      <p:cxnSp>
        <p:nvCxnSpPr>
          <p:cNvPr id="21" name="Connector 20"/>
          <p:cNvCxnSpPr/>
          <p:nvPr/>
        </p:nvCxnSpPr>
        <p:spPr>
          <a:xfrm>
            <a:off x="7833360" y="4343400"/>
            <a:ext cx="0" cy="1051560"/>
          </a:xfrm>
          <a:prstGeom prst="line">
            <a:avLst/>
          </a:prstGeom>
          <a:ln w="12700">
            <a:solidFill>
              <a:srgbClr val="3A486B"/>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8107680" y="4343400"/>
            <a:ext cx="3048000" cy="256032"/>
          </a:xfrm>
          <a:prstGeom prst="rect">
            <a:avLst/>
          </a:prstGeom>
          <a:noFill/>
        </p:spPr>
        <p:txBody>
          <a:bodyPr wrap="square" anchor="t" lIns="0" rIns="0" tIns="0" bIns="0">
            <a:noAutofit/>
          </a:bodyPr>
          <a:lstStyle/>
          <a:p>
            <a:pPr algn="l">
              <a:lnSpc>
                <a:spcPct val="100000"/>
              </a:lnSpc>
              <a:spcAft>
                <a:spcPts val="0"/>
              </a:spcAft>
            </a:pPr>
            <a:r>
              <a:rPr sz="1050" b="1" i="0" spc="120">
                <a:solidFill>
                  <a:srgbClr val="EDA100"/>
                </a:solidFill>
                <a:latin typeface="Segoe UI"/>
              </a:rPr>
              <a:t>INSTITUTE</a:t>
            </a:r>
          </a:p>
        </p:txBody>
      </p:sp>
      <p:sp>
        <p:nvSpPr>
          <p:cNvPr id="23" name="TextBox 22"/>
          <p:cNvSpPr txBox="1"/>
          <p:nvPr/>
        </p:nvSpPr>
        <p:spPr>
          <a:xfrm>
            <a:off x="8107680" y="4645152"/>
            <a:ext cx="3048000" cy="868680"/>
          </a:xfrm>
          <a:prstGeom prst="rect">
            <a:avLst/>
          </a:prstGeom>
          <a:noFill/>
        </p:spPr>
        <p:txBody>
          <a:bodyPr wrap="square" anchor="t" lIns="0" rIns="0" tIns="0" bIns="0">
            <a:noAutofit/>
          </a:bodyPr>
          <a:lstStyle/>
          <a:p>
            <a:pPr algn="l">
              <a:lnSpc>
                <a:spcPct val="125000"/>
              </a:lnSpc>
              <a:spcAft>
                <a:spcPts val="0"/>
              </a:spcAft>
            </a:pPr>
            <a:r>
              <a:rPr sz="1350" b="1" i="0">
                <a:solidFill>
                  <a:srgbClr val="F5F7FA"/>
                </a:solidFill>
                <a:latin typeface="Segoe UI"/>
              </a:rPr>
              <a:t>Vellore Institute of Technology</a:t>
            </a:r>
          </a:p>
        </p:txBody>
      </p:sp>
      <p:sp>
        <p:nvSpPr>
          <p:cNvPr id="24" name="TextBox 23"/>
          <p:cNvSpPr txBox="1"/>
          <p:nvPr/>
        </p:nvSpPr>
        <p:spPr>
          <a:xfrm>
            <a:off x="822960" y="5806440"/>
            <a:ext cx="8229600" cy="320040"/>
          </a:xfrm>
          <a:prstGeom prst="rect">
            <a:avLst/>
          </a:prstGeom>
          <a:noFill/>
        </p:spPr>
        <p:txBody>
          <a:bodyPr wrap="square" anchor="t" lIns="0" rIns="0" tIns="0" bIns="0">
            <a:noAutofit/>
          </a:bodyPr>
          <a:lstStyle/>
          <a:p>
            <a:pPr algn="l">
              <a:lnSpc>
                <a:spcPct val="100000"/>
              </a:lnSpc>
              <a:spcAft>
                <a:spcPts val="0"/>
              </a:spcAft>
            </a:pPr>
            <a:r>
              <a:rPr sz="1100" b="0" i="0">
                <a:solidFill>
                  <a:srgbClr val="64708A"/>
                </a:solidFill>
                <a:latin typeface="Segoe UI"/>
              </a:rPr>
              <a:t>github.com/TROJAN1HAMMER/KAVACH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362895" y="-3291840"/>
            <a:ext cx="5852160" cy="5852160"/>
          </a:xfrm>
          <a:prstGeom prst="ellipse">
            <a:avLst/>
          </a:prstGeom>
          <a:noFill/>
          <a:ln w="13970">
            <a:solidFill>
              <a:srgbClr val="EDA100">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502920" y="6473952"/>
            <a:ext cx="11185855" cy="0"/>
          </a:xfrm>
          <a:prstGeom prst="line">
            <a:avLst/>
          </a:prstGeom>
          <a:ln w="9525">
            <a:solidFill>
              <a:srgbClr val="2A3654"/>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28816"/>
            <a:ext cx="4572000" cy="274320"/>
          </a:xfrm>
          <a:prstGeom prst="rect">
            <a:avLst/>
          </a:prstGeom>
          <a:noFill/>
        </p:spPr>
        <p:txBody>
          <a:bodyPr wrap="square" anchor="t" lIns="0" rIns="0" tIns="0" bIns="0">
            <a:noAutofit/>
          </a:bodyPr>
          <a:lstStyle/>
          <a:p>
            <a:pPr algn="l">
              <a:lnSpc>
                <a:spcPct val="100000"/>
              </a:lnSpc>
              <a:spcAft>
                <a:spcPts val="0"/>
              </a:spcAft>
            </a:pPr>
            <a:r>
              <a:rPr sz="900" b="0" i="0">
                <a:solidFill>
                  <a:srgbClr val="64708A"/>
                </a:solidFill>
                <a:latin typeface="Segoe UI"/>
              </a:rPr>
              <a:t>KAVACH  ·  PSB Hackathon 2026</a:t>
            </a:r>
          </a:p>
        </p:txBody>
      </p:sp>
      <p:sp>
        <p:nvSpPr>
          <p:cNvPr id="6" name="TextBox 5"/>
          <p:cNvSpPr txBox="1"/>
          <p:nvPr/>
        </p:nvSpPr>
        <p:spPr>
          <a:xfrm>
            <a:off x="4480560" y="6528816"/>
            <a:ext cx="4572000" cy="274320"/>
          </a:xfrm>
          <a:prstGeom prst="rect">
            <a:avLst/>
          </a:prstGeom>
          <a:noFill/>
        </p:spPr>
        <p:txBody>
          <a:bodyPr wrap="square" anchor="t" lIns="0" rIns="0" tIns="0" bIns="0">
            <a:noAutofit/>
          </a:bodyPr>
          <a:lstStyle/>
          <a:p>
            <a:pPr algn="ctr">
              <a:lnSpc>
                <a:spcPct val="100000"/>
              </a:lnSpc>
              <a:spcAft>
                <a:spcPts val="0"/>
              </a:spcAft>
            </a:pPr>
            <a:r>
              <a:rPr sz="900" b="0" i="0">
                <a:solidFill>
                  <a:srgbClr val="64708A"/>
                </a:solidFill>
                <a:latin typeface="Segoe UI"/>
              </a:rPr>
              <a:t>ABOUT THE HACKATHON</a:t>
            </a:r>
          </a:p>
        </p:txBody>
      </p:sp>
      <p:sp>
        <p:nvSpPr>
          <p:cNvPr id="7" name="TextBox 6"/>
          <p:cNvSpPr txBox="1"/>
          <p:nvPr/>
        </p:nvSpPr>
        <p:spPr>
          <a:xfrm>
            <a:off x="10820095" y="6528816"/>
            <a:ext cx="914400" cy="274320"/>
          </a:xfrm>
          <a:prstGeom prst="rect">
            <a:avLst/>
          </a:prstGeom>
          <a:noFill/>
        </p:spPr>
        <p:txBody>
          <a:bodyPr wrap="square" anchor="t" lIns="0" rIns="0" tIns="0" bIns="0">
            <a:noAutofit/>
          </a:bodyPr>
          <a:lstStyle/>
          <a:p>
            <a:pPr algn="r">
              <a:lnSpc>
                <a:spcPct val="100000"/>
              </a:lnSpc>
              <a:spcAft>
                <a:spcPts val="0"/>
              </a:spcAft>
            </a:pPr>
            <a:r>
              <a:rPr sz="900" b="0" i="0">
                <a:solidFill>
                  <a:srgbClr val="64708A"/>
                </a:solidFill>
                <a:latin typeface="Segoe UI"/>
              </a:rPr>
              <a:t>02 / 22</a:t>
            </a:r>
          </a:p>
        </p:txBody>
      </p:sp>
      <p:sp>
        <p:nvSpPr>
          <p:cNvPr id="8" name="TextBox 7"/>
          <p:cNvSpPr txBox="1"/>
          <p:nvPr/>
        </p:nvSpPr>
        <p:spPr>
          <a:xfrm>
            <a:off x="502920" y="457200"/>
            <a:ext cx="9601200" cy="292608"/>
          </a:xfrm>
          <a:prstGeom prst="rect">
            <a:avLst/>
          </a:prstGeom>
          <a:noFill/>
        </p:spPr>
        <p:txBody>
          <a:bodyPr wrap="square" anchor="t" lIns="0" rIns="0" tIns="0" bIns="0">
            <a:noAutofit/>
          </a:bodyPr>
          <a:lstStyle/>
          <a:p>
            <a:pPr algn="l">
              <a:lnSpc>
                <a:spcPct val="100000"/>
              </a:lnSpc>
              <a:spcAft>
                <a:spcPts val="0"/>
              </a:spcAft>
            </a:pPr>
            <a:r>
              <a:rPr sz="1250" b="1" i="0" spc="160">
                <a:solidFill>
                  <a:srgbClr val="EDA100"/>
                </a:solidFill>
                <a:latin typeface="Segoe UI"/>
              </a:rPr>
              <a:t>PSB HACKATHON 2026</a:t>
            </a:r>
          </a:p>
        </p:txBody>
      </p:sp>
      <p:sp>
        <p:nvSpPr>
          <p:cNvPr id="9" name="TextBox 8"/>
          <p:cNvSpPr txBox="1"/>
          <p:nvPr/>
        </p:nvSpPr>
        <p:spPr>
          <a:xfrm>
            <a:off x="502920" y="768096"/>
            <a:ext cx="10789920" cy="566928"/>
          </a:xfrm>
          <a:prstGeom prst="rect">
            <a:avLst/>
          </a:prstGeom>
          <a:noFill/>
        </p:spPr>
        <p:txBody>
          <a:bodyPr wrap="square" anchor="t" lIns="0" rIns="0" tIns="0" bIns="0">
            <a:noAutofit/>
          </a:bodyPr>
          <a:lstStyle/>
          <a:p>
            <a:pPr algn="l">
              <a:lnSpc>
                <a:spcPct val="102000"/>
              </a:lnSpc>
              <a:spcAft>
                <a:spcPts val="0"/>
              </a:spcAft>
            </a:pPr>
            <a:r>
              <a:rPr sz="3000" b="1" i="0">
                <a:solidFill>
                  <a:srgbClr val="F5F7FA"/>
                </a:solidFill>
                <a:latin typeface="Segoe UI"/>
              </a:rPr>
              <a:t>A National Mission for Bank-Grade Cybersecurity</a:t>
            </a:r>
          </a:p>
        </p:txBody>
      </p:sp>
      <p:cxnSp>
        <p:nvCxnSpPr>
          <p:cNvPr id="10" name="Connector 9"/>
          <p:cNvCxnSpPr/>
          <p:nvPr/>
        </p:nvCxnSpPr>
        <p:spPr>
          <a:xfrm>
            <a:off x="502920" y="1399032"/>
            <a:ext cx="960120" cy="0"/>
          </a:xfrm>
          <a:prstGeom prst="line">
            <a:avLst/>
          </a:prstGeom>
          <a:ln w="28575">
            <a:solidFill>
              <a:srgbClr val="EDA100"/>
            </a:solidFill>
          </a:ln>
          <a:effectLst/>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02920" y="1874519"/>
            <a:ext cx="3291840" cy="566928"/>
          </a:xfrm>
          <a:prstGeom prst="roundRect">
            <a:avLst>
              <a:gd name="adj" fmla="val 16000"/>
            </a:avLst>
          </a:prstGeom>
          <a:solidFill>
            <a:srgbClr val="18233B"/>
          </a:solidFill>
          <a:ln w="1587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wrap="square" lIns="63500" rIns="63500" tIns="25400" bIns="25400"/>
          <a:lstStyle/>
          <a:p>
            <a:pPr algn="ctr"/>
            <a:r>
              <a:rPr sz="1100" b="1">
                <a:solidFill>
                  <a:srgbClr val="F5F7FA"/>
                </a:solidFill>
                <a:latin typeface="Segoe UI"/>
              </a:rPr>
              <a:t>Department of Financial Services</a:t>
            </a:r>
          </a:p>
          <a:p>
            <a:pPr algn="ctr"/>
            <a:r>
              <a:rPr sz="850">
                <a:solidFill>
                  <a:srgbClr val="9AA7BD"/>
                </a:solidFill>
                <a:latin typeface="Segoe UI"/>
              </a:rPr>
              <a:t>Ministry of Finance, Government of India</a:t>
            </a:r>
          </a:p>
        </p:txBody>
      </p:sp>
      <p:sp>
        <p:nvSpPr>
          <p:cNvPr id="12" name="Rounded Rectangle 11"/>
          <p:cNvSpPr/>
          <p:nvPr/>
        </p:nvSpPr>
        <p:spPr>
          <a:xfrm>
            <a:off x="4023360" y="1874519"/>
            <a:ext cx="3291840" cy="566928"/>
          </a:xfrm>
          <a:prstGeom prst="roundRect">
            <a:avLst>
              <a:gd name="adj" fmla="val 16000"/>
            </a:avLst>
          </a:prstGeom>
          <a:solidFill>
            <a:srgbClr val="18233B"/>
          </a:solidFill>
          <a:ln w="1587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wrap="square" lIns="63500" rIns="63500" tIns="25400" bIns="25400"/>
          <a:lstStyle/>
          <a:p>
            <a:pPr algn="ctr"/>
            <a:r>
              <a:rPr sz="1100" b="1">
                <a:solidFill>
                  <a:srgbClr val="F5F7FA"/>
                </a:solidFill>
                <a:latin typeface="Segoe UI"/>
              </a:rPr>
              <a:t>Indian Banks' Association</a:t>
            </a:r>
          </a:p>
          <a:p>
            <a:pPr algn="ctr"/>
            <a:r>
              <a:rPr sz="850">
                <a:solidFill>
                  <a:srgbClr val="9AA7BD"/>
                </a:solidFill>
                <a:latin typeface="Segoe UI"/>
              </a:rPr>
              <a:t>Sector-wide banking industry body</a:t>
            </a:r>
          </a:p>
        </p:txBody>
      </p:sp>
      <p:cxnSp>
        <p:nvCxnSpPr>
          <p:cNvPr id="13" name="Connector 12"/>
          <p:cNvCxnSpPr/>
          <p:nvPr/>
        </p:nvCxnSpPr>
        <p:spPr>
          <a:xfrm>
            <a:off x="2148840" y="2441448"/>
            <a:ext cx="1920240" cy="393191"/>
          </a:xfrm>
          <a:prstGeom prst="line">
            <a:avLst/>
          </a:prstGeom>
          <a:ln w="15875">
            <a:solidFill>
              <a:srgbClr val="3A486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669280" y="2441448"/>
            <a:ext cx="137160" cy="393191"/>
          </a:xfrm>
          <a:prstGeom prst="line">
            <a:avLst/>
          </a:prstGeom>
          <a:ln w="15875">
            <a:solidFill>
              <a:srgbClr val="3A486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331720" y="2834639"/>
            <a:ext cx="3566160" cy="566928"/>
          </a:xfrm>
          <a:prstGeom prst="roundRect">
            <a:avLst>
              <a:gd name="adj" fmla="val 16000"/>
            </a:avLst>
          </a:prstGeom>
          <a:solidFill>
            <a:srgbClr val="18233B"/>
          </a:solidFill>
          <a:ln w="15875">
            <a:solidFill>
              <a:srgbClr val="EDA100"/>
            </a:solidFill>
          </a:ln>
          <a:effectLst/>
        </p:spPr>
        <p:style>
          <a:lnRef idx="1">
            <a:schemeClr val="accent1"/>
          </a:lnRef>
          <a:fillRef idx="3">
            <a:schemeClr val="accent1"/>
          </a:fillRef>
          <a:effectRef idx="2">
            <a:schemeClr val="accent1"/>
          </a:effectRef>
          <a:fontRef idx="minor">
            <a:schemeClr val="lt1"/>
          </a:fontRef>
        </p:style>
        <p:txBody>
          <a:bodyPr rtlCol="0" anchor="ctr" wrap="square" lIns="63500" rIns="63500" tIns="25400" bIns="25400"/>
          <a:lstStyle/>
          <a:p>
            <a:pPr algn="ctr"/>
            <a:r>
              <a:rPr sz="1200" b="1">
                <a:solidFill>
                  <a:srgbClr val="F5F7FA"/>
                </a:solidFill>
                <a:latin typeface="Segoe UI"/>
              </a:rPr>
              <a:t>PSB Hackathon 2026</a:t>
            </a:r>
          </a:p>
          <a:p>
            <a:pPr algn="ctr"/>
            <a:r>
              <a:rPr sz="950">
                <a:solidFill>
                  <a:srgbClr val="9AA7BD"/>
                </a:solidFill>
                <a:latin typeface="Segoe UI"/>
              </a:rPr>
              <a:t>National-level initiative</a:t>
            </a:r>
          </a:p>
        </p:txBody>
      </p:sp>
      <p:cxnSp>
        <p:nvCxnSpPr>
          <p:cNvPr id="16" name="Connector 15"/>
          <p:cNvCxnSpPr/>
          <p:nvPr/>
        </p:nvCxnSpPr>
        <p:spPr>
          <a:xfrm flipH="1">
            <a:off x="1965960" y="3401568"/>
            <a:ext cx="2148840" cy="393192"/>
          </a:xfrm>
          <a:prstGeom prst="line">
            <a:avLst/>
          </a:prstGeom>
          <a:ln w="15875">
            <a:solidFill>
              <a:srgbClr val="3A486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4114800" y="3401568"/>
            <a:ext cx="2148840" cy="393192"/>
          </a:xfrm>
          <a:prstGeom prst="line">
            <a:avLst/>
          </a:prstGeom>
          <a:ln w="15875">
            <a:solidFill>
              <a:srgbClr val="3A486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02920" y="3794760"/>
            <a:ext cx="3291840" cy="566928"/>
          </a:xfrm>
          <a:prstGeom prst="roundRect">
            <a:avLst>
              <a:gd name="adj" fmla="val 16000"/>
            </a:avLst>
          </a:prstGeom>
          <a:solidFill>
            <a:srgbClr val="18233B"/>
          </a:solidFill>
          <a:ln w="1587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wrap="square" lIns="63500" rIns="63500" tIns="25400" bIns="25400"/>
          <a:lstStyle/>
          <a:p>
            <a:pPr algn="ctr"/>
            <a:r>
              <a:rPr sz="1100" b="1">
                <a:solidFill>
                  <a:srgbClr val="F5F7FA"/>
                </a:solidFill>
                <a:latin typeface="Segoe UI"/>
              </a:rPr>
              <a:t>Hosted by UCO Bank</a:t>
            </a:r>
          </a:p>
          <a:p>
            <a:pPr algn="ctr"/>
            <a:r>
              <a:rPr sz="850">
                <a:solidFill>
                  <a:srgbClr val="9AA7BD"/>
                </a:solidFill>
                <a:latin typeface="Segoe UI"/>
              </a:rPr>
              <a:t>Public Sector Bank -- problem owner</a:t>
            </a:r>
          </a:p>
        </p:txBody>
      </p:sp>
      <p:sp>
        <p:nvSpPr>
          <p:cNvPr id="19" name="Rounded Rectangle 18"/>
          <p:cNvSpPr/>
          <p:nvPr/>
        </p:nvSpPr>
        <p:spPr>
          <a:xfrm>
            <a:off x="4023360" y="3794760"/>
            <a:ext cx="3291840" cy="566928"/>
          </a:xfrm>
          <a:prstGeom prst="roundRect">
            <a:avLst>
              <a:gd name="adj" fmla="val 16000"/>
            </a:avLst>
          </a:prstGeom>
          <a:solidFill>
            <a:srgbClr val="18233B"/>
          </a:solidFill>
          <a:ln w="1587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wrap="square" lIns="63500" rIns="63500" tIns="25400" bIns="25400"/>
          <a:lstStyle/>
          <a:p>
            <a:pPr algn="ctr"/>
            <a:r>
              <a:rPr sz="1100" b="1">
                <a:solidFill>
                  <a:srgbClr val="F5F7FA"/>
                </a:solidFill>
                <a:latin typeface="Segoe UI"/>
              </a:rPr>
              <a:t>Hosted by IIT Kharagpur</a:t>
            </a:r>
          </a:p>
          <a:p>
            <a:pPr algn="ctr"/>
            <a:r>
              <a:rPr sz="850">
                <a:solidFill>
                  <a:srgbClr val="9AA7BD"/>
                </a:solidFill>
                <a:latin typeface="Segoe UI"/>
              </a:rPr>
              <a:t>Academic &amp; technical partner</a:t>
            </a:r>
          </a:p>
        </p:txBody>
      </p:sp>
      <p:sp>
        <p:nvSpPr>
          <p:cNvPr id="20" name="Rounded Rectangle 19"/>
          <p:cNvSpPr/>
          <p:nvPr/>
        </p:nvSpPr>
        <p:spPr>
          <a:xfrm>
            <a:off x="7406640" y="1874519"/>
            <a:ext cx="3776472" cy="1417320"/>
          </a:xfrm>
          <a:prstGeom prst="roundRect">
            <a:avLst>
              <a:gd name="adj" fmla="val 5500"/>
            </a:avLst>
          </a:prstGeom>
          <a:solidFill>
            <a:srgbClr val="13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598664" y="2084831"/>
            <a:ext cx="128016" cy="128016"/>
          </a:xfrm>
          <a:prstGeom prst="ellipse">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63840" y="2048255"/>
            <a:ext cx="3136392" cy="292608"/>
          </a:xfrm>
          <a:prstGeom prst="rect">
            <a:avLst/>
          </a:prstGeom>
          <a:noFill/>
        </p:spPr>
        <p:txBody>
          <a:bodyPr wrap="square" anchor="t" lIns="0" rIns="0" tIns="0" bIns="0">
            <a:noAutofit/>
          </a:bodyPr>
          <a:lstStyle/>
          <a:p>
            <a:pPr algn="l">
              <a:lnSpc>
                <a:spcPct val="100000"/>
              </a:lnSpc>
              <a:spcAft>
                <a:spcPts val="0"/>
              </a:spcAft>
            </a:pPr>
            <a:r>
              <a:rPr sz="1350" b="1" i="0">
                <a:solidFill>
                  <a:srgbClr val="F5F7FA"/>
                </a:solidFill>
                <a:latin typeface="Segoe UI"/>
              </a:rPr>
              <a:t>Mission</a:t>
            </a:r>
          </a:p>
        </p:txBody>
      </p:sp>
      <p:sp>
        <p:nvSpPr>
          <p:cNvPr id="23" name="TextBox 22"/>
          <p:cNvSpPr txBox="1"/>
          <p:nvPr/>
        </p:nvSpPr>
        <p:spPr>
          <a:xfrm>
            <a:off x="7626096" y="2404871"/>
            <a:ext cx="3337560" cy="731520"/>
          </a:xfrm>
          <a:prstGeom prst="rect">
            <a:avLst/>
          </a:prstGeom>
          <a:noFill/>
        </p:spPr>
        <p:txBody>
          <a:bodyPr wrap="square" anchor="t" lIns="0" rIns="0" tIns="0" bIns="0">
            <a:noAutofit/>
          </a:bodyPr>
          <a:lstStyle/>
          <a:p>
            <a:pPr algn="l">
              <a:lnSpc>
                <a:spcPct val="108000"/>
              </a:lnSpc>
              <a:spcAft>
                <a:spcPts val="0"/>
              </a:spcAft>
            </a:pPr>
            <a:r>
              <a:rPr sz="1100" b="0" i="0">
                <a:solidFill>
                  <a:srgbClr val="9AA7BD"/>
                </a:solidFill>
                <a:latin typeface="Segoe UI"/>
              </a:rPr>
              <a:t>Strengthening cybersecurity across India's Public Sector Banks -- turning hackathon-grade prototypes into evaluable, real security tooling.</a:t>
            </a:r>
          </a:p>
        </p:txBody>
      </p:sp>
      <p:sp>
        <p:nvSpPr>
          <p:cNvPr id="24" name="Rounded Rectangle 23"/>
          <p:cNvSpPr/>
          <p:nvPr/>
        </p:nvSpPr>
        <p:spPr>
          <a:xfrm>
            <a:off x="7406640" y="3429000"/>
            <a:ext cx="3776472" cy="1810512"/>
          </a:xfrm>
          <a:prstGeom prst="roundRect">
            <a:avLst>
              <a:gd name="adj" fmla="val 5500"/>
            </a:avLst>
          </a:prstGeom>
          <a:solidFill>
            <a:srgbClr val="13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598664" y="3639312"/>
            <a:ext cx="128016" cy="128016"/>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863840" y="3602736"/>
            <a:ext cx="3136392" cy="292608"/>
          </a:xfrm>
          <a:prstGeom prst="rect">
            <a:avLst/>
          </a:prstGeom>
          <a:noFill/>
        </p:spPr>
        <p:txBody>
          <a:bodyPr wrap="square" anchor="t" lIns="0" rIns="0" tIns="0" bIns="0">
            <a:noAutofit/>
          </a:bodyPr>
          <a:lstStyle/>
          <a:p>
            <a:pPr algn="l">
              <a:lnSpc>
                <a:spcPct val="100000"/>
              </a:lnSpc>
              <a:spcAft>
                <a:spcPts val="0"/>
              </a:spcAft>
            </a:pPr>
            <a:r>
              <a:rPr sz="1350" b="1" i="0">
                <a:solidFill>
                  <a:srgbClr val="F5F7FA"/>
                </a:solidFill>
                <a:latin typeface="Segoe UI"/>
              </a:rPr>
              <a:t>Why This Challenge Matters</a:t>
            </a:r>
          </a:p>
        </p:txBody>
      </p:sp>
      <p:sp>
        <p:nvSpPr>
          <p:cNvPr id="27" name="TextBox 26"/>
          <p:cNvSpPr txBox="1"/>
          <p:nvPr/>
        </p:nvSpPr>
        <p:spPr>
          <a:xfrm>
            <a:off x="7626096" y="3959352"/>
            <a:ext cx="3337560" cy="1124712"/>
          </a:xfrm>
          <a:prstGeom prst="rect">
            <a:avLst/>
          </a:prstGeom>
          <a:noFill/>
        </p:spPr>
        <p:txBody>
          <a:bodyPr wrap="square" anchor="t" lIns="0" rIns="0" tIns="0" bIns="0">
            <a:noAutofit/>
          </a:bodyPr>
          <a:lstStyle/>
          <a:p>
            <a:pPr algn="l">
              <a:lnSpc>
                <a:spcPct val="108000"/>
              </a:lnSpc>
              <a:spcAft>
                <a:spcPts val="0"/>
              </a:spcAft>
            </a:pPr>
            <a:r>
              <a:rPr sz="1100" b="0" i="0">
                <a:solidFill>
                  <a:srgbClr val="9AA7BD"/>
                </a:solidFill>
                <a:latin typeface="Segoe UI"/>
              </a:rPr>
              <a:t>PSBs run large hybrid stacks (legacy core banking + modern microservices) built on hundreds of open-source components, under RBI's IT Framework (2021), PCI DSS, and SWIFT CSP obligations -- with security teams too thin to manually triage every release.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362895" y="-3291840"/>
            <a:ext cx="5852160" cy="5852160"/>
          </a:xfrm>
          <a:prstGeom prst="ellipse">
            <a:avLst/>
          </a:prstGeom>
          <a:noFill/>
          <a:ln w="13970">
            <a:solidFill>
              <a:srgbClr val="EDA100">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502920" y="6473952"/>
            <a:ext cx="11185855" cy="0"/>
          </a:xfrm>
          <a:prstGeom prst="line">
            <a:avLst/>
          </a:prstGeom>
          <a:ln w="9525">
            <a:solidFill>
              <a:srgbClr val="2A3654"/>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28816"/>
            <a:ext cx="4572000" cy="274320"/>
          </a:xfrm>
          <a:prstGeom prst="rect">
            <a:avLst/>
          </a:prstGeom>
          <a:noFill/>
        </p:spPr>
        <p:txBody>
          <a:bodyPr wrap="square" anchor="t" lIns="0" rIns="0" tIns="0" bIns="0">
            <a:noAutofit/>
          </a:bodyPr>
          <a:lstStyle/>
          <a:p>
            <a:pPr algn="l">
              <a:lnSpc>
                <a:spcPct val="100000"/>
              </a:lnSpc>
              <a:spcAft>
                <a:spcPts val="0"/>
              </a:spcAft>
            </a:pPr>
            <a:r>
              <a:rPr sz="900" b="0" i="0">
                <a:solidFill>
                  <a:srgbClr val="64708A"/>
                </a:solidFill>
                <a:latin typeface="Segoe UI"/>
              </a:rPr>
              <a:t>KAVACH  ·  PSB Hackathon 2026</a:t>
            </a:r>
          </a:p>
        </p:txBody>
      </p:sp>
      <p:sp>
        <p:nvSpPr>
          <p:cNvPr id="6" name="TextBox 5"/>
          <p:cNvSpPr txBox="1"/>
          <p:nvPr/>
        </p:nvSpPr>
        <p:spPr>
          <a:xfrm>
            <a:off x="4480560" y="6528816"/>
            <a:ext cx="4572000" cy="274320"/>
          </a:xfrm>
          <a:prstGeom prst="rect">
            <a:avLst/>
          </a:prstGeom>
          <a:noFill/>
        </p:spPr>
        <p:txBody>
          <a:bodyPr wrap="square" anchor="t" lIns="0" rIns="0" tIns="0" bIns="0">
            <a:noAutofit/>
          </a:bodyPr>
          <a:lstStyle/>
          <a:p>
            <a:pPr algn="ctr">
              <a:lnSpc>
                <a:spcPct val="100000"/>
              </a:lnSpc>
              <a:spcAft>
                <a:spcPts val="0"/>
              </a:spcAft>
            </a:pPr>
            <a:r>
              <a:rPr sz="900" b="0" i="0">
                <a:solidFill>
                  <a:srgbClr val="64708A"/>
                </a:solidFill>
                <a:latin typeface="Segoe UI"/>
              </a:rPr>
              <a:t>PROBLEM STATEMENT</a:t>
            </a:r>
          </a:p>
        </p:txBody>
      </p:sp>
      <p:sp>
        <p:nvSpPr>
          <p:cNvPr id="7" name="TextBox 6"/>
          <p:cNvSpPr txBox="1"/>
          <p:nvPr/>
        </p:nvSpPr>
        <p:spPr>
          <a:xfrm>
            <a:off x="10820095" y="6528816"/>
            <a:ext cx="914400" cy="274320"/>
          </a:xfrm>
          <a:prstGeom prst="rect">
            <a:avLst/>
          </a:prstGeom>
          <a:noFill/>
        </p:spPr>
        <p:txBody>
          <a:bodyPr wrap="square" anchor="t" lIns="0" rIns="0" tIns="0" bIns="0">
            <a:noAutofit/>
          </a:bodyPr>
          <a:lstStyle/>
          <a:p>
            <a:pPr algn="r">
              <a:lnSpc>
                <a:spcPct val="100000"/>
              </a:lnSpc>
              <a:spcAft>
                <a:spcPts val="0"/>
              </a:spcAft>
            </a:pPr>
            <a:r>
              <a:rPr sz="900" b="0" i="0">
                <a:solidFill>
                  <a:srgbClr val="64708A"/>
                </a:solidFill>
                <a:latin typeface="Segoe UI"/>
              </a:rPr>
              <a:t>03 / 22</a:t>
            </a:r>
          </a:p>
        </p:txBody>
      </p:sp>
      <p:sp>
        <p:nvSpPr>
          <p:cNvPr id="8" name="TextBox 7"/>
          <p:cNvSpPr txBox="1"/>
          <p:nvPr/>
        </p:nvSpPr>
        <p:spPr>
          <a:xfrm>
            <a:off x="502920" y="457200"/>
            <a:ext cx="9601200" cy="292608"/>
          </a:xfrm>
          <a:prstGeom prst="rect">
            <a:avLst/>
          </a:prstGeom>
          <a:noFill/>
        </p:spPr>
        <p:txBody>
          <a:bodyPr wrap="square" anchor="t" lIns="0" rIns="0" tIns="0" bIns="0">
            <a:noAutofit/>
          </a:bodyPr>
          <a:lstStyle/>
          <a:p>
            <a:pPr algn="l">
              <a:lnSpc>
                <a:spcPct val="100000"/>
              </a:lnSpc>
              <a:spcAft>
                <a:spcPts val="0"/>
              </a:spcAft>
            </a:pPr>
            <a:r>
              <a:rPr sz="1250" b="1" i="0" spc="160">
                <a:solidFill>
                  <a:srgbClr val="EDA100"/>
                </a:solidFill>
                <a:latin typeface="Segoe UI"/>
              </a:rPr>
              <a:t>PROBLEM STATEMENT 3</a:t>
            </a:r>
          </a:p>
        </p:txBody>
      </p:sp>
      <p:sp>
        <p:nvSpPr>
          <p:cNvPr id="9" name="TextBox 8"/>
          <p:cNvSpPr txBox="1"/>
          <p:nvPr/>
        </p:nvSpPr>
        <p:spPr>
          <a:xfrm>
            <a:off x="502920" y="768096"/>
            <a:ext cx="10789920" cy="984504"/>
          </a:xfrm>
          <a:prstGeom prst="rect">
            <a:avLst/>
          </a:prstGeom>
          <a:noFill/>
        </p:spPr>
        <p:txBody>
          <a:bodyPr wrap="square" anchor="t" lIns="0" rIns="0" tIns="0" bIns="0">
            <a:noAutofit/>
          </a:bodyPr>
          <a:lstStyle/>
          <a:p>
            <a:pPr algn="l">
              <a:lnSpc>
                <a:spcPct val="102000"/>
              </a:lnSpc>
              <a:spcAft>
                <a:spcPts val="0"/>
              </a:spcAft>
            </a:pPr>
            <a:r>
              <a:rPr sz="3000" b="1" i="0">
                <a:solidFill>
                  <a:srgbClr val="F5F7FA"/>
                </a:solidFill>
                <a:latin typeface="Segoe UI"/>
              </a:rPr>
              <a:t>Automated Discovery of Misconfigurations in Open-Source Dependencies</a:t>
            </a:r>
          </a:p>
        </p:txBody>
      </p:sp>
      <p:cxnSp>
        <p:nvCxnSpPr>
          <p:cNvPr id="10" name="Connector 9"/>
          <p:cNvCxnSpPr/>
          <p:nvPr/>
        </p:nvCxnSpPr>
        <p:spPr>
          <a:xfrm>
            <a:off x="502920" y="1816608"/>
            <a:ext cx="960120" cy="0"/>
          </a:xfrm>
          <a:prstGeom prst="line">
            <a:avLst/>
          </a:prstGeom>
          <a:ln w="28575">
            <a:solidFill>
              <a:srgbClr val="EDA100"/>
            </a:solidFill>
          </a:ln>
          <a:effectLst/>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02920" y="1920240"/>
            <a:ext cx="5440680" cy="4160520"/>
          </a:xfrm>
          <a:prstGeom prst="roundRect">
            <a:avLst>
              <a:gd name="adj" fmla="val 5500"/>
            </a:avLst>
          </a:prstGeom>
          <a:solidFill>
            <a:srgbClr val="13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2084831"/>
            <a:ext cx="4937760" cy="292608"/>
          </a:xfrm>
          <a:prstGeom prst="rect">
            <a:avLst/>
          </a:prstGeom>
          <a:noFill/>
        </p:spPr>
        <p:txBody>
          <a:bodyPr wrap="square" anchor="t" lIns="0" rIns="0" tIns="0" bIns="0">
            <a:noAutofit/>
          </a:bodyPr>
          <a:lstStyle/>
          <a:p>
            <a:pPr algn="l">
              <a:lnSpc>
                <a:spcPct val="100000"/>
              </a:lnSpc>
              <a:spcAft>
                <a:spcPts val="0"/>
              </a:spcAft>
            </a:pPr>
            <a:r>
              <a:rPr sz="1200" b="1" i="0" spc="120">
                <a:solidFill>
                  <a:srgbClr val="EDA100"/>
                </a:solidFill>
                <a:latin typeface="Segoe UI"/>
              </a:rPr>
              <a:t>THE GAP TODAY</a:t>
            </a:r>
          </a:p>
        </p:txBody>
      </p:sp>
      <p:sp>
        <p:nvSpPr>
          <p:cNvPr id="13" name="TextBox 12"/>
          <p:cNvSpPr txBox="1"/>
          <p:nvPr/>
        </p:nvSpPr>
        <p:spPr>
          <a:xfrm>
            <a:off x="758952" y="2432304"/>
            <a:ext cx="4983480" cy="3566160"/>
          </a:xfrm>
          <a:prstGeom prst="rect">
            <a:avLst/>
          </a:prstGeom>
          <a:noFill/>
        </p:spPr>
        <p:txBody>
          <a:bodyPr wrap="square" lIns="0" rIns="0" tIns="0" bIns="0">
            <a:spAutoFit/>
          </a:bodyPr>
          <a:lstStyle/>
          <a:p>
            <a:pPr>
              <a:lnSpc>
                <a:spcPct val="105000"/>
              </a:lnSpc>
              <a:spcAft>
                <a:spcPts val="1152"/>
              </a:spcAft>
            </a:pPr>
            <a:r>
              <a:rPr sz="1300" b="1">
                <a:solidFill>
                  <a:srgbClr val="EDA100"/>
                </a:solidFill>
                <a:latin typeface="Segoe UI"/>
              </a:rPr>
              <a:t>›  </a:t>
            </a:r>
            <a:r>
              <a:rPr sz="1300" b="1">
                <a:solidFill>
                  <a:srgbClr val="F5F7FA"/>
                </a:solidFill>
                <a:latin typeface="Segoe UI"/>
              </a:rPr>
              <a:t>Hundreds of OSS libraries </a:t>
            </a:r>
            <a:r>
              <a:rPr sz="1300">
                <a:solidFill>
                  <a:srgbClr val="F5F7FA"/>
                </a:solidFill>
                <a:latin typeface="Segoe UI"/>
              </a:rPr>
              <a:t>per banking application -- often unpatched or misconfigured.</a:t>
            </a:r>
          </a:p>
          <a:p>
            <a:pPr>
              <a:lnSpc>
                <a:spcPct val="105000"/>
              </a:lnSpc>
              <a:spcAft>
                <a:spcPts val="1152"/>
              </a:spcAft>
            </a:pPr>
            <a:r>
              <a:rPr sz="1300" b="1">
                <a:solidFill>
                  <a:srgbClr val="EDA100"/>
                </a:solidFill>
                <a:latin typeface="Segoe UI"/>
              </a:rPr>
              <a:t>›  </a:t>
            </a:r>
            <a:r>
              <a:rPr sz="1300" b="1">
                <a:solidFill>
                  <a:srgbClr val="F5F7FA"/>
                </a:solidFill>
                <a:latin typeface="Segoe UI"/>
              </a:rPr>
              <a:t>Known-CVE tools only. </a:t>
            </a:r>
            <a:r>
              <a:rPr sz="1300">
                <a:solidFill>
                  <a:srgbClr val="F5F7FA"/>
                </a:solidFill>
                <a:latin typeface="Segoe UI"/>
              </a:rPr>
              <a:t>Existing SCA scanners catch published CVEs, not insecure defaults: hardcoded passwords, weak cipher suites, insecure configs, unsafe dependency usage.</a:t>
            </a:r>
          </a:p>
          <a:p>
            <a:pPr>
              <a:lnSpc>
                <a:spcPct val="105000"/>
              </a:lnSpc>
              <a:spcAft>
                <a:spcPts val="1152"/>
              </a:spcAft>
            </a:pPr>
            <a:r>
              <a:rPr sz="1300" b="1">
                <a:solidFill>
                  <a:srgbClr val="EDA100"/>
                </a:solidFill>
                <a:latin typeface="Segoe UI"/>
              </a:rPr>
              <a:t>›  </a:t>
            </a:r>
            <a:r>
              <a:rPr sz="1300" b="1">
                <a:solidFill>
                  <a:srgbClr val="F5F7FA"/>
                </a:solidFill>
                <a:latin typeface="Segoe UI"/>
              </a:rPr>
              <a:t>Manual compliance mapping. </a:t>
            </a:r>
            <a:r>
              <a:rPr sz="1300">
                <a:solidFill>
                  <a:srgbClr val="F5F7FA"/>
                </a:solidFill>
                <a:latin typeface="Segoe UI"/>
              </a:rPr>
              <a:t>Turning a raw finding into “this violates PCI DSS 6.2” is normally a spreadsheet exercise, after the fact.</a:t>
            </a:r>
          </a:p>
          <a:p>
            <a:pPr>
              <a:lnSpc>
                <a:spcPct val="105000"/>
              </a:lnSpc>
              <a:spcAft>
                <a:spcPts val="1152"/>
              </a:spcAft>
            </a:pPr>
            <a:r>
              <a:rPr sz="1300" b="1">
                <a:solidFill>
                  <a:srgbClr val="EDA100"/>
                </a:solidFill>
                <a:latin typeface="Segoe UI"/>
              </a:rPr>
              <a:t>›  </a:t>
            </a:r>
            <a:r>
              <a:rPr sz="1300" b="1">
                <a:solidFill>
                  <a:srgbClr val="F5F7FA"/>
                </a:solidFill>
                <a:latin typeface="Segoe UI"/>
              </a:rPr>
              <a:t>Release pressure wins. </a:t>
            </a:r>
            <a:r>
              <a:rPr sz="1300">
                <a:solidFill>
                  <a:srgbClr val="F5F7FA"/>
                </a:solidFill>
                <a:latin typeface="Segoe UI"/>
              </a:rPr>
              <a:t>Developers miss vulnerabilities under rapid release cycles -- the attack surface grows faster than it's reviewed.</a:t>
            </a:r>
          </a:p>
        </p:txBody>
      </p:sp>
      <p:sp>
        <p:nvSpPr>
          <p:cNvPr id="14" name="Rounded Rectangle 13"/>
          <p:cNvSpPr/>
          <p:nvPr/>
        </p:nvSpPr>
        <p:spPr>
          <a:xfrm>
            <a:off x="6245352" y="1920240"/>
            <a:ext cx="4937760" cy="4160520"/>
          </a:xfrm>
          <a:prstGeom prst="roundRect">
            <a:avLst>
              <a:gd name="adj" fmla="val 5500"/>
            </a:avLst>
          </a:prstGeom>
          <a:solidFill>
            <a:srgbClr val="131B2E"/>
          </a:solidFill>
          <a:ln w="15875">
            <a:solidFill>
              <a:srgbClr val="EDA1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01384" y="2084831"/>
            <a:ext cx="4480560" cy="292608"/>
          </a:xfrm>
          <a:prstGeom prst="rect">
            <a:avLst/>
          </a:prstGeom>
          <a:noFill/>
        </p:spPr>
        <p:txBody>
          <a:bodyPr wrap="square" anchor="t" lIns="0" rIns="0" tIns="0" bIns="0">
            <a:noAutofit/>
          </a:bodyPr>
          <a:lstStyle/>
          <a:p>
            <a:pPr algn="l">
              <a:lnSpc>
                <a:spcPct val="100000"/>
              </a:lnSpc>
              <a:spcAft>
                <a:spcPts val="0"/>
              </a:spcAft>
            </a:pPr>
            <a:r>
              <a:rPr sz="1200" b="1" i="0" spc="100">
                <a:solidFill>
                  <a:srgbClr val="EDA100"/>
                </a:solidFill>
                <a:latin typeface="Segoe UI"/>
              </a:rPr>
              <a:t>WHAT THE CHALLENGE ASKS FOR</a:t>
            </a:r>
          </a:p>
        </p:txBody>
      </p:sp>
      <p:sp>
        <p:nvSpPr>
          <p:cNvPr id="16" name="Oval 15"/>
          <p:cNvSpPr/>
          <p:nvPr/>
        </p:nvSpPr>
        <p:spPr>
          <a:xfrm>
            <a:off x="6629400" y="2505456"/>
            <a:ext cx="128016" cy="128016"/>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03720" y="2468880"/>
            <a:ext cx="4114800" cy="310896"/>
          </a:xfrm>
          <a:prstGeom prst="rect">
            <a:avLst/>
          </a:prstGeom>
          <a:noFill/>
        </p:spPr>
        <p:txBody>
          <a:bodyPr wrap="square" anchor="t" lIns="0" rIns="0" tIns="0" bIns="0">
            <a:noAutofit/>
          </a:bodyPr>
          <a:lstStyle/>
          <a:p>
            <a:pPr algn="l">
              <a:lnSpc>
                <a:spcPct val="100000"/>
              </a:lnSpc>
              <a:spcAft>
                <a:spcPts val="0"/>
              </a:spcAft>
            </a:pPr>
            <a:r>
              <a:rPr sz="1300" b="0" i="0">
                <a:solidFill>
                  <a:srgbClr val="F5F7FA"/>
                </a:solidFill>
                <a:latin typeface="Segoe UI"/>
              </a:rPr>
              <a:t>Scan source code</a:t>
            </a:r>
          </a:p>
        </p:txBody>
      </p:sp>
      <p:sp>
        <p:nvSpPr>
          <p:cNvPr id="18" name="Oval 17"/>
          <p:cNvSpPr/>
          <p:nvPr/>
        </p:nvSpPr>
        <p:spPr>
          <a:xfrm>
            <a:off x="6629400" y="2939796"/>
            <a:ext cx="128016" cy="128016"/>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903720" y="2903220"/>
            <a:ext cx="4114800" cy="310896"/>
          </a:xfrm>
          <a:prstGeom prst="rect">
            <a:avLst/>
          </a:prstGeom>
          <a:noFill/>
        </p:spPr>
        <p:txBody>
          <a:bodyPr wrap="square" anchor="t" lIns="0" rIns="0" tIns="0" bIns="0">
            <a:noAutofit/>
          </a:bodyPr>
          <a:lstStyle/>
          <a:p>
            <a:pPr algn="l">
              <a:lnSpc>
                <a:spcPct val="100000"/>
              </a:lnSpc>
              <a:spcAft>
                <a:spcPts val="0"/>
              </a:spcAft>
            </a:pPr>
            <a:r>
              <a:rPr sz="1300" b="0" i="0">
                <a:solidFill>
                  <a:srgbClr val="F5F7FA"/>
                </a:solidFill>
                <a:latin typeface="Segoe UI"/>
              </a:rPr>
              <a:t>Scan dependencies</a:t>
            </a:r>
          </a:p>
        </p:txBody>
      </p:sp>
      <p:sp>
        <p:nvSpPr>
          <p:cNvPr id="20" name="Oval 19"/>
          <p:cNvSpPr/>
          <p:nvPr/>
        </p:nvSpPr>
        <p:spPr>
          <a:xfrm>
            <a:off x="6629400" y="3374136"/>
            <a:ext cx="128016" cy="128016"/>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03720" y="3337560"/>
            <a:ext cx="4114800" cy="310896"/>
          </a:xfrm>
          <a:prstGeom prst="rect">
            <a:avLst/>
          </a:prstGeom>
          <a:noFill/>
        </p:spPr>
        <p:txBody>
          <a:bodyPr wrap="square" anchor="t" lIns="0" rIns="0" tIns="0" bIns="0">
            <a:noAutofit/>
          </a:bodyPr>
          <a:lstStyle/>
          <a:p>
            <a:pPr algn="l">
              <a:lnSpc>
                <a:spcPct val="100000"/>
              </a:lnSpc>
              <a:spcAft>
                <a:spcPts val="0"/>
              </a:spcAft>
            </a:pPr>
            <a:r>
              <a:rPr sz="1300" b="0" i="0">
                <a:solidFill>
                  <a:srgbClr val="F5F7FA"/>
                </a:solidFill>
                <a:latin typeface="Segoe UI"/>
              </a:rPr>
              <a:t>Detect known CVEs</a:t>
            </a:r>
          </a:p>
        </p:txBody>
      </p:sp>
      <p:sp>
        <p:nvSpPr>
          <p:cNvPr id="22" name="Oval 21"/>
          <p:cNvSpPr/>
          <p:nvPr/>
        </p:nvSpPr>
        <p:spPr>
          <a:xfrm>
            <a:off x="6629400" y="3808476"/>
            <a:ext cx="128016" cy="128016"/>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03720" y="3771900"/>
            <a:ext cx="4114800" cy="310896"/>
          </a:xfrm>
          <a:prstGeom prst="rect">
            <a:avLst/>
          </a:prstGeom>
          <a:noFill/>
        </p:spPr>
        <p:txBody>
          <a:bodyPr wrap="square" anchor="t" lIns="0" rIns="0" tIns="0" bIns="0">
            <a:noAutofit/>
          </a:bodyPr>
          <a:lstStyle/>
          <a:p>
            <a:pPr algn="l">
              <a:lnSpc>
                <a:spcPct val="100000"/>
              </a:lnSpc>
              <a:spcAft>
                <a:spcPts val="0"/>
              </a:spcAft>
            </a:pPr>
            <a:r>
              <a:rPr sz="1300" b="0" i="0">
                <a:solidFill>
                  <a:srgbClr val="F5F7FA"/>
                </a:solidFill>
                <a:latin typeface="Segoe UI"/>
              </a:rPr>
              <a:t>Detect insecure configurations</a:t>
            </a:r>
          </a:p>
        </p:txBody>
      </p:sp>
      <p:sp>
        <p:nvSpPr>
          <p:cNvPr id="24" name="Oval 23"/>
          <p:cNvSpPr/>
          <p:nvPr/>
        </p:nvSpPr>
        <p:spPr>
          <a:xfrm>
            <a:off x="6629400" y="4242816"/>
            <a:ext cx="128016" cy="128016"/>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03720" y="4206240"/>
            <a:ext cx="4114800" cy="310896"/>
          </a:xfrm>
          <a:prstGeom prst="rect">
            <a:avLst/>
          </a:prstGeom>
          <a:noFill/>
        </p:spPr>
        <p:txBody>
          <a:bodyPr wrap="square" anchor="t" lIns="0" rIns="0" tIns="0" bIns="0">
            <a:noAutofit/>
          </a:bodyPr>
          <a:lstStyle/>
          <a:p>
            <a:pPr algn="l">
              <a:lnSpc>
                <a:spcPct val="100000"/>
              </a:lnSpc>
              <a:spcAft>
                <a:spcPts val="0"/>
              </a:spcAft>
            </a:pPr>
            <a:r>
              <a:rPr sz="1300" b="0" i="0">
                <a:solidFill>
                  <a:srgbClr val="F5F7FA"/>
                </a:solidFill>
                <a:latin typeface="Segoe UI"/>
              </a:rPr>
              <a:t>Integrate with CI/CD</a:t>
            </a:r>
          </a:p>
        </p:txBody>
      </p:sp>
      <p:sp>
        <p:nvSpPr>
          <p:cNvPr id="26" name="Oval 25"/>
          <p:cNvSpPr/>
          <p:nvPr/>
        </p:nvSpPr>
        <p:spPr>
          <a:xfrm>
            <a:off x="6629400" y="4677156"/>
            <a:ext cx="128016" cy="128016"/>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903720" y="4640579"/>
            <a:ext cx="4114800" cy="310896"/>
          </a:xfrm>
          <a:prstGeom prst="rect">
            <a:avLst/>
          </a:prstGeom>
          <a:noFill/>
        </p:spPr>
        <p:txBody>
          <a:bodyPr wrap="square" anchor="t" lIns="0" rIns="0" tIns="0" bIns="0">
            <a:noAutofit/>
          </a:bodyPr>
          <a:lstStyle/>
          <a:p>
            <a:pPr algn="l">
              <a:lnSpc>
                <a:spcPct val="100000"/>
              </a:lnSpc>
              <a:spcAft>
                <a:spcPts val="0"/>
              </a:spcAft>
            </a:pPr>
            <a:r>
              <a:rPr sz="1300" b="0" i="0">
                <a:solidFill>
                  <a:srgbClr val="F5F7FA"/>
                </a:solidFill>
                <a:latin typeface="Segoe UI"/>
              </a:rPr>
              <a:t>Produce clear, actionable reports</a:t>
            </a:r>
          </a:p>
        </p:txBody>
      </p:sp>
      <p:sp>
        <p:nvSpPr>
          <p:cNvPr id="28" name="Oval 27"/>
          <p:cNvSpPr/>
          <p:nvPr/>
        </p:nvSpPr>
        <p:spPr>
          <a:xfrm>
            <a:off x="6629400" y="5111495"/>
            <a:ext cx="128016" cy="128016"/>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03720" y="5074919"/>
            <a:ext cx="4114800" cy="310896"/>
          </a:xfrm>
          <a:prstGeom prst="rect">
            <a:avLst/>
          </a:prstGeom>
          <a:noFill/>
        </p:spPr>
        <p:txBody>
          <a:bodyPr wrap="square" anchor="t" lIns="0" rIns="0" tIns="0" bIns="0">
            <a:noAutofit/>
          </a:bodyPr>
          <a:lstStyle/>
          <a:p>
            <a:pPr algn="l">
              <a:lnSpc>
                <a:spcPct val="100000"/>
              </a:lnSpc>
              <a:spcAft>
                <a:spcPts val="0"/>
              </a:spcAft>
            </a:pPr>
            <a:r>
              <a:rPr sz="1300" b="0" i="0">
                <a:solidFill>
                  <a:srgbClr val="F5F7FA"/>
                </a:solidFill>
                <a:latin typeface="Segoe UI"/>
              </a:rPr>
              <a:t>Recommend automated remediation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362895" y="-3291840"/>
            <a:ext cx="5852160" cy="5852160"/>
          </a:xfrm>
          <a:prstGeom prst="ellipse">
            <a:avLst/>
          </a:prstGeom>
          <a:noFill/>
          <a:ln w="13970">
            <a:solidFill>
              <a:srgbClr val="EDA100">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502920" y="6473952"/>
            <a:ext cx="11185855" cy="0"/>
          </a:xfrm>
          <a:prstGeom prst="line">
            <a:avLst/>
          </a:prstGeom>
          <a:ln w="9525">
            <a:solidFill>
              <a:srgbClr val="2A3654"/>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28816"/>
            <a:ext cx="4572000" cy="274320"/>
          </a:xfrm>
          <a:prstGeom prst="rect">
            <a:avLst/>
          </a:prstGeom>
          <a:noFill/>
        </p:spPr>
        <p:txBody>
          <a:bodyPr wrap="square" anchor="t" lIns="0" rIns="0" tIns="0" bIns="0">
            <a:noAutofit/>
          </a:bodyPr>
          <a:lstStyle/>
          <a:p>
            <a:pPr algn="l">
              <a:lnSpc>
                <a:spcPct val="100000"/>
              </a:lnSpc>
              <a:spcAft>
                <a:spcPts val="0"/>
              </a:spcAft>
            </a:pPr>
            <a:r>
              <a:rPr sz="900" b="0" i="0">
                <a:solidFill>
                  <a:srgbClr val="64708A"/>
                </a:solidFill>
                <a:latin typeface="Segoe UI"/>
              </a:rPr>
              <a:t>KAVACH  ·  PSB Hackathon 2026</a:t>
            </a:r>
          </a:p>
        </p:txBody>
      </p:sp>
      <p:sp>
        <p:nvSpPr>
          <p:cNvPr id="6" name="TextBox 5"/>
          <p:cNvSpPr txBox="1"/>
          <p:nvPr/>
        </p:nvSpPr>
        <p:spPr>
          <a:xfrm>
            <a:off x="4480560" y="6528816"/>
            <a:ext cx="4572000" cy="274320"/>
          </a:xfrm>
          <a:prstGeom prst="rect">
            <a:avLst/>
          </a:prstGeom>
          <a:noFill/>
        </p:spPr>
        <p:txBody>
          <a:bodyPr wrap="square" anchor="t" lIns="0" rIns="0" tIns="0" bIns="0">
            <a:noAutofit/>
          </a:bodyPr>
          <a:lstStyle/>
          <a:p>
            <a:pPr algn="ctr">
              <a:lnSpc>
                <a:spcPct val="100000"/>
              </a:lnSpc>
              <a:spcAft>
                <a:spcPts val="0"/>
              </a:spcAft>
            </a:pPr>
            <a:r>
              <a:rPr sz="900" b="0" i="0">
                <a:solidFill>
                  <a:srgbClr val="64708A"/>
                </a:solidFill>
                <a:latin typeface="Segoe UI"/>
              </a:rPr>
              <a:t>INDUSTRY CHALLENGES</a:t>
            </a:r>
          </a:p>
        </p:txBody>
      </p:sp>
      <p:sp>
        <p:nvSpPr>
          <p:cNvPr id="7" name="TextBox 6"/>
          <p:cNvSpPr txBox="1"/>
          <p:nvPr/>
        </p:nvSpPr>
        <p:spPr>
          <a:xfrm>
            <a:off x="10820095" y="6528816"/>
            <a:ext cx="914400" cy="274320"/>
          </a:xfrm>
          <a:prstGeom prst="rect">
            <a:avLst/>
          </a:prstGeom>
          <a:noFill/>
        </p:spPr>
        <p:txBody>
          <a:bodyPr wrap="square" anchor="t" lIns="0" rIns="0" tIns="0" bIns="0">
            <a:noAutofit/>
          </a:bodyPr>
          <a:lstStyle/>
          <a:p>
            <a:pPr algn="r">
              <a:lnSpc>
                <a:spcPct val="100000"/>
              </a:lnSpc>
              <a:spcAft>
                <a:spcPts val="0"/>
              </a:spcAft>
            </a:pPr>
            <a:r>
              <a:rPr sz="900" b="0" i="0">
                <a:solidFill>
                  <a:srgbClr val="64708A"/>
                </a:solidFill>
                <a:latin typeface="Segoe UI"/>
              </a:rPr>
              <a:t>04 / 22</a:t>
            </a:r>
          </a:p>
        </p:txBody>
      </p:sp>
      <p:sp>
        <p:nvSpPr>
          <p:cNvPr id="8" name="TextBox 7"/>
          <p:cNvSpPr txBox="1"/>
          <p:nvPr/>
        </p:nvSpPr>
        <p:spPr>
          <a:xfrm>
            <a:off x="502920" y="457200"/>
            <a:ext cx="9601200" cy="292608"/>
          </a:xfrm>
          <a:prstGeom prst="rect">
            <a:avLst/>
          </a:prstGeom>
          <a:noFill/>
        </p:spPr>
        <p:txBody>
          <a:bodyPr wrap="square" anchor="t" lIns="0" rIns="0" tIns="0" bIns="0">
            <a:noAutofit/>
          </a:bodyPr>
          <a:lstStyle/>
          <a:p>
            <a:pPr algn="l">
              <a:lnSpc>
                <a:spcPct val="100000"/>
              </a:lnSpc>
              <a:spcAft>
                <a:spcPts val="0"/>
              </a:spcAft>
            </a:pPr>
            <a:r>
              <a:rPr sz="1250" b="1" i="0" spc="160">
                <a:solidFill>
                  <a:srgbClr val="EDA100"/>
                </a:solidFill>
                <a:latin typeface="Segoe UI"/>
              </a:rPr>
              <a:t>WHY THIS IS URGENT</a:t>
            </a:r>
          </a:p>
        </p:txBody>
      </p:sp>
      <p:sp>
        <p:nvSpPr>
          <p:cNvPr id="9" name="TextBox 8"/>
          <p:cNvSpPr txBox="1"/>
          <p:nvPr/>
        </p:nvSpPr>
        <p:spPr>
          <a:xfrm>
            <a:off x="502920" y="768096"/>
            <a:ext cx="10789920" cy="566928"/>
          </a:xfrm>
          <a:prstGeom prst="rect">
            <a:avLst/>
          </a:prstGeom>
          <a:noFill/>
        </p:spPr>
        <p:txBody>
          <a:bodyPr wrap="square" anchor="t" lIns="0" rIns="0" tIns="0" bIns="0">
            <a:noAutofit/>
          </a:bodyPr>
          <a:lstStyle/>
          <a:p>
            <a:pPr algn="l">
              <a:lnSpc>
                <a:spcPct val="102000"/>
              </a:lnSpc>
              <a:spcAft>
                <a:spcPts val="0"/>
              </a:spcAft>
            </a:pPr>
            <a:r>
              <a:rPr sz="3000" b="1" i="0">
                <a:solidFill>
                  <a:srgbClr val="F5F7FA"/>
                </a:solidFill>
                <a:latin typeface="Segoe UI"/>
              </a:rPr>
              <a:t>The Threat Landscape, In Numbers</a:t>
            </a:r>
          </a:p>
        </p:txBody>
      </p:sp>
      <p:cxnSp>
        <p:nvCxnSpPr>
          <p:cNvPr id="10" name="Connector 9"/>
          <p:cNvCxnSpPr/>
          <p:nvPr/>
        </p:nvCxnSpPr>
        <p:spPr>
          <a:xfrm>
            <a:off x="502920" y="1399032"/>
            <a:ext cx="960120" cy="0"/>
          </a:xfrm>
          <a:prstGeom prst="line">
            <a:avLst/>
          </a:prstGeom>
          <a:ln w="28575">
            <a:solidFill>
              <a:srgbClr val="EDA100"/>
            </a:solidFill>
          </a:ln>
          <a:effectLst/>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02920" y="1920240"/>
            <a:ext cx="2672334" cy="2606040"/>
          </a:xfrm>
          <a:prstGeom prst="roundRect">
            <a:avLst>
              <a:gd name="adj" fmla="val 5500"/>
            </a:avLst>
          </a:prstGeom>
          <a:solidFill>
            <a:srgbClr val="13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a:off x="667512" y="2066544"/>
            <a:ext cx="310896" cy="0"/>
          </a:xfrm>
          <a:prstGeom prst="line">
            <a:avLst/>
          </a:prstGeom>
          <a:ln w="31750">
            <a:solidFill>
              <a:srgbClr val="EDA100"/>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67512" y="2157984"/>
            <a:ext cx="2343150" cy="512064"/>
          </a:xfrm>
          <a:prstGeom prst="rect">
            <a:avLst/>
          </a:prstGeom>
          <a:noFill/>
        </p:spPr>
        <p:txBody>
          <a:bodyPr wrap="square" anchor="t" lIns="0" rIns="0" tIns="0" bIns="0">
            <a:noAutofit/>
          </a:bodyPr>
          <a:lstStyle/>
          <a:p>
            <a:pPr algn="l">
              <a:lnSpc>
                <a:spcPct val="100000"/>
              </a:lnSpc>
              <a:spcAft>
                <a:spcPts val="0"/>
              </a:spcAft>
            </a:pPr>
            <a:r>
              <a:rPr sz="2700" b="1" i="0">
                <a:solidFill>
                  <a:srgbClr val="F5F7FA"/>
                </a:solidFill>
                <a:latin typeface="Segoe UI"/>
              </a:rPr>
              <a:t>75%</a:t>
            </a:r>
          </a:p>
        </p:txBody>
      </p:sp>
      <p:sp>
        <p:nvSpPr>
          <p:cNvPr id="14" name="TextBox 13"/>
          <p:cNvSpPr txBox="1"/>
          <p:nvPr/>
        </p:nvSpPr>
        <p:spPr>
          <a:xfrm>
            <a:off x="667512" y="2743200"/>
            <a:ext cx="2343150" cy="1289304"/>
          </a:xfrm>
          <a:prstGeom prst="rect">
            <a:avLst/>
          </a:prstGeom>
          <a:noFill/>
        </p:spPr>
        <p:txBody>
          <a:bodyPr wrap="square" anchor="t" lIns="0" rIns="0" tIns="0" bIns="0">
            <a:noAutofit/>
          </a:bodyPr>
          <a:lstStyle/>
          <a:p>
            <a:pPr algn="l">
              <a:lnSpc>
                <a:spcPct val="118000"/>
              </a:lnSpc>
              <a:spcAft>
                <a:spcPts val="0"/>
              </a:spcAft>
            </a:pPr>
            <a:r>
              <a:rPr sz="1050" b="0" i="0">
                <a:solidFill>
                  <a:srgbClr val="9AA7BD"/>
                </a:solidFill>
                <a:latin typeface="Segoe UI"/>
              </a:rPr>
              <a:t>Growth in open-source malware discovered in 2025 vs. 2024 -- 1.23M+ malicious packages now blocked across npm, PyPI, Maven, NuGet &amp; Hugging Face.</a:t>
            </a:r>
          </a:p>
        </p:txBody>
      </p:sp>
      <p:sp>
        <p:nvSpPr>
          <p:cNvPr id="15" name="TextBox 14"/>
          <p:cNvSpPr txBox="1"/>
          <p:nvPr/>
        </p:nvSpPr>
        <p:spPr>
          <a:xfrm>
            <a:off x="667512" y="4050792"/>
            <a:ext cx="2343150" cy="365760"/>
          </a:xfrm>
          <a:prstGeom prst="rect">
            <a:avLst/>
          </a:prstGeom>
          <a:noFill/>
        </p:spPr>
        <p:txBody>
          <a:bodyPr wrap="square" anchor="b" lIns="0" rIns="0" tIns="0" bIns="0">
            <a:noAutofit/>
          </a:bodyPr>
          <a:lstStyle/>
          <a:p>
            <a:pPr algn="l">
              <a:lnSpc>
                <a:spcPct val="100000"/>
              </a:lnSpc>
              <a:spcAft>
                <a:spcPts val="0"/>
              </a:spcAft>
            </a:pPr>
            <a:r>
              <a:rPr sz="800" b="0" i="1">
                <a:solidFill>
                  <a:srgbClr val="64708A"/>
                </a:solidFill>
                <a:latin typeface="Segoe UI"/>
              </a:rPr>
              <a:t>Sonatype, 2026 State of the Software Supply Chain</a:t>
            </a:r>
          </a:p>
        </p:txBody>
      </p:sp>
      <p:sp>
        <p:nvSpPr>
          <p:cNvPr id="16" name="Rounded Rectangle 15"/>
          <p:cNvSpPr/>
          <p:nvPr/>
        </p:nvSpPr>
        <p:spPr>
          <a:xfrm>
            <a:off x="3339846" y="1920240"/>
            <a:ext cx="2672334" cy="2606040"/>
          </a:xfrm>
          <a:prstGeom prst="roundRect">
            <a:avLst>
              <a:gd name="adj" fmla="val 5500"/>
            </a:avLst>
          </a:prstGeom>
          <a:solidFill>
            <a:srgbClr val="13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3504438" y="2066544"/>
            <a:ext cx="310896" cy="0"/>
          </a:xfrm>
          <a:prstGeom prst="line">
            <a:avLst/>
          </a:prstGeom>
          <a:ln w="31750">
            <a:solidFill>
              <a:srgbClr val="6CAEF2"/>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504438" y="2157984"/>
            <a:ext cx="2343150" cy="512064"/>
          </a:xfrm>
          <a:prstGeom prst="rect">
            <a:avLst/>
          </a:prstGeom>
          <a:noFill/>
        </p:spPr>
        <p:txBody>
          <a:bodyPr wrap="square" anchor="t" lIns="0" rIns="0" tIns="0" bIns="0">
            <a:noAutofit/>
          </a:bodyPr>
          <a:lstStyle/>
          <a:p>
            <a:pPr algn="l">
              <a:lnSpc>
                <a:spcPct val="100000"/>
              </a:lnSpc>
              <a:spcAft>
                <a:spcPts val="0"/>
              </a:spcAft>
            </a:pPr>
            <a:r>
              <a:rPr sz="2700" b="1" i="0">
                <a:solidFill>
                  <a:srgbClr val="F5F7FA"/>
                </a:solidFill>
                <a:latin typeface="Segoe UI"/>
              </a:rPr>
              <a:t>95%</a:t>
            </a:r>
          </a:p>
        </p:txBody>
      </p:sp>
      <p:sp>
        <p:nvSpPr>
          <p:cNvPr id="19" name="TextBox 18"/>
          <p:cNvSpPr txBox="1"/>
          <p:nvPr/>
        </p:nvSpPr>
        <p:spPr>
          <a:xfrm>
            <a:off x="3504438" y="2743200"/>
            <a:ext cx="2343150" cy="1289304"/>
          </a:xfrm>
          <a:prstGeom prst="rect">
            <a:avLst/>
          </a:prstGeom>
          <a:noFill/>
        </p:spPr>
        <p:txBody>
          <a:bodyPr wrap="square" anchor="t" lIns="0" rIns="0" tIns="0" bIns="0">
            <a:noAutofit/>
          </a:bodyPr>
          <a:lstStyle/>
          <a:p>
            <a:pPr algn="l">
              <a:lnSpc>
                <a:spcPct val="118000"/>
              </a:lnSpc>
              <a:spcAft>
                <a:spcPts val="0"/>
              </a:spcAft>
            </a:pPr>
            <a:r>
              <a:rPr sz="1050" b="0" i="0">
                <a:solidFill>
                  <a:srgbClr val="9AA7BD"/>
                </a:solidFill>
                <a:latin typeface="Segoe UI"/>
              </a:rPr>
              <a:t>Of the time a vulnerable open-source component is pulled into a build, a fixed version already existed -- this is a patching gap, not a detection gap.</a:t>
            </a:r>
          </a:p>
        </p:txBody>
      </p:sp>
      <p:sp>
        <p:nvSpPr>
          <p:cNvPr id="20" name="TextBox 19"/>
          <p:cNvSpPr txBox="1"/>
          <p:nvPr/>
        </p:nvSpPr>
        <p:spPr>
          <a:xfrm>
            <a:off x="3504438" y="4050792"/>
            <a:ext cx="2343150" cy="365760"/>
          </a:xfrm>
          <a:prstGeom prst="rect">
            <a:avLst/>
          </a:prstGeom>
          <a:noFill/>
        </p:spPr>
        <p:txBody>
          <a:bodyPr wrap="square" anchor="b" lIns="0" rIns="0" tIns="0" bIns="0">
            <a:noAutofit/>
          </a:bodyPr>
          <a:lstStyle/>
          <a:p>
            <a:pPr algn="l">
              <a:lnSpc>
                <a:spcPct val="100000"/>
              </a:lnSpc>
              <a:spcAft>
                <a:spcPts val="0"/>
              </a:spcAft>
            </a:pPr>
            <a:r>
              <a:rPr sz="800" b="0" i="1">
                <a:solidFill>
                  <a:srgbClr val="64708A"/>
                </a:solidFill>
                <a:latin typeface="Segoe UI"/>
              </a:rPr>
              <a:t>Sonatype, 10th Annual State of the Software Supply Chain (2024)</a:t>
            </a:r>
          </a:p>
        </p:txBody>
      </p:sp>
      <p:sp>
        <p:nvSpPr>
          <p:cNvPr id="21" name="Rounded Rectangle 20"/>
          <p:cNvSpPr/>
          <p:nvPr/>
        </p:nvSpPr>
        <p:spPr>
          <a:xfrm>
            <a:off x="6176772" y="1920240"/>
            <a:ext cx="2672334" cy="2606040"/>
          </a:xfrm>
          <a:prstGeom prst="roundRect">
            <a:avLst>
              <a:gd name="adj" fmla="val 5500"/>
            </a:avLst>
          </a:prstGeom>
          <a:solidFill>
            <a:srgbClr val="13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 name="Connector 21"/>
          <p:cNvCxnSpPr/>
          <p:nvPr/>
        </p:nvCxnSpPr>
        <p:spPr>
          <a:xfrm>
            <a:off x="6341364" y="2066544"/>
            <a:ext cx="310896" cy="0"/>
          </a:xfrm>
          <a:prstGeom prst="line">
            <a:avLst/>
          </a:prstGeom>
          <a:ln w="31750">
            <a:solidFill>
              <a:srgbClr val="F28B8A"/>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341364" y="2157984"/>
            <a:ext cx="2343150" cy="512064"/>
          </a:xfrm>
          <a:prstGeom prst="rect">
            <a:avLst/>
          </a:prstGeom>
          <a:noFill/>
        </p:spPr>
        <p:txBody>
          <a:bodyPr wrap="square" anchor="t" lIns="0" rIns="0" tIns="0" bIns="0">
            <a:noAutofit/>
          </a:bodyPr>
          <a:lstStyle/>
          <a:p>
            <a:pPr algn="l">
              <a:lnSpc>
                <a:spcPct val="100000"/>
              </a:lnSpc>
              <a:spcAft>
                <a:spcPts val="0"/>
              </a:spcAft>
            </a:pPr>
            <a:r>
              <a:rPr sz="2700" b="1" i="0">
                <a:solidFill>
                  <a:srgbClr val="F5F7FA"/>
                </a:solidFill>
                <a:latin typeface="Segoe UI"/>
              </a:rPr>
              <a:t>37%</a:t>
            </a:r>
          </a:p>
        </p:txBody>
      </p:sp>
      <p:sp>
        <p:nvSpPr>
          <p:cNvPr id="24" name="TextBox 23"/>
          <p:cNvSpPr txBox="1"/>
          <p:nvPr/>
        </p:nvSpPr>
        <p:spPr>
          <a:xfrm>
            <a:off x="6341364" y="2743200"/>
            <a:ext cx="2343150" cy="1289304"/>
          </a:xfrm>
          <a:prstGeom prst="rect">
            <a:avLst/>
          </a:prstGeom>
          <a:noFill/>
        </p:spPr>
        <p:txBody>
          <a:bodyPr wrap="square" anchor="t" lIns="0" rIns="0" tIns="0" bIns="0">
            <a:noAutofit/>
          </a:bodyPr>
          <a:lstStyle/>
          <a:p>
            <a:pPr algn="l">
              <a:lnSpc>
                <a:spcPct val="118000"/>
              </a:lnSpc>
              <a:spcAft>
                <a:spcPts val="0"/>
              </a:spcAft>
            </a:pPr>
            <a:r>
              <a:rPr sz="1050" b="0" i="0">
                <a:solidFill>
                  <a:srgbClr val="9AA7BD"/>
                </a:solidFill>
                <a:latin typeface="Segoe UI"/>
              </a:rPr>
              <a:t>Of breaches in 2025 involved exploited vulnerabilities, unpatched systems, or misconfigurations.</a:t>
            </a:r>
          </a:p>
        </p:txBody>
      </p:sp>
      <p:sp>
        <p:nvSpPr>
          <p:cNvPr id="25" name="TextBox 24"/>
          <p:cNvSpPr txBox="1"/>
          <p:nvPr/>
        </p:nvSpPr>
        <p:spPr>
          <a:xfrm>
            <a:off x="6341364" y="4050792"/>
            <a:ext cx="2343150" cy="365760"/>
          </a:xfrm>
          <a:prstGeom prst="rect">
            <a:avLst/>
          </a:prstGeom>
          <a:noFill/>
        </p:spPr>
        <p:txBody>
          <a:bodyPr wrap="square" anchor="b" lIns="0" rIns="0" tIns="0" bIns="0">
            <a:noAutofit/>
          </a:bodyPr>
          <a:lstStyle/>
          <a:p>
            <a:pPr algn="l">
              <a:lnSpc>
                <a:spcPct val="100000"/>
              </a:lnSpc>
              <a:spcAft>
                <a:spcPts val="0"/>
              </a:spcAft>
            </a:pPr>
            <a:r>
              <a:rPr sz="800" b="0" i="1">
                <a:solidFill>
                  <a:srgbClr val="64708A"/>
                </a:solidFill>
                <a:latin typeface="Segoe UI"/>
              </a:rPr>
              <a:t>Verizon, 2025 Data Breach Investigations Report</a:t>
            </a:r>
          </a:p>
        </p:txBody>
      </p:sp>
      <p:sp>
        <p:nvSpPr>
          <p:cNvPr id="26" name="Rounded Rectangle 25"/>
          <p:cNvSpPr/>
          <p:nvPr/>
        </p:nvSpPr>
        <p:spPr>
          <a:xfrm>
            <a:off x="9013698" y="1920240"/>
            <a:ext cx="2672334" cy="2606040"/>
          </a:xfrm>
          <a:prstGeom prst="roundRect">
            <a:avLst>
              <a:gd name="adj" fmla="val 5500"/>
            </a:avLst>
          </a:prstGeom>
          <a:solidFill>
            <a:srgbClr val="13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 name="Connector 26"/>
          <p:cNvCxnSpPr/>
          <p:nvPr/>
        </p:nvCxnSpPr>
        <p:spPr>
          <a:xfrm>
            <a:off x="9178290" y="2066544"/>
            <a:ext cx="310896" cy="0"/>
          </a:xfrm>
          <a:prstGeom prst="line">
            <a:avLst/>
          </a:prstGeom>
          <a:ln w="31750">
            <a:solidFill>
              <a:srgbClr val="6FDDB4"/>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9178290" y="2157984"/>
            <a:ext cx="2343150" cy="512064"/>
          </a:xfrm>
          <a:prstGeom prst="rect">
            <a:avLst/>
          </a:prstGeom>
          <a:noFill/>
        </p:spPr>
        <p:txBody>
          <a:bodyPr wrap="square" anchor="t" lIns="0" rIns="0" tIns="0" bIns="0">
            <a:noAutofit/>
          </a:bodyPr>
          <a:lstStyle/>
          <a:p>
            <a:pPr algn="l">
              <a:lnSpc>
                <a:spcPct val="100000"/>
              </a:lnSpc>
              <a:spcAft>
                <a:spcPts val="0"/>
              </a:spcAft>
            </a:pPr>
            <a:r>
              <a:rPr sz="2700" b="1" i="0">
                <a:solidFill>
                  <a:srgbClr val="F5F7FA"/>
                </a:solidFill>
                <a:latin typeface="Segoe UI"/>
              </a:rPr>
              <a:t>4.1M</a:t>
            </a:r>
          </a:p>
        </p:txBody>
      </p:sp>
      <p:sp>
        <p:nvSpPr>
          <p:cNvPr id="29" name="TextBox 28"/>
          <p:cNvSpPr txBox="1"/>
          <p:nvPr/>
        </p:nvSpPr>
        <p:spPr>
          <a:xfrm>
            <a:off x="9178290" y="2743200"/>
            <a:ext cx="2343150" cy="1289304"/>
          </a:xfrm>
          <a:prstGeom prst="rect">
            <a:avLst/>
          </a:prstGeom>
          <a:noFill/>
        </p:spPr>
        <p:txBody>
          <a:bodyPr wrap="square" anchor="t" lIns="0" rIns="0" tIns="0" bIns="0">
            <a:noAutofit/>
          </a:bodyPr>
          <a:lstStyle/>
          <a:p>
            <a:pPr algn="l">
              <a:lnSpc>
                <a:spcPct val="118000"/>
              </a:lnSpc>
              <a:spcAft>
                <a:spcPts val="0"/>
              </a:spcAft>
            </a:pPr>
            <a:r>
              <a:rPr sz="1050" b="0" i="0">
                <a:solidFill>
                  <a:srgbClr val="9AA7BD"/>
                </a:solidFill>
                <a:latin typeface="Segoe UI"/>
              </a:rPr>
              <a:t>Average monthly cyberattacks against India's BFSI sector in 2025, with 248+ confirmed breaches across scheduled commercial banks.</a:t>
            </a:r>
          </a:p>
        </p:txBody>
      </p:sp>
      <p:sp>
        <p:nvSpPr>
          <p:cNvPr id="30" name="TextBox 29"/>
          <p:cNvSpPr txBox="1"/>
          <p:nvPr/>
        </p:nvSpPr>
        <p:spPr>
          <a:xfrm>
            <a:off x="9178290" y="4050792"/>
            <a:ext cx="2343150" cy="365760"/>
          </a:xfrm>
          <a:prstGeom prst="rect">
            <a:avLst/>
          </a:prstGeom>
          <a:noFill/>
        </p:spPr>
        <p:txBody>
          <a:bodyPr wrap="square" anchor="b" lIns="0" rIns="0" tIns="0" bIns="0">
            <a:noAutofit/>
          </a:bodyPr>
          <a:lstStyle/>
          <a:p>
            <a:pPr algn="l">
              <a:lnSpc>
                <a:spcPct val="100000"/>
              </a:lnSpc>
              <a:spcAft>
                <a:spcPts val="0"/>
              </a:spcAft>
            </a:pPr>
            <a:r>
              <a:rPr sz="800" b="0" i="1">
                <a:solidFill>
                  <a:srgbClr val="64708A"/>
                </a:solidFill>
                <a:latin typeface="Segoe UI"/>
              </a:rPr>
              <a:t>CERT-In / CSIRT-Fin / SISA Digital Threat Report; 2025 industry reporting</a:t>
            </a:r>
          </a:p>
        </p:txBody>
      </p:sp>
      <p:sp>
        <p:nvSpPr>
          <p:cNvPr id="31" name="Rounded Rectangle 30"/>
          <p:cNvSpPr/>
          <p:nvPr/>
        </p:nvSpPr>
        <p:spPr>
          <a:xfrm>
            <a:off x="502920" y="4709160"/>
            <a:ext cx="11183112" cy="1051560"/>
          </a:xfrm>
          <a:prstGeom prst="roundRect">
            <a:avLst>
              <a:gd name="adj" fmla="val 5500"/>
            </a:avLst>
          </a:prstGeom>
          <a:solidFill>
            <a:srgbClr val="18233B"/>
          </a:solidFill>
          <a:ln w="13970">
            <a:solidFill>
              <a:srgbClr val="EDA1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77240" y="4892040"/>
            <a:ext cx="10634472" cy="685800"/>
          </a:xfrm>
          <a:prstGeom prst="rect">
            <a:avLst/>
          </a:prstGeom>
          <a:noFill/>
        </p:spPr>
        <p:txBody>
          <a:bodyPr wrap="square" anchor="ctr" lIns="0" rIns="0" tIns="0" bIns="0">
            <a:noAutofit/>
          </a:bodyPr>
          <a:lstStyle/>
          <a:p>
            <a:pPr algn="l">
              <a:lnSpc>
                <a:spcPct val="100000"/>
              </a:lnSpc>
              <a:spcAft>
                <a:spcPts val="0"/>
              </a:spcAft>
            </a:pPr>
            <a:r>
              <a:rPr sz="1400" b="0" i="1">
                <a:solidFill>
                  <a:srgbClr val="F5F7FA"/>
                </a:solidFill>
                <a:latin typeface="Segoe UI"/>
              </a:rPr>
              <a:t>The bottleneck isn't detecting known CVEs -- it's catching what CVE databases don't cover: insecure defaults, weak configuration, and the lag between “a fix exists” and “a fix is deployed.”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362895" y="-3291840"/>
            <a:ext cx="5852160" cy="5852160"/>
          </a:xfrm>
          <a:prstGeom prst="ellipse">
            <a:avLst/>
          </a:prstGeom>
          <a:noFill/>
          <a:ln w="13970">
            <a:solidFill>
              <a:srgbClr val="EDA100">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502920" y="6473952"/>
            <a:ext cx="11185855" cy="0"/>
          </a:xfrm>
          <a:prstGeom prst="line">
            <a:avLst/>
          </a:prstGeom>
          <a:ln w="9525">
            <a:solidFill>
              <a:srgbClr val="2A3654"/>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28816"/>
            <a:ext cx="4572000" cy="274320"/>
          </a:xfrm>
          <a:prstGeom prst="rect">
            <a:avLst/>
          </a:prstGeom>
          <a:noFill/>
        </p:spPr>
        <p:txBody>
          <a:bodyPr wrap="square" anchor="t" lIns="0" rIns="0" tIns="0" bIns="0">
            <a:noAutofit/>
          </a:bodyPr>
          <a:lstStyle/>
          <a:p>
            <a:pPr algn="l">
              <a:lnSpc>
                <a:spcPct val="100000"/>
              </a:lnSpc>
              <a:spcAft>
                <a:spcPts val="0"/>
              </a:spcAft>
            </a:pPr>
            <a:r>
              <a:rPr sz="900" b="0" i="0">
                <a:solidFill>
                  <a:srgbClr val="64708A"/>
                </a:solidFill>
                <a:latin typeface="Segoe UI"/>
              </a:rPr>
              <a:t>KAVACH  ·  PSB Hackathon 2026</a:t>
            </a:r>
          </a:p>
        </p:txBody>
      </p:sp>
      <p:sp>
        <p:nvSpPr>
          <p:cNvPr id="6" name="TextBox 5"/>
          <p:cNvSpPr txBox="1"/>
          <p:nvPr/>
        </p:nvSpPr>
        <p:spPr>
          <a:xfrm>
            <a:off x="4480560" y="6528816"/>
            <a:ext cx="4572000" cy="274320"/>
          </a:xfrm>
          <a:prstGeom prst="rect">
            <a:avLst/>
          </a:prstGeom>
          <a:noFill/>
        </p:spPr>
        <p:txBody>
          <a:bodyPr wrap="square" anchor="t" lIns="0" rIns="0" tIns="0" bIns="0">
            <a:noAutofit/>
          </a:bodyPr>
          <a:lstStyle/>
          <a:p>
            <a:pPr algn="ctr">
              <a:lnSpc>
                <a:spcPct val="100000"/>
              </a:lnSpc>
              <a:spcAft>
                <a:spcPts val="0"/>
              </a:spcAft>
            </a:pPr>
            <a:r>
              <a:rPr sz="900" b="0" i="0">
                <a:solidFill>
                  <a:srgbClr val="64708A"/>
                </a:solidFill>
                <a:latin typeface="Segoe UI"/>
              </a:rPr>
              <a:t>OUR SOLUTION</a:t>
            </a:r>
          </a:p>
        </p:txBody>
      </p:sp>
      <p:sp>
        <p:nvSpPr>
          <p:cNvPr id="7" name="TextBox 6"/>
          <p:cNvSpPr txBox="1"/>
          <p:nvPr/>
        </p:nvSpPr>
        <p:spPr>
          <a:xfrm>
            <a:off x="10820095" y="6528816"/>
            <a:ext cx="914400" cy="274320"/>
          </a:xfrm>
          <a:prstGeom prst="rect">
            <a:avLst/>
          </a:prstGeom>
          <a:noFill/>
        </p:spPr>
        <p:txBody>
          <a:bodyPr wrap="square" anchor="t" lIns="0" rIns="0" tIns="0" bIns="0">
            <a:noAutofit/>
          </a:bodyPr>
          <a:lstStyle/>
          <a:p>
            <a:pPr algn="r">
              <a:lnSpc>
                <a:spcPct val="100000"/>
              </a:lnSpc>
              <a:spcAft>
                <a:spcPts val="0"/>
              </a:spcAft>
            </a:pPr>
            <a:r>
              <a:rPr sz="900" b="0" i="0">
                <a:solidFill>
                  <a:srgbClr val="64708A"/>
                </a:solidFill>
                <a:latin typeface="Segoe UI"/>
              </a:rPr>
              <a:t>05 / 22</a:t>
            </a:r>
          </a:p>
        </p:txBody>
      </p:sp>
      <p:sp>
        <p:nvSpPr>
          <p:cNvPr id="8" name="TextBox 7"/>
          <p:cNvSpPr txBox="1"/>
          <p:nvPr/>
        </p:nvSpPr>
        <p:spPr>
          <a:xfrm>
            <a:off x="502920" y="457200"/>
            <a:ext cx="9601200" cy="292608"/>
          </a:xfrm>
          <a:prstGeom prst="rect">
            <a:avLst/>
          </a:prstGeom>
          <a:noFill/>
        </p:spPr>
        <p:txBody>
          <a:bodyPr wrap="square" anchor="t" lIns="0" rIns="0" tIns="0" bIns="0">
            <a:noAutofit/>
          </a:bodyPr>
          <a:lstStyle/>
          <a:p>
            <a:pPr algn="l">
              <a:lnSpc>
                <a:spcPct val="100000"/>
              </a:lnSpc>
              <a:spcAft>
                <a:spcPts val="0"/>
              </a:spcAft>
            </a:pPr>
            <a:r>
              <a:rPr sz="1250" b="1" i="0" spc="160">
                <a:solidFill>
                  <a:srgbClr val="EDA100"/>
                </a:solidFill>
                <a:latin typeface="Segoe UI"/>
              </a:rPr>
              <a:t>OUR SOLUTION</a:t>
            </a:r>
          </a:p>
        </p:txBody>
      </p:sp>
      <p:sp>
        <p:nvSpPr>
          <p:cNvPr id="9" name="TextBox 8"/>
          <p:cNvSpPr txBox="1"/>
          <p:nvPr/>
        </p:nvSpPr>
        <p:spPr>
          <a:xfrm>
            <a:off x="502920" y="768096"/>
            <a:ext cx="10789920" cy="566928"/>
          </a:xfrm>
          <a:prstGeom prst="rect">
            <a:avLst/>
          </a:prstGeom>
          <a:noFill/>
        </p:spPr>
        <p:txBody>
          <a:bodyPr wrap="square" anchor="t" lIns="0" rIns="0" tIns="0" bIns="0">
            <a:noAutofit/>
          </a:bodyPr>
          <a:lstStyle/>
          <a:p>
            <a:pPr algn="l">
              <a:lnSpc>
                <a:spcPct val="102000"/>
              </a:lnSpc>
              <a:spcAft>
                <a:spcPts val="0"/>
              </a:spcAft>
            </a:pPr>
            <a:r>
              <a:rPr sz="3000" b="1" i="0">
                <a:solidFill>
                  <a:srgbClr val="F5F7FA"/>
                </a:solidFill>
                <a:latin typeface="Segoe UI"/>
              </a:rPr>
              <a:t>KAVACH: One Pipeline, From Repository to Boardroom</a:t>
            </a:r>
          </a:p>
        </p:txBody>
      </p:sp>
      <p:cxnSp>
        <p:nvCxnSpPr>
          <p:cNvPr id="10" name="Connector 9"/>
          <p:cNvCxnSpPr/>
          <p:nvPr/>
        </p:nvCxnSpPr>
        <p:spPr>
          <a:xfrm>
            <a:off x="502920" y="1399032"/>
            <a:ext cx="960120" cy="0"/>
          </a:xfrm>
          <a:prstGeom prst="line">
            <a:avLst/>
          </a:prstGeom>
          <a:ln w="28575">
            <a:solidFill>
              <a:srgbClr val="EDA100"/>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02920" y="1874519"/>
            <a:ext cx="6492240" cy="914400"/>
          </a:xfrm>
          <a:prstGeom prst="rect">
            <a:avLst/>
          </a:prstGeom>
          <a:noFill/>
        </p:spPr>
        <p:txBody>
          <a:bodyPr wrap="square" anchor="t" lIns="0" rIns="0" tIns="0" bIns="0">
            <a:noAutofit/>
          </a:bodyPr>
          <a:lstStyle/>
          <a:p>
            <a:pPr algn="l">
              <a:lnSpc>
                <a:spcPct val="120000"/>
              </a:lnSpc>
              <a:spcAft>
                <a:spcPts val="0"/>
              </a:spcAft>
            </a:pPr>
            <a:r>
              <a:rPr sz="1350" b="0" i="0">
                <a:solidFill>
                  <a:srgbClr val="9AA7BD"/>
                </a:solidFill>
                <a:latin typeface="Segoe UI"/>
              </a:rPr>
              <a:t>A distributed, AI-assisted DevSecOps platform that scans a repository across 9 independent security tools, deduplicates the results into one unified finding set, and turns that into what a bank can act on: a business-aware risk score, mapped compliance clauses, and a citation-backed explanation.</a:t>
            </a:r>
          </a:p>
        </p:txBody>
      </p:sp>
      <p:sp>
        <p:nvSpPr>
          <p:cNvPr id="12" name="Rounded Rectangle 11"/>
          <p:cNvSpPr/>
          <p:nvPr/>
        </p:nvSpPr>
        <p:spPr>
          <a:xfrm>
            <a:off x="502920" y="3063240"/>
            <a:ext cx="864761" cy="777240"/>
          </a:xfrm>
          <a:prstGeom prst="roundRect">
            <a:avLst>
              <a:gd name="adj" fmla="val 14000"/>
            </a:avLst>
          </a:prstGeom>
          <a:solidFill>
            <a:srgbClr val="18233B"/>
          </a:solidFill>
          <a:ln w="1587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800" b="1">
                <a:solidFill>
                  <a:srgbClr val="F5F7FA"/>
                </a:solidFill>
                <a:latin typeface="Segoe UI"/>
              </a:rPr>
              <a:t>Repository</a:t>
            </a:r>
          </a:p>
        </p:txBody>
      </p:sp>
      <p:sp>
        <p:nvSpPr>
          <p:cNvPr id="13" name="Isosceles Triangle 12"/>
          <p:cNvSpPr/>
          <p:nvPr/>
        </p:nvSpPr>
        <p:spPr>
          <a:xfrm rot="5400000">
            <a:off x="1381397" y="3387852"/>
            <a:ext cx="45720" cy="128016"/>
          </a:xfrm>
          <a:prstGeom prst="triangle">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440833" y="3063240"/>
            <a:ext cx="864761" cy="777240"/>
          </a:xfrm>
          <a:prstGeom prst="roundRect">
            <a:avLst>
              <a:gd name="adj" fmla="val 14000"/>
            </a:avLst>
          </a:prstGeom>
          <a:solidFill>
            <a:srgbClr val="18233B"/>
          </a:solidFill>
          <a:ln w="1587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800" b="1">
                <a:solidFill>
                  <a:srgbClr val="F5F7FA"/>
                </a:solidFill>
                <a:latin typeface="Segoe UI"/>
              </a:rPr>
              <a:t>CI / CD</a:t>
            </a:r>
          </a:p>
        </p:txBody>
      </p:sp>
      <p:sp>
        <p:nvSpPr>
          <p:cNvPr id="15" name="Isosceles Triangle 14"/>
          <p:cNvSpPr/>
          <p:nvPr/>
        </p:nvSpPr>
        <p:spPr>
          <a:xfrm rot="5400000">
            <a:off x="2319310" y="3387852"/>
            <a:ext cx="45720" cy="128016"/>
          </a:xfrm>
          <a:prstGeom prst="triangle">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2378746" y="3063240"/>
            <a:ext cx="864761" cy="777240"/>
          </a:xfrm>
          <a:prstGeom prst="roundRect">
            <a:avLst>
              <a:gd name="adj" fmla="val 14000"/>
            </a:avLst>
          </a:prstGeom>
          <a:solidFill>
            <a:srgbClr val="18233B"/>
          </a:solidFill>
          <a:ln w="15875">
            <a:solidFill>
              <a:srgbClr val="6CAEF2"/>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800" b="1">
                <a:solidFill>
                  <a:srgbClr val="F5F7FA"/>
                </a:solidFill>
                <a:latin typeface="Segoe UI"/>
              </a:rPr>
              <a:t>Scanning</a:t>
            </a:r>
          </a:p>
        </p:txBody>
      </p:sp>
      <p:sp>
        <p:nvSpPr>
          <p:cNvPr id="17" name="Isosceles Triangle 16"/>
          <p:cNvSpPr/>
          <p:nvPr/>
        </p:nvSpPr>
        <p:spPr>
          <a:xfrm rot="5400000">
            <a:off x="3257223" y="3387852"/>
            <a:ext cx="45720" cy="128016"/>
          </a:xfrm>
          <a:prstGeom prst="triangle">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316659" y="3063240"/>
            <a:ext cx="864761" cy="777240"/>
          </a:xfrm>
          <a:prstGeom prst="roundRect">
            <a:avLst>
              <a:gd name="adj" fmla="val 14000"/>
            </a:avLst>
          </a:prstGeom>
          <a:solidFill>
            <a:srgbClr val="18233B"/>
          </a:solidFill>
          <a:ln w="15875">
            <a:solidFill>
              <a:srgbClr val="4A3AA7"/>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800" b="1">
                <a:solidFill>
                  <a:srgbClr val="F5F7FA"/>
                </a:solidFill>
                <a:latin typeface="Segoe UI"/>
              </a:rPr>
              <a:t>AI</a:t>
            </a:r>
          </a:p>
        </p:txBody>
      </p:sp>
      <p:sp>
        <p:nvSpPr>
          <p:cNvPr id="19" name="Isosceles Triangle 18"/>
          <p:cNvSpPr/>
          <p:nvPr/>
        </p:nvSpPr>
        <p:spPr>
          <a:xfrm rot="5400000">
            <a:off x="4195136" y="3387852"/>
            <a:ext cx="45720" cy="128016"/>
          </a:xfrm>
          <a:prstGeom prst="triangle">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254572" y="3063240"/>
            <a:ext cx="864761" cy="777240"/>
          </a:xfrm>
          <a:prstGeom prst="roundRect">
            <a:avLst>
              <a:gd name="adj" fmla="val 14000"/>
            </a:avLst>
          </a:prstGeom>
          <a:solidFill>
            <a:srgbClr val="18233B"/>
          </a:solidFill>
          <a:ln w="15875">
            <a:solidFill>
              <a:srgbClr val="EDA10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800" b="1">
                <a:solidFill>
                  <a:srgbClr val="F5F7FA"/>
                </a:solidFill>
                <a:latin typeface="Segoe UI"/>
              </a:rPr>
              <a:t>Risk Engine</a:t>
            </a:r>
          </a:p>
        </p:txBody>
      </p:sp>
      <p:sp>
        <p:nvSpPr>
          <p:cNvPr id="21" name="Isosceles Triangle 20"/>
          <p:cNvSpPr/>
          <p:nvPr/>
        </p:nvSpPr>
        <p:spPr>
          <a:xfrm rot="5400000">
            <a:off x="5133049" y="3387852"/>
            <a:ext cx="45720" cy="128016"/>
          </a:xfrm>
          <a:prstGeom prst="triangle">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192485" y="3063240"/>
            <a:ext cx="864761" cy="777240"/>
          </a:xfrm>
          <a:prstGeom prst="roundRect">
            <a:avLst>
              <a:gd name="adj" fmla="val 14000"/>
            </a:avLst>
          </a:prstGeom>
          <a:solidFill>
            <a:srgbClr val="18233B"/>
          </a:solidFill>
          <a:ln w="1587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800" b="1">
                <a:solidFill>
                  <a:srgbClr val="F5F7FA"/>
                </a:solidFill>
                <a:latin typeface="Segoe UI"/>
              </a:rPr>
              <a:t>Compliance</a:t>
            </a:r>
          </a:p>
        </p:txBody>
      </p:sp>
      <p:sp>
        <p:nvSpPr>
          <p:cNvPr id="23" name="Isosceles Triangle 22"/>
          <p:cNvSpPr/>
          <p:nvPr/>
        </p:nvSpPr>
        <p:spPr>
          <a:xfrm rot="5400000">
            <a:off x="6070962" y="3387852"/>
            <a:ext cx="45720" cy="128016"/>
          </a:xfrm>
          <a:prstGeom prst="triangle">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130398" y="3063240"/>
            <a:ext cx="864761" cy="777240"/>
          </a:xfrm>
          <a:prstGeom prst="roundRect">
            <a:avLst>
              <a:gd name="adj" fmla="val 14000"/>
            </a:avLst>
          </a:prstGeom>
          <a:solidFill>
            <a:srgbClr val="18233B"/>
          </a:solidFill>
          <a:ln w="15875">
            <a:solidFill>
              <a:srgbClr val="F5F7F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800" b="1">
                <a:solidFill>
                  <a:srgbClr val="F5F7FA"/>
                </a:solidFill>
                <a:latin typeface="Segoe UI"/>
              </a:rPr>
              <a:t>Reports</a:t>
            </a:r>
          </a:p>
        </p:txBody>
      </p:sp>
      <p:sp>
        <p:nvSpPr>
          <p:cNvPr id="25" name="TextBox 24"/>
          <p:cNvSpPr txBox="1"/>
          <p:nvPr/>
        </p:nvSpPr>
        <p:spPr>
          <a:xfrm>
            <a:off x="502920" y="4160520"/>
            <a:ext cx="6492240" cy="2011680"/>
          </a:xfrm>
          <a:prstGeom prst="rect">
            <a:avLst/>
          </a:prstGeom>
          <a:noFill/>
        </p:spPr>
        <p:txBody>
          <a:bodyPr wrap="square" lIns="0" rIns="0" tIns="0" bIns="0">
            <a:spAutoFit/>
          </a:bodyPr>
          <a:lstStyle/>
          <a:p>
            <a:pPr>
              <a:lnSpc>
                <a:spcPct val="105000"/>
              </a:lnSpc>
              <a:spcAft>
                <a:spcPts val="1008"/>
              </a:spcAft>
            </a:pPr>
            <a:r>
              <a:rPr sz="1250" b="1">
                <a:solidFill>
                  <a:srgbClr val="EDA100"/>
                </a:solidFill>
                <a:latin typeface="Segoe UI"/>
              </a:rPr>
              <a:t>›  </a:t>
            </a:r>
            <a:r>
              <a:rPr sz="1250" b="1">
                <a:solidFill>
                  <a:srgbClr val="F5F7FA"/>
                </a:solidFill>
                <a:latin typeface="Segoe UI"/>
              </a:rPr>
              <a:t>Single scan job, </a:t>
            </a:r>
            <a:r>
              <a:rPr sz="1250">
                <a:solidFill>
                  <a:srgbClr val="F5F7FA"/>
                </a:solidFill>
                <a:latin typeface="Segoe UI"/>
              </a:rPr>
              <a:t>9 scanners fanned out in parallel via a priority-queued Celery worker pool.</a:t>
            </a:r>
          </a:p>
          <a:p>
            <a:pPr>
              <a:lnSpc>
                <a:spcPct val="105000"/>
              </a:lnSpc>
              <a:spcAft>
                <a:spcPts val="1008"/>
              </a:spcAft>
            </a:pPr>
            <a:r>
              <a:rPr sz="1250" b="1">
                <a:solidFill>
                  <a:srgbClr val="EDA100"/>
                </a:solidFill>
                <a:latin typeface="Segoe UI"/>
              </a:rPr>
              <a:t>›  </a:t>
            </a:r>
            <a:r>
              <a:rPr sz="1250" b="1">
                <a:solidFill>
                  <a:srgbClr val="F5F7FA"/>
                </a:solidFill>
                <a:latin typeface="Segoe UI"/>
              </a:rPr>
              <a:t>Cross-tool aggregation </a:t>
            </a:r>
            <a:r>
              <a:rPr sz="1250">
                <a:solidFill>
                  <a:srgbClr val="F5F7FA"/>
                </a:solidFill>
                <a:latin typeface="Segoe UI"/>
              </a:rPr>
              <a:t>collapses overlapping findings into one deduplicated, enriched UnifiedFinding set with CWE / OWASP / MITRE ATT&amp;CK tags.</a:t>
            </a:r>
          </a:p>
          <a:p>
            <a:pPr>
              <a:lnSpc>
                <a:spcPct val="105000"/>
              </a:lnSpc>
              <a:spcAft>
                <a:spcPts val="1008"/>
              </a:spcAft>
            </a:pPr>
            <a:r>
              <a:rPr sz="1250" b="1">
                <a:solidFill>
                  <a:srgbClr val="EDA100"/>
                </a:solidFill>
                <a:latin typeface="Segoe UI"/>
              </a:rPr>
              <a:t>›  </a:t>
            </a:r>
            <a:r>
              <a:rPr sz="1250" b="1">
                <a:solidFill>
                  <a:srgbClr val="F5F7FA"/>
                </a:solidFill>
                <a:latin typeface="Segoe UI"/>
              </a:rPr>
              <a:t>Business Risk Score + Attack Surface Exposure </a:t>
            </a:r>
            <a:r>
              <a:rPr sz="1250">
                <a:solidFill>
                  <a:srgbClr val="F5F7FA"/>
                </a:solidFill>
                <a:latin typeface="Segoe UI"/>
              </a:rPr>
              <a:t>quantify what to fix first and how exposed the codebase is overall.</a:t>
            </a:r>
          </a:p>
          <a:p>
            <a:pPr>
              <a:lnSpc>
                <a:spcPct val="105000"/>
              </a:lnSpc>
              <a:spcAft>
                <a:spcPts val="1008"/>
              </a:spcAft>
            </a:pPr>
            <a:r>
              <a:rPr sz="1250" b="1">
                <a:solidFill>
                  <a:srgbClr val="EDA100"/>
                </a:solidFill>
                <a:latin typeface="Segoe UI"/>
              </a:rPr>
              <a:t>›  </a:t>
            </a:r>
            <a:r>
              <a:rPr sz="1250" b="1">
                <a:solidFill>
                  <a:srgbClr val="F5F7FA"/>
                </a:solidFill>
                <a:latin typeface="Segoe UI"/>
              </a:rPr>
              <a:t>7 report formats </a:t>
            </a:r>
            <a:r>
              <a:rPr sz="1250">
                <a:solidFill>
                  <a:srgbClr val="F5F7FA"/>
                </a:solidFill>
                <a:latin typeface="Segoe UI"/>
              </a:rPr>
              <a:t>generated per scan: Executive PDF, Technical PDF, SARIF, CycloneDX SBOM, unified JSON, compliance JSON, CSV.</a:t>
            </a:r>
          </a:p>
        </p:txBody>
      </p:sp>
      <p:sp>
        <p:nvSpPr>
          <p:cNvPr id="26" name="Rounded Rectangle 25"/>
          <p:cNvSpPr/>
          <p:nvPr/>
        </p:nvSpPr>
        <p:spPr>
          <a:xfrm>
            <a:off x="7315200" y="1874519"/>
            <a:ext cx="3867912" cy="4297680"/>
          </a:xfrm>
          <a:prstGeom prst="roundRect">
            <a:avLst>
              <a:gd name="adj" fmla="val 3500"/>
            </a:avLst>
          </a:prstGeom>
          <a:solidFill>
            <a:srgbClr val="131B2E"/>
          </a:solidFill>
          <a:ln w="12700">
            <a:solidFill>
              <a:srgbClr val="3A48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15200" y="1874519"/>
            <a:ext cx="3867912" cy="274320"/>
          </a:xfrm>
          <a:prstGeom prst="rect">
            <a:avLst/>
          </a:prstGeom>
          <a:solidFill>
            <a:srgbClr val="1E2B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438644" y="1970531"/>
            <a:ext cx="82296" cy="82296"/>
          </a:xfrm>
          <a:prstGeom prst="ellipse">
            <a:avLst/>
          </a:prstGeom>
          <a:solidFill>
            <a:srgbClr val="E349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584948" y="1970531"/>
            <a:ext cx="82296" cy="82296"/>
          </a:xfrm>
          <a:prstGeom prst="ellipse">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731252" y="1970531"/>
            <a:ext cx="82296" cy="82296"/>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63840" y="1920239"/>
            <a:ext cx="3136392" cy="201168"/>
          </a:xfrm>
          <a:prstGeom prst="rect">
            <a:avLst/>
          </a:prstGeom>
          <a:noFill/>
        </p:spPr>
        <p:txBody>
          <a:bodyPr wrap="square" anchor="t" lIns="0" rIns="0" tIns="0" bIns="0">
            <a:noAutofit/>
          </a:bodyPr>
          <a:lstStyle/>
          <a:p>
            <a:pPr algn="l">
              <a:lnSpc>
                <a:spcPct val="100000"/>
              </a:lnSpc>
              <a:spcAft>
                <a:spcPts val="0"/>
              </a:spcAft>
            </a:pPr>
            <a:r>
              <a:rPr sz="850" b="0" i="0">
                <a:solidFill>
                  <a:srgbClr val="64708A"/>
                </a:solidFill>
                <a:latin typeface="Consolas"/>
              </a:rPr>
              <a:t>/  (OverviewPage.tsx)</a:t>
            </a:r>
          </a:p>
        </p:txBody>
      </p:sp>
      <p:sp>
        <p:nvSpPr>
          <p:cNvPr id="32" name="Rounded Rectangle 31"/>
          <p:cNvSpPr/>
          <p:nvPr/>
        </p:nvSpPr>
        <p:spPr>
          <a:xfrm>
            <a:off x="7461504" y="2276855"/>
            <a:ext cx="3575304" cy="3749040"/>
          </a:xfrm>
          <a:prstGeom prst="roundRect">
            <a:avLst>
              <a:gd name="adj" fmla="val 4000"/>
            </a:avLst>
          </a:prstGeom>
          <a:noFill/>
          <a:ln w="12700">
            <a:solidFill>
              <a:srgbClr val="6470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9AA7BD"/>
                </a:solidFill>
                <a:latin typeface="Segoe UI"/>
              </a:rPr>
              <a:t>▣  SCREENSHOT PLACEHOLDER</a:t>
            </a:r>
          </a:p>
          <a:p>
            <a:pPr algn="ctr">
              <a:spcBef>
                <a:spcPts val="600"/>
              </a:spcBef>
            </a:pPr>
            <a:r>
              <a:rPr sz="1050">
                <a:solidFill>
                  <a:srgbClr val="FFC64B"/>
                </a:solidFill>
                <a:latin typeface="Segoe UI"/>
              </a:rPr>
              <a:t>Dashboard Overview</a:t>
            </a:r>
          </a:p>
          <a:p>
            <a:pPr algn="ctr">
              <a:spcBef>
                <a:spcPts val="400"/>
              </a:spcBef>
            </a:pPr>
            <a:r>
              <a:rPr sz="850" i="1">
                <a:solidFill>
                  <a:srgbClr val="64708A"/>
                </a:solidFill>
                <a:latin typeface="Segoe UI"/>
              </a:rPr>
              <a:t>Repo/scan stat tiles, BRS trend, system pillars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362895" y="-3291840"/>
            <a:ext cx="5852160" cy="5852160"/>
          </a:xfrm>
          <a:prstGeom prst="ellipse">
            <a:avLst/>
          </a:prstGeom>
          <a:noFill/>
          <a:ln w="13970">
            <a:solidFill>
              <a:srgbClr val="EDA100">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502920" y="6473952"/>
            <a:ext cx="11185855" cy="0"/>
          </a:xfrm>
          <a:prstGeom prst="line">
            <a:avLst/>
          </a:prstGeom>
          <a:ln w="9525">
            <a:solidFill>
              <a:srgbClr val="2A3654"/>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28816"/>
            <a:ext cx="4572000" cy="274320"/>
          </a:xfrm>
          <a:prstGeom prst="rect">
            <a:avLst/>
          </a:prstGeom>
          <a:noFill/>
        </p:spPr>
        <p:txBody>
          <a:bodyPr wrap="square" anchor="t" lIns="0" rIns="0" tIns="0" bIns="0">
            <a:noAutofit/>
          </a:bodyPr>
          <a:lstStyle/>
          <a:p>
            <a:pPr algn="l">
              <a:lnSpc>
                <a:spcPct val="100000"/>
              </a:lnSpc>
              <a:spcAft>
                <a:spcPts val="0"/>
              </a:spcAft>
            </a:pPr>
            <a:r>
              <a:rPr sz="900" b="0" i="0">
                <a:solidFill>
                  <a:srgbClr val="64708A"/>
                </a:solidFill>
                <a:latin typeface="Segoe UI"/>
              </a:rPr>
              <a:t>KAVACH  ·  PSB Hackathon 2026</a:t>
            </a:r>
          </a:p>
        </p:txBody>
      </p:sp>
      <p:sp>
        <p:nvSpPr>
          <p:cNvPr id="6" name="TextBox 5"/>
          <p:cNvSpPr txBox="1"/>
          <p:nvPr/>
        </p:nvSpPr>
        <p:spPr>
          <a:xfrm>
            <a:off x="4480560" y="6528816"/>
            <a:ext cx="4572000" cy="274320"/>
          </a:xfrm>
          <a:prstGeom prst="rect">
            <a:avLst/>
          </a:prstGeom>
          <a:noFill/>
        </p:spPr>
        <p:txBody>
          <a:bodyPr wrap="square" anchor="t" lIns="0" rIns="0" tIns="0" bIns="0">
            <a:noAutofit/>
          </a:bodyPr>
          <a:lstStyle/>
          <a:p>
            <a:pPr algn="ctr">
              <a:lnSpc>
                <a:spcPct val="100000"/>
              </a:lnSpc>
              <a:spcAft>
                <a:spcPts val="0"/>
              </a:spcAft>
            </a:pPr>
            <a:r>
              <a:rPr sz="900" b="0" i="0">
                <a:solidFill>
                  <a:srgbClr val="64708A"/>
                </a:solidFill>
                <a:latin typeface="Segoe UI"/>
              </a:rPr>
              <a:t>COMPETITIVE LANDSCAPE</a:t>
            </a:r>
          </a:p>
        </p:txBody>
      </p:sp>
      <p:sp>
        <p:nvSpPr>
          <p:cNvPr id="7" name="TextBox 6"/>
          <p:cNvSpPr txBox="1"/>
          <p:nvPr/>
        </p:nvSpPr>
        <p:spPr>
          <a:xfrm>
            <a:off x="10820095" y="6528816"/>
            <a:ext cx="914400" cy="274320"/>
          </a:xfrm>
          <a:prstGeom prst="rect">
            <a:avLst/>
          </a:prstGeom>
          <a:noFill/>
        </p:spPr>
        <p:txBody>
          <a:bodyPr wrap="square" anchor="t" lIns="0" rIns="0" tIns="0" bIns="0">
            <a:noAutofit/>
          </a:bodyPr>
          <a:lstStyle/>
          <a:p>
            <a:pPr algn="r">
              <a:lnSpc>
                <a:spcPct val="100000"/>
              </a:lnSpc>
              <a:spcAft>
                <a:spcPts val="0"/>
              </a:spcAft>
            </a:pPr>
            <a:r>
              <a:rPr sz="900" b="0" i="0">
                <a:solidFill>
                  <a:srgbClr val="64708A"/>
                </a:solidFill>
                <a:latin typeface="Segoe UI"/>
              </a:rPr>
              <a:t>06 / 22</a:t>
            </a:r>
          </a:p>
        </p:txBody>
      </p:sp>
      <p:sp>
        <p:nvSpPr>
          <p:cNvPr id="8" name="TextBox 7"/>
          <p:cNvSpPr txBox="1"/>
          <p:nvPr/>
        </p:nvSpPr>
        <p:spPr>
          <a:xfrm>
            <a:off x="502920" y="457200"/>
            <a:ext cx="9601200" cy="292608"/>
          </a:xfrm>
          <a:prstGeom prst="rect">
            <a:avLst/>
          </a:prstGeom>
          <a:noFill/>
        </p:spPr>
        <p:txBody>
          <a:bodyPr wrap="square" anchor="t" lIns="0" rIns="0" tIns="0" bIns="0">
            <a:noAutofit/>
          </a:bodyPr>
          <a:lstStyle/>
          <a:p>
            <a:pPr algn="l">
              <a:lnSpc>
                <a:spcPct val="100000"/>
              </a:lnSpc>
              <a:spcAft>
                <a:spcPts val="0"/>
              </a:spcAft>
            </a:pPr>
            <a:r>
              <a:rPr sz="1250" b="1" i="0" spc="160">
                <a:solidFill>
                  <a:srgbClr val="EDA100"/>
                </a:solidFill>
                <a:latin typeface="Segoe UI"/>
              </a:rPr>
              <a:t>COMPETITIVE LANDSCAPE</a:t>
            </a:r>
          </a:p>
        </p:txBody>
      </p:sp>
      <p:sp>
        <p:nvSpPr>
          <p:cNvPr id="9" name="TextBox 8"/>
          <p:cNvSpPr txBox="1"/>
          <p:nvPr/>
        </p:nvSpPr>
        <p:spPr>
          <a:xfrm>
            <a:off x="502920" y="768096"/>
            <a:ext cx="10789920" cy="566928"/>
          </a:xfrm>
          <a:prstGeom prst="rect">
            <a:avLst/>
          </a:prstGeom>
          <a:noFill/>
        </p:spPr>
        <p:txBody>
          <a:bodyPr wrap="square" anchor="t" lIns="0" rIns="0" tIns="0" bIns="0">
            <a:noAutofit/>
          </a:bodyPr>
          <a:lstStyle/>
          <a:p>
            <a:pPr algn="l">
              <a:lnSpc>
                <a:spcPct val="102000"/>
              </a:lnSpc>
              <a:spcAft>
                <a:spcPts val="0"/>
              </a:spcAft>
            </a:pPr>
            <a:r>
              <a:rPr sz="2800" b="1" i="0">
                <a:solidFill>
                  <a:srgbClr val="F5F7FA"/>
                </a:solidFill>
                <a:latin typeface="Segoe UI"/>
              </a:rPr>
              <a:t>Why Existing Tools Fall Short For Banking</a:t>
            </a:r>
          </a:p>
        </p:txBody>
      </p:sp>
      <p:cxnSp>
        <p:nvCxnSpPr>
          <p:cNvPr id="10" name="Connector 9"/>
          <p:cNvCxnSpPr/>
          <p:nvPr/>
        </p:nvCxnSpPr>
        <p:spPr>
          <a:xfrm>
            <a:off x="502920" y="1399032"/>
            <a:ext cx="960120" cy="0"/>
          </a:xfrm>
          <a:prstGeom prst="line">
            <a:avLst/>
          </a:prstGeom>
          <a:ln w="28575">
            <a:solidFill>
              <a:srgbClr val="EDA100"/>
            </a:solidFill>
          </a:ln>
          <a:effectLst/>
        </p:spPr>
        <p:style>
          <a:lnRef idx="2">
            <a:schemeClr val="accent1"/>
          </a:lnRef>
          <a:fillRef idx="0">
            <a:schemeClr val="accent1"/>
          </a:fillRef>
          <a:effectRef idx="1">
            <a:schemeClr val="accent1"/>
          </a:effectRef>
          <a:fontRef idx="minor">
            <a:schemeClr val="tx1"/>
          </a:fontRef>
        </p:style>
      </p:cxnSp>
      <p:graphicFrame>
        <p:nvGraphicFramePr>
          <p:cNvPr id="11" name="Table 10"/>
          <p:cNvGraphicFramePr>
            <a:graphicFrameLocks noGrp="1"/>
          </p:cNvGraphicFramePr>
          <p:nvPr/>
        </p:nvGraphicFramePr>
        <p:xfrm>
          <a:off x="502920" y="1874519"/>
          <a:ext cx="11183112" cy="3371850"/>
        </p:xfrm>
        <a:graphic>
          <a:graphicData uri="http://schemas.openxmlformats.org/drawingml/2006/table">
            <a:tbl>
              <a:tblPr firstRow="0" bandRow="0"/>
              <a:tblGrid>
                <a:gridCol w="2788920"/>
                <a:gridCol w="1216152"/>
                <a:gridCol w="1024128"/>
                <a:gridCol w="1453896"/>
                <a:gridCol w="1316736"/>
                <a:gridCol w="1261872"/>
                <a:gridCol w="2121408"/>
              </a:tblGrid>
              <a:tr h="514350">
                <a:tc>
                  <a:txBody>
                    <a:bodyPr wrap="square"/>
                    <a:lstStyle/>
                    <a:p>
                      <a:pPr algn="l"/>
                      <a:r>
                        <a:rPr sz="1150" b="1">
                          <a:solidFill>
                            <a:srgbClr val="EDA100"/>
                          </a:solidFill>
                          <a:latin typeface="Segoe UI"/>
                        </a:rPr>
                        <a:t>Capability</a:t>
                      </a:r>
                    </a:p>
                  </a:txBody>
                  <a:tcPr marL="101600" marR="101600" marT="50800" marB="50800" anchor="ctr">
                    <a:solidFill>
                      <a:srgbClr val="1E2B47"/>
                    </a:solidFill>
                  </a:tcPr>
                </a:tc>
                <a:tc>
                  <a:txBody>
                    <a:bodyPr wrap="square"/>
                    <a:lstStyle/>
                    <a:p>
                      <a:pPr algn="ctr"/>
                      <a:r>
                        <a:rPr sz="1150" b="1">
                          <a:solidFill>
                            <a:srgbClr val="EDA100"/>
                          </a:solidFill>
                          <a:latin typeface="Segoe UI"/>
                        </a:rPr>
                        <a:t>SonarQube</a:t>
                      </a:r>
                    </a:p>
                  </a:txBody>
                  <a:tcPr marL="101600" marR="101600" marT="50800" marB="50800" anchor="ctr">
                    <a:solidFill>
                      <a:srgbClr val="1E2B47"/>
                    </a:solidFill>
                  </a:tcPr>
                </a:tc>
                <a:tc>
                  <a:txBody>
                    <a:bodyPr wrap="square"/>
                    <a:lstStyle/>
                    <a:p>
                      <a:pPr algn="ctr"/>
                      <a:r>
                        <a:rPr sz="1150" b="1">
                          <a:solidFill>
                            <a:srgbClr val="EDA100"/>
                          </a:solidFill>
                          <a:latin typeface="Segoe UI"/>
                        </a:rPr>
                        <a:t>Snyk</a:t>
                      </a:r>
                    </a:p>
                  </a:txBody>
                  <a:tcPr marL="101600" marR="101600" marT="50800" marB="50800" anchor="ctr">
                    <a:solidFill>
                      <a:srgbClr val="1E2B47"/>
                    </a:solidFill>
                  </a:tcPr>
                </a:tc>
                <a:tc>
                  <a:txBody>
                    <a:bodyPr wrap="square"/>
                    <a:lstStyle/>
                    <a:p>
                      <a:pPr algn="ctr"/>
                      <a:r>
                        <a:rPr sz="1150" b="1">
                          <a:solidFill>
                            <a:srgbClr val="EDA100"/>
                          </a:solidFill>
                          <a:latin typeface="Segoe UI"/>
                        </a:rPr>
                        <a:t>GitHub Adv. Security</a:t>
                      </a:r>
                    </a:p>
                  </a:txBody>
                  <a:tcPr marL="101600" marR="101600" marT="50800" marB="50800" anchor="ctr">
                    <a:solidFill>
                      <a:srgbClr val="1E2B47"/>
                    </a:solidFill>
                  </a:tcPr>
                </a:tc>
                <a:tc>
                  <a:txBody>
                    <a:bodyPr wrap="square"/>
                    <a:lstStyle/>
                    <a:p>
                      <a:pPr algn="ctr"/>
                      <a:r>
                        <a:rPr sz="1150" b="1">
                          <a:solidFill>
                            <a:srgbClr val="EDA100"/>
                          </a:solidFill>
                          <a:latin typeface="Segoe UI"/>
                        </a:rPr>
                        <a:t>OWASP Dep-Check</a:t>
                      </a:r>
                    </a:p>
                  </a:txBody>
                  <a:tcPr marL="101600" marR="101600" marT="50800" marB="50800" anchor="ctr">
                    <a:solidFill>
                      <a:srgbClr val="1E2B47"/>
                    </a:solidFill>
                  </a:tcPr>
                </a:tc>
                <a:tc>
                  <a:txBody>
                    <a:bodyPr wrap="square"/>
                    <a:lstStyle/>
                    <a:p>
                      <a:pPr algn="ctr"/>
                      <a:r>
                        <a:rPr sz="1150" b="1">
                          <a:solidFill>
                            <a:srgbClr val="EDA100"/>
                          </a:solidFill>
                          <a:latin typeface="Segoe UI"/>
                        </a:rPr>
                        <a:t>Semgrep (OSS)</a:t>
                      </a:r>
                    </a:p>
                  </a:txBody>
                  <a:tcPr marL="101600" marR="101600" marT="50800" marB="50800" anchor="ctr">
                    <a:solidFill>
                      <a:srgbClr val="1E2B47"/>
                    </a:solidFill>
                  </a:tcPr>
                </a:tc>
                <a:tc>
                  <a:txBody>
                    <a:bodyPr wrap="square"/>
                    <a:lstStyle/>
                    <a:p>
                      <a:pPr algn="ctr"/>
                      <a:r>
                        <a:rPr sz="1150" b="1">
                          <a:solidFill>
                            <a:srgbClr val="EDA100"/>
                          </a:solidFill>
                          <a:latin typeface="Segoe UI"/>
                        </a:rPr>
                        <a:t>KAVACH</a:t>
                      </a:r>
                    </a:p>
                  </a:txBody>
                  <a:tcPr marL="101600" marR="101600" marT="50800" marB="50800" anchor="ctr">
                    <a:solidFill>
                      <a:srgbClr val="1E2B47"/>
                    </a:solidFill>
                  </a:tcPr>
                </a:tc>
              </a:tr>
              <a:tr h="571500">
                <a:tc>
                  <a:txBody>
                    <a:bodyPr wrap="square"/>
                    <a:lstStyle/>
                    <a:p>
                      <a:pPr algn="l"/>
                      <a:r>
                        <a:rPr sz="1050" b="1">
                          <a:solidFill>
                            <a:srgbClr val="F5F7FA"/>
                          </a:solidFill>
                          <a:latin typeface="Segoe UI"/>
                        </a:rPr>
                        <a:t>Static + dependency + config + secrets, one pipeline</a:t>
                      </a:r>
                    </a:p>
                  </a:txBody>
                  <a:tcPr marL="101600" marR="101600" marT="38100" marB="38100" anchor="ctr">
                    <a:solidFill>
                      <a:srgbClr val="131B2E"/>
                    </a:solidFill>
                  </a:tcPr>
                </a:tc>
                <a:tc>
                  <a:txBody>
                    <a:bodyPr wrap="square"/>
                    <a:lstStyle/>
                    <a:p>
                      <a:pPr algn="ctr"/>
                      <a:r>
                        <a:rPr sz="1050" b="0">
                          <a:solidFill>
                            <a:srgbClr val="9AA7BD"/>
                          </a:solidFill>
                          <a:latin typeface="Segoe UI"/>
                        </a:rPr>
                        <a:t>Partial</a:t>
                      </a:r>
                    </a:p>
                  </a:txBody>
                  <a:tcPr marL="101600" marR="101600" marT="38100" marB="38100" anchor="ctr">
                    <a:solidFill>
                      <a:srgbClr val="131B2E"/>
                    </a:solidFill>
                  </a:tcPr>
                </a:tc>
                <a:tc>
                  <a:txBody>
                    <a:bodyPr wrap="square"/>
                    <a:lstStyle/>
                    <a:p>
                      <a:pPr algn="ctr"/>
                      <a:r>
                        <a:rPr sz="1050" b="0">
                          <a:solidFill>
                            <a:srgbClr val="9AA7BD"/>
                          </a:solidFill>
                          <a:latin typeface="Segoe UI"/>
                        </a:rPr>
                        <a:t>Partial</a:t>
                      </a:r>
                    </a:p>
                  </a:txBody>
                  <a:tcPr marL="101600" marR="101600" marT="38100" marB="38100" anchor="ctr">
                    <a:solidFill>
                      <a:srgbClr val="131B2E"/>
                    </a:solidFill>
                  </a:tcPr>
                </a:tc>
                <a:tc>
                  <a:txBody>
                    <a:bodyPr wrap="square"/>
                    <a:lstStyle/>
                    <a:p>
                      <a:pPr algn="ctr"/>
                      <a:r>
                        <a:rPr sz="1050" b="0">
                          <a:solidFill>
                            <a:srgbClr val="9AA7BD"/>
                          </a:solidFill>
                          <a:latin typeface="Segoe UI"/>
                        </a:rPr>
                        <a:t>Partial</a:t>
                      </a:r>
                    </a:p>
                  </a:txBody>
                  <a:tcPr marL="101600" marR="101600" marT="38100" marB="38100" anchor="ctr">
                    <a:solidFill>
                      <a:srgbClr val="131B2E"/>
                    </a:solidFill>
                  </a:tcPr>
                </a:tc>
                <a:tc>
                  <a:txBody>
                    <a:bodyPr wrap="square"/>
                    <a:lstStyle/>
                    <a:p>
                      <a:pPr algn="ctr"/>
                      <a:r>
                        <a:rPr sz="1050" b="0">
                          <a:solidFill>
                            <a:srgbClr val="9AA7BD"/>
                          </a:solidFill>
                          <a:latin typeface="Segoe UI"/>
                        </a:rPr>
                        <a:t>Dep. only</a:t>
                      </a:r>
                    </a:p>
                  </a:txBody>
                  <a:tcPr marL="101600" marR="101600" marT="38100" marB="38100" anchor="ctr">
                    <a:solidFill>
                      <a:srgbClr val="131B2E"/>
                    </a:solidFill>
                  </a:tcPr>
                </a:tc>
                <a:tc>
                  <a:txBody>
                    <a:bodyPr wrap="square"/>
                    <a:lstStyle/>
                    <a:p>
                      <a:pPr algn="ctr"/>
                      <a:r>
                        <a:rPr sz="1050" b="0">
                          <a:solidFill>
                            <a:srgbClr val="9AA7BD"/>
                          </a:solidFill>
                          <a:latin typeface="Segoe UI"/>
                        </a:rPr>
                        <a:t>Code only</a:t>
                      </a:r>
                    </a:p>
                  </a:txBody>
                  <a:tcPr marL="101600" marR="101600" marT="38100" marB="38100" anchor="ctr">
                    <a:solidFill>
                      <a:srgbClr val="131B2E"/>
                    </a:solidFill>
                  </a:tcPr>
                </a:tc>
                <a:tc>
                  <a:txBody>
                    <a:bodyPr wrap="square"/>
                    <a:lstStyle/>
                    <a:p>
                      <a:pPr algn="ctr"/>
                      <a:r>
                        <a:rPr sz="1050" b="1">
                          <a:solidFill>
                            <a:srgbClr val="FFC64B"/>
                          </a:solidFill>
                          <a:latin typeface="Segoe UI"/>
                        </a:rPr>
                        <a:t>Yes -- 9 tools, one scan</a:t>
                      </a:r>
                    </a:p>
                  </a:txBody>
                  <a:tcPr marL="101600" marR="101600" marT="38100" marB="38100" anchor="ctr">
                    <a:solidFill>
                      <a:srgbClr val="1E2B47"/>
                    </a:solidFill>
                  </a:tcPr>
                </a:tc>
              </a:tr>
              <a:tr h="571500">
                <a:tc>
                  <a:txBody>
                    <a:bodyPr wrap="square"/>
                    <a:lstStyle/>
                    <a:p>
                      <a:pPr algn="l"/>
                      <a:r>
                        <a:rPr sz="1050" b="1">
                          <a:solidFill>
                            <a:srgbClr val="F5F7FA"/>
                          </a:solidFill>
                          <a:latin typeface="Segoe UI"/>
                        </a:rPr>
                        <a:t>Business-aware risk score (not flat CVSS)</a:t>
                      </a:r>
                    </a:p>
                  </a:txBody>
                  <a:tcPr marL="101600" marR="101600" marT="38100" marB="38100" anchor="ctr">
                    <a:solidFill>
                      <a:srgbClr val="0D1220"/>
                    </a:solidFill>
                  </a:tcPr>
                </a:tc>
                <a:tc>
                  <a:txBody>
                    <a:bodyPr wrap="square"/>
                    <a:lstStyle/>
                    <a:p>
                      <a:pPr algn="ctr"/>
                      <a:r>
                        <a:rPr sz="1050" b="0">
                          <a:solidFill>
                            <a:srgbClr val="9AA7BD"/>
                          </a:solidFill>
                          <a:latin typeface="Segoe UI"/>
                        </a:rPr>
                        <a:t>No</a:t>
                      </a:r>
                    </a:p>
                  </a:txBody>
                  <a:tcPr marL="101600" marR="101600" marT="38100" marB="38100" anchor="ctr">
                    <a:solidFill>
                      <a:srgbClr val="0D1220"/>
                    </a:solidFill>
                  </a:tcPr>
                </a:tc>
                <a:tc>
                  <a:txBody>
                    <a:bodyPr wrap="square"/>
                    <a:lstStyle/>
                    <a:p>
                      <a:pPr algn="ctr"/>
                      <a:r>
                        <a:rPr sz="1050" b="0">
                          <a:solidFill>
                            <a:srgbClr val="9AA7BD"/>
                          </a:solidFill>
                          <a:latin typeface="Segoe UI"/>
                        </a:rPr>
                        <a:t>No</a:t>
                      </a:r>
                    </a:p>
                  </a:txBody>
                  <a:tcPr marL="101600" marR="101600" marT="38100" marB="38100" anchor="ctr">
                    <a:solidFill>
                      <a:srgbClr val="0D1220"/>
                    </a:solidFill>
                  </a:tcPr>
                </a:tc>
                <a:tc>
                  <a:txBody>
                    <a:bodyPr wrap="square"/>
                    <a:lstStyle/>
                    <a:p>
                      <a:pPr algn="ctr"/>
                      <a:r>
                        <a:rPr sz="1050" b="0">
                          <a:solidFill>
                            <a:srgbClr val="9AA7BD"/>
                          </a:solidFill>
                          <a:latin typeface="Segoe UI"/>
                        </a:rPr>
                        <a:t>No</a:t>
                      </a:r>
                    </a:p>
                  </a:txBody>
                  <a:tcPr marL="101600" marR="101600" marT="38100" marB="38100" anchor="ctr">
                    <a:solidFill>
                      <a:srgbClr val="0D1220"/>
                    </a:solidFill>
                  </a:tcPr>
                </a:tc>
                <a:tc>
                  <a:txBody>
                    <a:bodyPr wrap="square"/>
                    <a:lstStyle/>
                    <a:p>
                      <a:pPr algn="ctr"/>
                      <a:r>
                        <a:rPr sz="1050" b="0">
                          <a:solidFill>
                            <a:srgbClr val="9AA7BD"/>
                          </a:solidFill>
                          <a:latin typeface="Segoe UI"/>
                        </a:rPr>
                        <a:t>No</a:t>
                      </a:r>
                    </a:p>
                  </a:txBody>
                  <a:tcPr marL="101600" marR="101600" marT="38100" marB="38100" anchor="ctr">
                    <a:solidFill>
                      <a:srgbClr val="0D1220"/>
                    </a:solidFill>
                  </a:tcPr>
                </a:tc>
                <a:tc>
                  <a:txBody>
                    <a:bodyPr wrap="square"/>
                    <a:lstStyle/>
                    <a:p>
                      <a:pPr algn="ctr"/>
                      <a:r>
                        <a:rPr sz="1050" b="0">
                          <a:solidFill>
                            <a:srgbClr val="9AA7BD"/>
                          </a:solidFill>
                          <a:latin typeface="Segoe UI"/>
                        </a:rPr>
                        <a:t>No</a:t>
                      </a:r>
                    </a:p>
                  </a:txBody>
                  <a:tcPr marL="101600" marR="101600" marT="38100" marB="38100" anchor="ctr">
                    <a:solidFill>
                      <a:srgbClr val="0D1220"/>
                    </a:solidFill>
                  </a:tcPr>
                </a:tc>
                <a:tc>
                  <a:txBody>
                    <a:bodyPr wrap="square"/>
                    <a:lstStyle/>
                    <a:p>
                      <a:pPr algn="ctr"/>
                      <a:r>
                        <a:rPr sz="1050" b="1">
                          <a:solidFill>
                            <a:srgbClr val="FFC64B"/>
                          </a:solidFill>
                          <a:latin typeface="Segoe UI"/>
                        </a:rPr>
                        <a:t>Banking Risk Score, 7 factors</a:t>
                      </a:r>
                    </a:p>
                  </a:txBody>
                  <a:tcPr marL="101600" marR="101600" marT="38100" marB="38100" anchor="ctr">
                    <a:solidFill>
                      <a:srgbClr val="1E2B47"/>
                    </a:solidFill>
                  </a:tcPr>
                </a:tc>
              </a:tr>
              <a:tr h="571500">
                <a:tc>
                  <a:txBody>
                    <a:bodyPr wrap="square"/>
                    <a:lstStyle/>
                    <a:p>
                      <a:pPr algn="l"/>
                      <a:r>
                        <a:rPr sz="1050" b="1">
                          <a:solidFill>
                            <a:srgbClr val="F5F7FA"/>
                          </a:solidFill>
                          <a:latin typeface="Segoe UI"/>
                        </a:rPr>
                        <a:t>RBI / PCI DSS / SWIFT CSP clause mapping</a:t>
                      </a:r>
                    </a:p>
                  </a:txBody>
                  <a:tcPr marL="101600" marR="101600" marT="38100" marB="38100" anchor="ctr">
                    <a:solidFill>
                      <a:srgbClr val="131B2E"/>
                    </a:solidFill>
                  </a:tcPr>
                </a:tc>
                <a:tc>
                  <a:txBody>
                    <a:bodyPr wrap="square"/>
                    <a:lstStyle/>
                    <a:p>
                      <a:pPr algn="ctr"/>
                      <a:r>
                        <a:rPr sz="1050" b="0">
                          <a:solidFill>
                            <a:srgbClr val="9AA7BD"/>
                          </a:solidFill>
                          <a:latin typeface="Segoe UI"/>
                        </a:rPr>
                        <a:t>No</a:t>
                      </a:r>
                    </a:p>
                  </a:txBody>
                  <a:tcPr marL="101600" marR="101600" marT="38100" marB="38100" anchor="ctr">
                    <a:solidFill>
                      <a:srgbClr val="131B2E"/>
                    </a:solidFill>
                  </a:tcPr>
                </a:tc>
                <a:tc>
                  <a:txBody>
                    <a:bodyPr wrap="square"/>
                    <a:lstStyle/>
                    <a:p>
                      <a:pPr algn="ctr"/>
                      <a:r>
                        <a:rPr sz="1050" b="0">
                          <a:solidFill>
                            <a:srgbClr val="9AA7BD"/>
                          </a:solidFill>
                          <a:latin typeface="Segoe UI"/>
                        </a:rPr>
                        <a:t>No</a:t>
                      </a:r>
                    </a:p>
                  </a:txBody>
                  <a:tcPr marL="101600" marR="101600" marT="38100" marB="38100" anchor="ctr">
                    <a:solidFill>
                      <a:srgbClr val="131B2E"/>
                    </a:solidFill>
                  </a:tcPr>
                </a:tc>
                <a:tc>
                  <a:txBody>
                    <a:bodyPr wrap="square"/>
                    <a:lstStyle/>
                    <a:p>
                      <a:pPr algn="ctr"/>
                      <a:r>
                        <a:rPr sz="1050" b="0">
                          <a:solidFill>
                            <a:srgbClr val="9AA7BD"/>
                          </a:solidFill>
                          <a:latin typeface="Segoe UI"/>
                        </a:rPr>
                        <a:t>No</a:t>
                      </a:r>
                    </a:p>
                  </a:txBody>
                  <a:tcPr marL="101600" marR="101600" marT="38100" marB="38100" anchor="ctr">
                    <a:solidFill>
                      <a:srgbClr val="131B2E"/>
                    </a:solidFill>
                  </a:tcPr>
                </a:tc>
                <a:tc>
                  <a:txBody>
                    <a:bodyPr wrap="square"/>
                    <a:lstStyle/>
                    <a:p>
                      <a:pPr algn="ctr"/>
                      <a:r>
                        <a:rPr sz="1050" b="0">
                          <a:solidFill>
                            <a:srgbClr val="9AA7BD"/>
                          </a:solidFill>
                          <a:latin typeface="Segoe UI"/>
                        </a:rPr>
                        <a:t>No</a:t>
                      </a:r>
                    </a:p>
                  </a:txBody>
                  <a:tcPr marL="101600" marR="101600" marT="38100" marB="38100" anchor="ctr">
                    <a:solidFill>
                      <a:srgbClr val="131B2E"/>
                    </a:solidFill>
                  </a:tcPr>
                </a:tc>
                <a:tc>
                  <a:txBody>
                    <a:bodyPr wrap="square"/>
                    <a:lstStyle/>
                    <a:p>
                      <a:pPr algn="ctr"/>
                      <a:r>
                        <a:rPr sz="1050" b="0">
                          <a:solidFill>
                            <a:srgbClr val="9AA7BD"/>
                          </a:solidFill>
                          <a:latin typeface="Segoe UI"/>
                        </a:rPr>
                        <a:t>No</a:t>
                      </a:r>
                    </a:p>
                  </a:txBody>
                  <a:tcPr marL="101600" marR="101600" marT="38100" marB="38100" anchor="ctr">
                    <a:solidFill>
                      <a:srgbClr val="131B2E"/>
                    </a:solidFill>
                  </a:tcPr>
                </a:tc>
                <a:tc>
                  <a:txBody>
                    <a:bodyPr wrap="square"/>
                    <a:lstStyle/>
                    <a:p>
                      <a:pPr algn="ctr"/>
                      <a:r>
                        <a:rPr sz="1050" b="1">
                          <a:solidFill>
                            <a:srgbClr val="FFC64B"/>
                          </a:solidFill>
                          <a:latin typeface="Segoe UI"/>
                        </a:rPr>
                        <a:t>Yes -- YAML-driven, live</a:t>
                      </a:r>
                    </a:p>
                  </a:txBody>
                  <a:tcPr marL="101600" marR="101600" marT="38100" marB="38100" anchor="ctr">
                    <a:solidFill>
                      <a:srgbClr val="1E2B47"/>
                    </a:solidFill>
                  </a:tcPr>
                </a:tc>
              </a:tr>
              <a:tr h="571500">
                <a:tc>
                  <a:txBody>
                    <a:bodyPr wrap="square"/>
                    <a:lstStyle/>
                    <a:p>
                      <a:pPr algn="l"/>
                      <a:r>
                        <a:rPr sz="1050" b="1">
                          <a:solidFill>
                            <a:srgbClr val="F5F7FA"/>
                          </a:solidFill>
                          <a:latin typeface="Segoe UI"/>
                        </a:rPr>
                        <a:t>Cross-tool dedup &amp; correlation</a:t>
                      </a:r>
                    </a:p>
                  </a:txBody>
                  <a:tcPr marL="101600" marR="101600" marT="38100" marB="38100" anchor="ctr">
                    <a:solidFill>
                      <a:srgbClr val="0D1220"/>
                    </a:solidFill>
                  </a:tcPr>
                </a:tc>
                <a:tc>
                  <a:txBody>
                    <a:bodyPr wrap="square"/>
                    <a:lstStyle/>
                    <a:p>
                      <a:pPr algn="ctr"/>
                      <a:r>
                        <a:rPr sz="1050" b="0">
                          <a:solidFill>
                            <a:srgbClr val="9AA7BD"/>
                          </a:solidFill>
                          <a:latin typeface="Segoe UI"/>
                        </a:rPr>
                        <a:t>N/A</a:t>
                      </a:r>
                    </a:p>
                  </a:txBody>
                  <a:tcPr marL="101600" marR="101600" marT="38100" marB="38100" anchor="ctr">
                    <a:solidFill>
                      <a:srgbClr val="0D1220"/>
                    </a:solidFill>
                  </a:tcPr>
                </a:tc>
                <a:tc>
                  <a:txBody>
                    <a:bodyPr wrap="square"/>
                    <a:lstStyle/>
                    <a:p>
                      <a:pPr algn="ctr"/>
                      <a:r>
                        <a:rPr sz="1050" b="0">
                          <a:solidFill>
                            <a:srgbClr val="9AA7BD"/>
                          </a:solidFill>
                          <a:latin typeface="Segoe UI"/>
                        </a:rPr>
                        <a:t>N/A</a:t>
                      </a:r>
                    </a:p>
                  </a:txBody>
                  <a:tcPr marL="101600" marR="101600" marT="38100" marB="38100" anchor="ctr">
                    <a:solidFill>
                      <a:srgbClr val="0D1220"/>
                    </a:solidFill>
                  </a:tcPr>
                </a:tc>
                <a:tc>
                  <a:txBody>
                    <a:bodyPr wrap="square"/>
                    <a:lstStyle/>
                    <a:p>
                      <a:pPr algn="ctr"/>
                      <a:r>
                        <a:rPr sz="1050" b="0">
                          <a:solidFill>
                            <a:srgbClr val="9AA7BD"/>
                          </a:solidFill>
                          <a:latin typeface="Segoe UI"/>
                        </a:rPr>
                        <a:t>N/A</a:t>
                      </a:r>
                    </a:p>
                  </a:txBody>
                  <a:tcPr marL="101600" marR="101600" marT="38100" marB="38100" anchor="ctr">
                    <a:solidFill>
                      <a:srgbClr val="0D1220"/>
                    </a:solidFill>
                  </a:tcPr>
                </a:tc>
                <a:tc>
                  <a:txBody>
                    <a:bodyPr wrap="square"/>
                    <a:lstStyle/>
                    <a:p>
                      <a:pPr algn="ctr"/>
                      <a:r>
                        <a:rPr sz="1050" b="0">
                          <a:solidFill>
                            <a:srgbClr val="9AA7BD"/>
                          </a:solidFill>
                          <a:latin typeface="Segoe UI"/>
                        </a:rPr>
                        <a:t>N/A</a:t>
                      </a:r>
                    </a:p>
                  </a:txBody>
                  <a:tcPr marL="101600" marR="101600" marT="38100" marB="38100" anchor="ctr">
                    <a:solidFill>
                      <a:srgbClr val="0D1220"/>
                    </a:solidFill>
                  </a:tcPr>
                </a:tc>
                <a:tc>
                  <a:txBody>
                    <a:bodyPr wrap="square"/>
                    <a:lstStyle/>
                    <a:p>
                      <a:pPr algn="ctr"/>
                      <a:r>
                        <a:rPr sz="1050" b="0">
                          <a:solidFill>
                            <a:srgbClr val="9AA7BD"/>
                          </a:solidFill>
                          <a:latin typeface="Segoe UI"/>
                        </a:rPr>
                        <a:t>N/A</a:t>
                      </a:r>
                    </a:p>
                  </a:txBody>
                  <a:tcPr marL="101600" marR="101600" marT="38100" marB="38100" anchor="ctr">
                    <a:solidFill>
                      <a:srgbClr val="0D1220"/>
                    </a:solidFill>
                  </a:tcPr>
                </a:tc>
                <a:tc>
                  <a:txBody>
                    <a:bodyPr wrap="square"/>
                    <a:lstStyle/>
                    <a:p>
                      <a:pPr algn="ctr"/>
                      <a:r>
                        <a:rPr sz="1050" b="1">
                          <a:solidFill>
                            <a:srgbClr val="FFC64B"/>
                          </a:solidFill>
                          <a:latin typeface="Segoe UI"/>
                        </a:rPr>
                        <a:t>Yes -- CVE/file/category match</a:t>
                      </a:r>
                    </a:p>
                  </a:txBody>
                  <a:tcPr marL="101600" marR="101600" marT="38100" marB="38100" anchor="ctr">
                    <a:solidFill>
                      <a:srgbClr val="1E2B47"/>
                    </a:solidFill>
                  </a:tcPr>
                </a:tc>
              </a:tr>
              <a:tr h="571500">
                <a:tc>
                  <a:txBody>
                    <a:bodyPr wrap="square"/>
                    <a:lstStyle/>
                    <a:p>
                      <a:pPr algn="l"/>
                      <a:r>
                        <a:rPr sz="1050" b="1">
                          <a:solidFill>
                            <a:srgbClr val="F5F7FA"/>
                          </a:solidFill>
                          <a:latin typeface="Segoe UI"/>
                        </a:rPr>
                        <a:t>Grounded, citation-backed AI explanation</a:t>
                      </a:r>
                    </a:p>
                  </a:txBody>
                  <a:tcPr marL="101600" marR="101600" marT="38100" marB="38100" anchor="ctr">
                    <a:solidFill>
                      <a:srgbClr val="131B2E"/>
                    </a:solidFill>
                  </a:tcPr>
                </a:tc>
                <a:tc>
                  <a:txBody>
                    <a:bodyPr wrap="square"/>
                    <a:lstStyle/>
                    <a:p>
                      <a:pPr algn="ctr"/>
                      <a:r>
                        <a:rPr sz="1050" b="0">
                          <a:solidFill>
                            <a:srgbClr val="9AA7BD"/>
                          </a:solidFill>
                          <a:latin typeface="Segoe UI"/>
                        </a:rPr>
                        <a:t>No</a:t>
                      </a:r>
                    </a:p>
                  </a:txBody>
                  <a:tcPr marL="101600" marR="101600" marT="38100" marB="38100" anchor="ctr">
                    <a:solidFill>
                      <a:srgbClr val="131B2E"/>
                    </a:solidFill>
                  </a:tcPr>
                </a:tc>
                <a:tc>
                  <a:txBody>
                    <a:bodyPr wrap="square"/>
                    <a:lstStyle/>
                    <a:p>
                      <a:pPr algn="ctr"/>
                      <a:r>
                        <a:rPr sz="1050" b="0">
                          <a:solidFill>
                            <a:srgbClr val="9AA7BD"/>
                          </a:solidFill>
                          <a:latin typeface="Segoe UI"/>
                        </a:rPr>
                        <a:t>Basic</a:t>
                      </a:r>
                    </a:p>
                  </a:txBody>
                  <a:tcPr marL="101600" marR="101600" marT="38100" marB="38100" anchor="ctr">
                    <a:solidFill>
                      <a:srgbClr val="131B2E"/>
                    </a:solidFill>
                  </a:tcPr>
                </a:tc>
                <a:tc>
                  <a:txBody>
                    <a:bodyPr wrap="square"/>
                    <a:lstStyle/>
                    <a:p>
                      <a:pPr algn="ctr"/>
                      <a:r>
                        <a:rPr sz="1050" b="0">
                          <a:solidFill>
                            <a:srgbClr val="9AA7BD"/>
                          </a:solidFill>
                          <a:latin typeface="Segoe UI"/>
                        </a:rPr>
                        <a:t>Basic (Copilot Autofix)</a:t>
                      </a:r>
                    </a:p>
                  </a:txBody>
                  <a:tcPr marL="101600" marR="101600" marT="38100" marB="38100" anchor="ctr">
                    <a:solidFill>
                      <a:srgbClr val="131B2E"/>
                    </a:solidFill>
                  </a:tcPr>
                </a:tc>
                <a:tc>
                  <a:txBody>
                    <a:bodyPr wrap="square"/>
                    <a:lstStyle/>
                    <a:p>
                      <a:pPr algn="ctr"/>
                      <a:r>
                        <a:rPr sz="1050" b="0">
                          <a:solidFill>
                            <a:srgbClr val="9AA7BD"/>
                          </a:solidFill>
                          <a:latin typeface="Segoe UI"/>
                        </a:rPr>
                        <a:t>No</a:t>
                      </a:r>
                    </a:p>
                  </a:txBody>
                  <a:tcPr marL="101600" marR="101600" marT="38100" marB="38100" anchor="ctr">
                    <a:solidFill>
                      <a:srgbClr val="131B2E"/>
                    </a:solidFill>
                  </a:tcPr>
                </a:tc>
                <a:tc>
                  <a:txBody>
                    <a:bodyPr wrap="square"/>
                    <a:lstStyle/>
                    <a:p>
                      <a:pPr algn="ctr"/>
                      <a:r>
                        <a:rPr sz="1050" b="0">
                          <a:solidFill>
                            <a:srgbClr val="9AA7BD"/>
                          </a:solidFill>
                          <a:latin typeface="Segoe UI"/>
                        </a:rPr>
                        <a:t>No</a:t>
                      </a:r>
                    </a:p>
                  </a:txBody>
                  <a:tcPr marL="101600" marR="101600" marT="38100" marB="38100" anchor="ctr">
                    <a:solidFill>
                      <a:srgbClr val="131B2E"/>
                    </a:solidFill>
                  </a:tcPr>
                </a:tc>
                <a:tc>
                  <a:txBody>
                    <a:bodyPr wrap="square"/>
                    <a:lstStyle/>
                    <a:p>
                      <a:pPr algn="ctr"/>
                      <a:r>
                        <a:rPr sz="1050" b="1">
                          <a:solidFill>
                            <a:srgbClr val="FFC64B"/>
                          </a:solidFill>
                          <a:latin typeface="Segoe UI"/>
                        </a:rPr>
                        <a:t>RAG + confidence-gated</a:t>
                      </a:r>
                    </a:p>
                  </a:txBody>
                  <a:tcPr marL="101600" marR="101600" marT="38100" marB="38100" anchor="ctr">
                    <a:solidFill>
                      <a:srgbClr val="1E2B47"/>
                    </a:solidFill>
                  </a:tcPr>
                </a:tc>
              </a:tr>
            </a:tbl>
          </a:graphicData>
        </a:graphic>
      </p:graphicFrame>
      <p:sp>
        <p:nvSpPr>
          <p:cNvPr id="12" name="TextBox 11"/>
          <p:cNvSpPr txBox="1"/>
          <p:nvPr/>
        </p:nvSpPr>
        <p:spPr>
          <a:xfrm>
            <a:off x="502920" y="5440680"/>
            <a:ext cx="11183112" cy="274320"/>
          </a:xfrm>
          <a:prstGeom prst="rect">
            <a:avLst/>
          </a:prstGeom>
          <a:noFill/>
        </p:spPr>
        <p:txBody>
          <a:bodyPr wrap="square" anchor="t" lIns="0" rIns="0" tIns="0" bIns="0">
            <a:noAutofit/>
          </a:bodyPr>
          <a:lstStyle/>
          <a:p>
            <a:pPr algn="l">
              <a:lnSpc>
                <a:spcPct val="100000"/>
              </a:lnSpc>
              <a:spcAft>
                <a:spcPts val="0"/>
              </a:spcAft>
            </a:pPr>
            <a:r>
              <a:rPr sz="850" b="0" i="1">
                <a:solidFill>
                  <a:srgbClr val="64708A"/>
                </a:solidFill>
                <a:latin typeface="Segoe UI"/>
              </a:rPr>
              <a:t>Comparison reflects each tool's typical, publicly-documented scope as of this writing -- not a claim that these tools lack all capability, but that banking-specific risk scoring and regulatory mapping are not their focus. KAVACH's compliance mapping is explicitly its own illustrative rule set (see Slide 14), not a certified audit.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362895" y="-3291840"/>
            <a:ext cx="5852160" cy="5852160"/>
          </a:xfrm>
          <a:prstGeom prst="ellipse">
            <a:avLst/>
          </a:prstGeom>
          <a:noFill/>
          <a:ln w="13970">
            <a:solidFill>
              <a:srgbClr val="EDA100">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502920" y="6473952"/>
            <a:ext cx="11185855" cy="0"/>
          </a:xfrm>
          <a:prstGeom prst="line">
            <a:avLst/>
          </a:prstGeom>
          <a:ln w="9525">
            <a:solidFill>
              <a:srgbClr val="2A3654"/>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28816"/>
            <a:ext cx="4572000" cy="274320"/>
          </a:xfrm>
          <a:prstGeom prst="rect">
            <a:avLst/>
          </a:prstGeom>
          <a:noFill/>
        </p:spPr>
        <p:txBody>
          <a:bodyPr wrap="square" anchor="t" lIns="0" rIns="0" tIns="0" bIns="0">
            <a:noAutofit/>
          </a:bodyPr>
          <a:lstStyle/>
          <a:p>
            <a:pPr algn="l">
              <a:lnSpc>
                <a:spcPct val="100000"/>
              </a:lnSpc>
              <a:spcAft>
                <a:spcPts val="0"/>
              </a:spcAft>
            </a:pPr>
            <a:r>
              <a:rPr sz="900" b="0" i="0">
                <a:solidFill>
                  <a:srgbClr val="64708A"/>
                </a:solidFill>
                <a:latin typeface="Segoe UI"/>
              </a:rPr>
              <a:t>KAVACH  ·  PSB Hackathon 2026</a:t>
            </a:r>
          </a:p>
        </p:txBody>
      </p:sp>
      <p:sp>
        <p:nvSpPr>
          <p:cNvPr id="6" name="TextBox 5"/>
          <p:cNvSpPr txBox="1"/>
          <p:nvPr/>
        </p:nvSpPr>
        <p:spPr>
          <a:xfrm>
            <a:off x="4480560" y="6528816"/>
            <a:ext cx="4572000" cy="274320"/>
          </a:xfrm>
          <a:prstGeom prst="rect">
            <a:avLst/>
          </a:prstGeom>
          <a:noFill/>
        </p:spPr>
        <p:txBody>
          <a:bodyPr wrap="square" anchor="t" lIns="0" rIns="0" tIns="0" bIns="0">
            <a:noAutofit/>
          </a:bodyPr>
          <a:lstStyle/>
          <a:p>
            <a:pPr algn="ctr">
              <a:lnSpc>
                <a:spcPct val="100000"/>
              </a:lnSpc>
              <a:spcAft>
                <a:spcPts val="0"/>
              </a:spcAft>
            </a:pPr>
            <a:r>
              <a:rPr sz="900" b="0" i="0">
                <a:solidFill>
                  <a:srgbClr val="64708A"/>
                </a:solidFill>
                <a:latin typeface="Segoe UI"/>
              </a:rPr>
              <a:t>SYSTEM ARCHITECTURE</a:t>
            </a:r>
          </a:p>
        </p:txBody>
      </p:sp>
      <p:sp>
        <p:nvSpPr>
          <p:cNvPr id="7" name="TextBox 6"/>
          <p:cNvSpPr txBox="1"/>
          <p:nvPr/>
        </p:nvSpPr>
        <p:spPr>
          <a:xfrm>
            <a:off x="10820095" y="6528816"/>
            <a:ext cx="914400" cy="274320"/>
          </a:xfrm>
          <a:prstGeom prst="rect">
            <a:avLst/>
          </a:prstGeom>
          <a:noFill/>
        </p:spPr>
        <p:txBody>
          <a:bodyPr wrap="square" anchor="t" lIns="0" rIns="0" tIns="0" bIns="0">
            <a:noAutofit/>
          </a:bodyPr>
          <a:lstStyle/>
          <a:p>
            <a:pPr algn="r">
              <a:lnSpc>
                <a:spcPct val="100000"/>
              </a:lnSpc>
              <a:spcAft>
                <a:spcPts val="0"/>
              </a:spcAft>
            </a:pPr>
            <a:r>
              <a:rPr sz="900" b="0" i="0">
                <a:solidFill>
                  <a:srgbClr val="64708A"/>
                </a:solidFill>
                <a:latin typeface="Segoe UI"/>
              </a:rPr>
              <a:t>07 / 22</a:t>
            </a:r>
          </a:p>
        </p:txBody>
      </p:sp>
      <p:sp>
        <p:nvSpPr>
          <p:cNvPr id="8" name="TextBox 7"/>
          <p:cNvSpPr txBox="1"/>
          <p:nvPr/>
        </p:nvSpPr>
        <p:spPr>
          <a:xfrm>
            <a:off x="502920" y="457200"/>
            <a:ext cx="9601200" cy="292608"/>
          </a:xfrm>
          <a:prstGeom prst="rect">
            <a:avLst/>
          </a:prstGeom>
          <a:noFill/>
        </p:spPr>
        <p:txBody>
          <a:bodyPr wrap="square" anchor="t" lIns="0" rIns="0" tIns="0" bIns="0">
            <a:noAutofit/>
          </a:bodyPr>
          <a:lstStyle/>
          <a:p>
            <a:pPr algn="l">
              <a:lnSpc>
                <a:spcPct val="100000"/>
              </a:lnSpc>
              <a:spcAft>
                <a:spcPts val="0"/>
              </a:spcAft>
            </a:pPr>
            <a:r>
              <a:rPr sz="1250" b="1" i="0" spc="160">
                <a:solidFill>
                  <a:srgbClr val="EDA100"/>
                </a:solidFill>
                <a:latin typeface="Segoe UI"/>
              </a:rPr>
              <a:t>SYSTEM ARCHITECTURE</a:t>
            </a:r>
          </a:p>
        </p:txBody>
      </p:sp>
      <p:sp>
        <p:nvSpPr>
          <p:cNvPr id="9" name="TextBox 8"/>
          <p:cNvSpPr txBox="1"/>
          <p:nvPr/>
        </p:nvSpPr>
        <p:spPr>
          <a:xfrm>
            <a:off x="502920" y="768096"/>
            <a:ext cx="10789920" cy="566928"/>
          </a:xfrm>
          <a:prstGeom prst="rect">
            <a:avLst/>
          </a:prstGeom>
          <a:noFill/>
        </p:spPr>
        <p:txBody>
          <a:bodyPr wrap="square" anchor="t" lIns="0" rIns="0" tIns="0" bIns="0">
            <a:noAutofit/>
          </a:bodyPr>
          <a:lstStyle/>
          <a:p>
            <a:pPr algn="l">
              <a:lnSpc>
                <a:spcPct val="102000"/>
              </a:lnSpc>
              <a:spcAft>
                <a:spcPts val="0"/>
              </a:spcAft>
            </a:pPr>
            <a:r>
              <a:rPr sz="2700" b="1" i="0">
                <a:solidFill>
                  <a:srgbClr val="F5F7FA"/>
                </a:solidFill>
                <a:latin typeface="Segoe UI"/>
              </a:rPr>
              <a:t>22 Components, 6 Layers -- All Implemented</a:t>
            </a:r>
          </a:p>
        </p:txBody>
      </p:sp>
      <p:cxnSp>
        <p:nvCxnSpPr>
          <p:cNvPr id="10" name="Connector 9"/>
          <p:cNvCxnSpPr/>
          <p:nvPr/>
        </p:nvCxnSpPr>
        <p:spPr>
          <a:xfrm>
            <a:off x="502920" y="1399032"/>
            <a:ext cx="960120" cy="0"/>
          </a:xfrm>
          <a:prstGeom prst="line">
            <a:avLst/>
          </a:prstGeom>
          <a:ln w="28575">
            <a:solidFill>
              <a:srgbClr val="EDA100"/>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02920" y="1847088"/>
            <a:ext cx="3657600" cy="164592"/>
          </a:xfrm>
          <a:prstGeom prst="rect">
            <a:avLst/>
          </a:prstGeom>
          <a:noFill/>
        </p:spPr>
        <p:txBody>
          <a:bodyPr wrap="square" anchor="t" lIns="0" rIns="0" tIns="0" bIns="0">
            <a:noAutofit/>
          </a:bodyPr>
          <a:lstStyle/>
          <a:p>
            <a:pPr algn="l">
              <a:lnSpc>
                <a:spcPct val="100000"/>
              </a:lnSpc>
              <a:spcAft>
                <a:spcPts val="0"/>
              </a:spcAft>
            </a:pPr>
            <a:r>
              <a:rPr sz="850" b="1" i="0" spc="80">
                <a:solidFill>
                  <a:srgbClr val="6CAEF2"/>
                </a:solidFill>
                <a:latin typeface="Segoe UI"/>
              </a:rPr>
              <a:t>INGRESS</a:t>
            </a:r>
          </a:p>
        </p:txBody>
      </p:sp>
      <p:sp>
        <p:nvSpPr>
          <p:cNvPr id="12" name="Rounded Rectangle 11"/>
          <p:cNvSpPr/>
          <p:nvPr/>
        </p:nvSpPr>
        <p:spPr>
          <a:xfrm>
            <a:off x="992124" y="2020824"/>
            <a:ext cx="2468880" cy="457200"/>
          </a:xfrm>
          <a:prstGeom prst="roundRect">
            <a:avLst>
              <a:gd name="adj" fmla="val 16000"/>
            </a:avLst>
          </a:prstGeom>
          <a:solidFill>
            <a:srgbClr val="18233B"/>
          </a:solidFill>
          <a:ln w="1587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wrap="square" lIns="63500" rIns="63500" tIns="25400" bIns="25400"/>
          <a:lstStyle/>
          <a:p>
            <a:pPr algn="ctr"/>
            <a:r>
              <a:rPr sz="950" b="1">
                <a:solidFill>
                  <a:srgbClr val="F5F7FA"/>
                </a:solidFill>
                <a:latin typeface="Segoe UI"/>
              </a:rPr>
              <a:t>Repository</a:t>
            </a:r>
          </a:p>
        </p:txBody>
      </p:sp>
      <p:sp>
        <p:nvSpPr>
          <p:cNvPr id="13" name="Rounded Rectangle 12"/>
          <p:cNvSpPr/>
          <p:nvPr/>
        </p:nvSpPr>
        <p:spPr>
          <a:xfrm>
            <a:off x="3570732" y="2020824"/>
            <a:ext cx="2468880" cy="457200"/>
          </a:xfrm>
          <a:prstGeom prst="roundRect">
            <a:avLst>
              <a:gd name="adj" fmla="val 16000"/>
            </a:avLst>
          </a:prstGeom>
          <a:solidFill>
            <a:srgbClr val="18233B"/>
          </a:solidFill>
          <a:ln w="1587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wrap="square" lIns="63500" rIns="63500" tIns="25400" bIns="25400"/>
          <a:lstStyle/>
          <a:p>
            <a:pPr algn="ctr"/>
            <a:r>
              <a:rPr sz="950" b="1">
                <a:solidFill>
                  <a:srgbClr val="F5F7FA"/>
                </a:solidFill>
                <a:latin typeface="Segoe UI"/>
              </a:rPr>
              <a:t>Webhook</a:t>
            </a:r>
          </a:p>
        </p:txBody>
      </p:sp>
      <p:sp>
        <p:nvSpPr>
          <p:cNvPr id="14" name="Rounded Rectangle 13"/>
          <p:cNvSpPr/>
          <p:nvPr/>
        </p:nvSpPr>
        <p:spPr>
          <a:xfrm>
            <a:off x="6149340" y="2020824"/>
            <a:ext cx="2468880" cy="457200"/>
          </a:xfrm>
          <a:prstGeom prst="roundRect">
            <a:avLst>
              <a:gd name="adj" fmla="val 16000"/>
            </a:avLst>
          </a:prstGeom>
          <a:solidFill>
            <a:srgbClr val="18233B"/>
          </a:solidFill>
          <a:ln w="1587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wrap="square" lIns="63500" rIns="63500" tIns="25400" bIns="25400"/>
          <a:lstStyle/>
          <a:p>
            <a:pPr algn="ctr"/>
            <a:r>
              <a:rPr sz="950" b="1">
                <a:solidFill>
                  <a:srgbClr val="F5F7FA"/>
                </a:solidFill>
                <a:latin typeface="Segoe UI"/>
              </a:rPr>
              <a:t>Gateway</a:t>
            </a:r>
          </a:p>
        </p:txBody>
      </p:sp>
      <p:sp>
        <p:nvSpPr>
          <p:cNvPr id="15" name="Rounded Rectangle 14"/>
          <p:cNvSpPr/>
          <p:nvPr/>
        </p:nvSpPr>
        <p:spPr>
          <a:xfrm>
            <a:off x="8727948" y="2020824"/>
            <a:ext cx="2468880" cy="457200"/>
          </a:xfrm>
          <a:prstGeom prst="roundRect">
            <a:avLst>
              <a:gd name="adj" fmla="val 16000"/>
            </a:avLst>
          </a:prstGeom>
          <a:solidFill>
            <a:srgbClr val="18233B"/>
          </a:solidFill>
          <a:ln w="1587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wrap="square" lIns="63500" rIns="63500" tIns="25400" bIns="25400"/>
          <a:lstStyle/>
          <a:p>
            <a:pPr algn="ctr"/>
            <a:r>
              <a:rPr sz="950" b="1">
                <a:solidFill>
                  <a:srgbClr val="F5F7FA"/>
                </a:solidFill>
                <a:latin typeface="Segoe UI"/>
              </a:rPr>
              <a:t>Authentication</a:t>
            </a:r>
          </a:p>
        </p:txBody>
      </p:sp>
      <p:cxnSp>
        <p:nvCxnSpPr>
          <p:cNvPr id="16" name="Connector 15"/>
          <p:cNvCxnSpPr/>
          <p:nvPr/>
        </p:nvCxnSpPr>
        <p:spPr>
          <a:xfrm>
            <a:off x="6094476" y="2478024"/>
            <a:ext cx="0" cy="100584"/>
          </a:xfrm>
          <a:prstGeom prst="line">
            <a:avLst/>
          </a:prstGeom>
          <a:ln w="15875">
            <a:solidFill>
              <a:srgbClr val="3A486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02920" y="2587752"/>
            <a:ext cx="3657600" cy="164592"/>
          </a:xfrm>
          <a:prstGeom prst="rect">
            <a:avLst/>
          </a:prstGeom>
          <a:noFill/>
        </p:spPr>
        <p:txBody>
          <a:bodyPr wrap="square" anchor="t" lIns="0" rIns="0" tIns="0" bIns="0">
            <a:noAutofit/>
          </a:bodyPr>
          <a:lstStyle/>
          <a:p>
            <a:pPr algn="l">
              <a:lnSpc>
                <a:spcPct val="100000"/>
              </a:lnSpc>
              <a:spcAft>
                <a:spcPts val="0"/>
              </a:spcAft>
            </a:pPr>
            <a:r>
              <a:rPr sz="850" b="1" i="0" spc="80">
                <a:solidFill>
                  <a:srgbClr val="F28B8A"/>
                </a:solidFill>
                <a:latin typeface="Segoe UI"/>
              </a:rPr>
              <a:t>ORCHESTRATION</a:t>
            </a:r>
          </a:p>
        </p:txBody>
      </p:sp>
      <p:sp>
        <p:nvSpPr>
          <p:cNvPr id="18" name="Rounded Rectangle 17"/>
          <p:cNvSpPr/>
          <p:nvPr/>
        </p:nvSpPr>
        <p:spPr>
          <a:xfrm>
            <a:off x="2382012" y="2761488"/>
            <a:ext cx="3657600" cy="457200"/>
          </a:xfrm>
          <a:prstGeom prst="roundRect">
            <a:avLst>
              <a:gd name="adj" fmla="val 16000"/>
            </a:avLst>
          </a:prstGeom>
          <a:solidFill>
            <a:srgbClr val="18233B"/>
          </a:solidFill>
          <a:ln w="15875">
            <a:solidFill>
              <a:srgbClr val="E34948"/>
            </a:solidFill>
          </a:ln>
          <a:effectLst/>
        </p:spPr>
        <p:style>
          <a:lnRef idx="1">
            <a:schemeClr val="accent1"/>
          </a:lnRef>
          <a:fillRef idx="3">
            <a:schemeClr val="accent1"/>
          </a:fillRef>
          <a:effectRef idx="2">
            <a:schemeClr val="accent1"/>
          </a:effectRef>
          <a:fontRef idx="minor">
            <a:schemeClr val="lt1"/>
          </a:fontRef>
        </p:style>
        <p:txBody>
          <a:bodyPr rtlCol="0" anchor="ctr" wrap="square" lIns="63500" rIns="63500" tIns="25400" bIns="25400"/>
          <a:lstStyle/>
          <a:p>
            <a:pPr algn="ctr"/>
            <a:r>
              <a:rPr sz="950" b="1">
                <a:solidFill>
                  <a:srgbClr val="F5F7FA"/>
                </a:solidFill>
                <a:latin typeface="Segoe UI"/>
              </a:rPr>
              <a:t>Queue (Redis / Celery, priority)</a:t>
            </a:r>
          </a:p>
        </p:txBody>
      </p:sp>
      <p:sp>
        <p:nvSpPr>
          <p:cNvPr id="19" name="Rounded Rectangle 18"/>
          <p:cNvSpPr/>
          <p:nvPr/>
        </p:nvSpPr>
        <p:spPr>
          <a:xfrm>
            <a:off x="6149340" y="2761488"/>
            <a:ext cx="3657600" cy="457200"/>
          </a:xfrm>
          <a:prstGeom prst="roundRect">
            <a:avLst>
              <a:gd name="adj" fmla="val 16000"/>
            </a:avLst>
          </a:prstGeom>
          <a:solidFill>
            <a:srgbClr val="18233B"/>
          </a:solidFill>
          <a:ln w="15875">
            <a:solidFill>
              <a:srgbClr val="E34948"/>
            </a:solidFill>
          </a:ln>
          <a:effectLst/>
        </p:spPr>
        <p:style>
          <a:lnRef idx="1">
            <a:schemeClr val="accent1"/>
          </a:lnRef>
          <a:fillRef idx="3">
            <a:schemeClr val="accent1"/>
          </a:fillRef>
          <a:effectRef idx="2">
            <a:schemeClr val="accent1"/>
          </a:effectRef>
          <a:fontRef idx="minor">
            <a:schemeClr val="lt1"/>
          </a:fontRef>
        </p:style>
        <p:txBody>
          <a:bodyPr rtlCol="0" anchor="ctr" wrap="square" lIns="63500" rIns="63500" tIns="25400" bIns="25400"/>
          <a:lstStyle/>
          <a:p>
            <a:pPr algn="ctr"/>
            <a:r>
              <a:rPr sz="950" b="1">
                <a:solidFill>
                  <a:srgbClr val="F5F7FA"/>
                </a:solidFill>
                <a:latin typeface="Segoe UI"/>
              </a:rPr>
              <a:t>Distributed Workers (fan-out)</a:t>
            </a:r>
          </a:p>
        </p:txBody>
      </p:sp>
      <p:cxnSp>
        <p:nvCxnSpPr>
          <p:cNvPr id="20" name="Connector 19"/>
          <p:cNvCxnSpPr/>
          <p:nvPr/>
        </p:nvCxnSpPr>
        <p:spPr>
          <a:xfrm>
            <a:off x="6094476" y="3218688"/>
            <a:ext cx="0" cy="100584"/>
          </a:xfrm>
          <a:prstGeom prst="line">
            <a:avLst/>
          </a:prstGeom>
          <a:ln w="15875">
            <a:solidFill>
              <a:srgbClr val="3A486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02920" y="3328416"/>
            <a:ext cx="3657600" cy="164592"/>
          </a:xfrm>
          <a:prstGeom prst="rect">
            <a:avLst/>
          </a:prstGeom>
          <a:noFill/>
        </p:spPr>
        <p:txBody>
          <a:bodyPr wrap="square" anchor="t" lIns="0" rIns="0" tIns="0" bIns="0">
            <a:noAutofit/>
          </a:bodyPr>
          <a:lstStyle/>
          <a:p>
            <a:pPr algn="l">
              <a:lnSpc>
                <a:spcPct val="100000"/>
              </a:lnSpc>
              <a:spcAft>
                <a:spcPts val="0"/>
              </a:spcAft>
            </a:pPr>
            <a:r>
              <a:rPr sz="850" b="1" i="0" spc="80">
                <a:solidFill>
                  <a:srgbClr val="6CAEF2"/>
                </a:solidFill>
                <a:latin typeface="Segoe UI"/>
              </a:rPr>
              <a:t>PARALLEL SCANNERS -- 9 INDEPENDENT TOOLS</a:t>
            </a:r>
          </a:p>
        </p:txBody>
      </p:sp>
      <p:sp>
        <p:nvSpPr>
          <p:cNvPr id="22" name="Rounded Rectangle 21"/>
          <p:cNvSpPr/>
          <p:nvPr/>
        </p:nvSpPr>
        <p:spPr>
          <a:xfrm>
            <a:off x="502920" y="3502152"/>
            <a:ext cx="1772412" cy="420624"/>
          </a:xfrm>
          <a:prstGeom prst="roundRect">
            <a:avLst>
              <a:gd name="adj" fmla="val 16000"/>
            </a:avLst>
          </a:prstGeom>
          <a:solidFill>
            <a:srgbClr val="18233B"/>
          </a:solidFill>
          <a:ln w="15875">
            <a:solidFill>
              <a:srgbClr val="6CAEF2"/>
            </a:solidFill>
          </a:ln>
          <a:effectLst/>
        </p:spPr>
        <p:style>
          <a:lnRef idx="1">
            <a:schemeClr val="accent1"/>
          </a:lnRef>
          <a:fillRef idx="3">
            <a:schemeClr val="accent1"/>
          </a:fillRef>
          <a:effectRef idx="2">
            <a:schemeClr val="accent1"/>
          </a:effectRef>
          <a:fontRef idx="minor">
            <a:schemeClr val="lt1"/>
          </a:fontRef>
        </p:style>
        <p:txBody>
          <a:bodyPr rtlCol="0" anchor="ctr" wrap="square" lIns="63500" rIns="63500" tIns="25400" bIns="25400"/>
          <a:lstStyle/>
          <a:p>
            <a:pPr algn="ctr"/>
            <a:r>
              <a:rPr sz="869" b="1">
                <a:solidFill>
                  <a:srgbClr val="F5F7FA"/>
                </a:solidFill>
                <a:latin typeface="Segoe UI"/>
              </a:rPr>
              <a:t>Semgrep</a:t>
            </a:r>
          </a:p>
        </p:txBody>
      </p:sp>
      <p:sp>
        <p:nvSpPr>
          <p:cNvPr id="23" name="Rounded Rectangle 22"/>
          <p:cNvSpPr/>
          <p:nvPr/>
        </p:nvSpPr>
        <p:spPr>
          <a:xfrm>
            <a:off x="2385060" y="3502152"/>
            <a:ext cx="1772412" cy="420624"/>
          </a:xfrm>
          <a:prstGeom prst="roundRect">
            <a:avLst>
              <a:gd name="adj" fmla="val 16000"/>
            </a:avLst>
          </a:prstGeom>
          <a:solidFill>
            <a:srgbClr val="18233B"/>
          </a:solidFill>
          <a:ln w="15875">
            <a:solidFill>
              <a:srgbClr val="6CAEF2"/>
            </a:solidFill>
          </a:ln>
          <a:effectLst/>
        </p:spPr>
        <p:style>
          <a:lnRef idx="1">
            <a:schemeClr val="accent1"/>
          </a:lnRef>
          <a:fillRef idx="3">
            <a:schemeClr val="accent1"/>
          </a:fillRef>
          <a:effectRef idx="2">
            <a:schemeClr val="accent1"/>
          </a:effectRef>
          <a:fontRef idx="minor">
            <a:schemeClr val="lt1"/>
          </a:fontRef>
        </p:style>
        <p:txBody>
          <a:bodyPr rtlCol="0" anchor="ctr" wrap="square" lIns="63500" rIns="63500" tIns="25400" bIns="25400"/>
          <a:lstStyle/>
          <a:p>
            <a:pPr algn="ctr"/>
            <a:r>
              <a:rPr sz="869" b="1">
                <a:solidFill>
                  <a:srgbClr val="F5F7FA"/>
                </a:solidFill>
                <a:latin typeface="Segoe UI"/>
              </a:rPr>
              <a:t>Joern</a:t>
            </a:r>
          </a:p>
        </p:txBody>
      </p:sp>
      <p:sp>
        <p:nvSpPr>
          <p:cNvPr id="24" name="Rounded Rectangle 23"/>
          <p:cNvSpPr/>
          <p:nvPr/>
        </p:nvSpPr>
        <p:spPr>
          <a:xfrm>
            <a:off x="4267200" y="3502152"/>
            <a:ext cx="1772412" cy="420624"/>
          </a:xfrm>
          <a:prstGeom prst="roundRect">
            <a:avLst>
              <a:gd name="adj" fmla="val 16000"/>
            </a:avLst>
          </a:prstGeom>
          <a:solidFill>
            <a:srgbClr val="18233B"/>
          </a:solidFill>
          <a:ln w="15875">
            <a:solidFill>
              <a:srgbClr val="6CAEF2"/>
            </a:solidFill>
          </a:ln>
          <a:effectLst/>
        </p:spPr>
        <p:style>
          <a:lnRef idx="1">
            <a:schemeClr val="accent1"/>
          </a:lnRef>
          <a:fillRef idx="3">
            <a:schemeClr val="accent1"/>
          </a:fillRef>
          <a:effectRef idx="2">
            <a:schemeClr val="accent1"/>
          </a:effectRef>
          <a:fontRef idx="minor">
            <a:schemeClr val="lt1"/>
          </a:fontRef>
        </p:style>
        <p:txBody>
          <a:bodyPr rtlCol="0" anchor="ctr" wrap="square" lIns="63500" rIns="63500" tIns="25400" bIns="25400"/>
          <a:lstStyle/>
          <a:p>
            <a:pPr algn="ctr"/>
            <a:r>
              <a:rPr sz="869" b="1">
                <a:solidFill>
                  <a:srgbClr val="F5F7FA"/>
                </a:solidFill>
                <a:latin typeface="Segoe UI"/>
              </a:rPr>
              <a:t>AST-Grep</a:t>
            </a:r>
          </a:p>
        </p:txBody>
      </p:sp>
      <p:sp>
        <p:nvSpPr>
          <p:cNvPr id="25" name="Rounded Rectangle 24"/>
          <p:cNvSpPr/>
          <p:nvPr/>
        </p:nvSpPr>
        <p:spPr>
          <a:xfrm>
            <a:off x="6149340" y="3502152"/>
            <a:ext cx="1772412" cy="420624"/>
          </a:xfrm>
          <a:prstGeom prst="roundRect">
            <a:avLst>
              <a:gd name="adj" fmla="val 16000"/>
            </a:avLst>
          </a:prstGeom>
          <a:solidFill>
            <a:srgbClr val="18233B"/>
          </a:solidFill>
          <a:ln w="15875">
            <a:solidFill>
              <a:srgbClr val="6CAEF2"/>
            </a:solidFill>
          </a:ln>
          <a:effectLst/>
        </p:spPr>
        <p:style>
          <a:lnRef idx="1">
            <a:schemeClr val="accent1"/>
          </a:lnRef>
          <a:fillRef idx="3">
            <a:schemeClr val="accent1"/>
          </a:fillRef>
          <a:effectRef idx="2">
            <a:schemeClr val="accent1"/>
          </a:effectRef>
          <a:fontRef idx="minor">
            <a:schemeClr val="lt1"/>
          </a:fontRef>
        </p:style>
        <p:txBody>
          <a:bodyPr rtlCol="0" anchor="ctr" wrap="square" lIns="63500" rIns="63500" tIns="25400" bIns="25400"/>
          <a:lstStyle/>
          <a:p>
            <a:pPr algn="ctr"/>
            <a:r>
              <a:rPr sz="869" b="1">
                <a:solidFill>
                  <a:srgbClr val="F5F7FA"/>
                </a:solidFill>
                <a:latin typeface="Segoe UI"/>
              </a:rPr>
              <a:t>Dependency Scanner</a:t>
            </a:r>
          </a:p>
        </p:txBody>
      </p:sp>
      <p:sp>
        <p:nvSpPr>
          <p:cNvPr id="26" name="Rounded Rectangle 25"/>
          <p:cNvSpPr/>
          <p:nvPr/>
        </p:nvSpPr>
        <p:spPr>
          <a:xfrm>
            <a:off x="8031480" y="3502152"/>
            <a:ext cx="1772412" cy="420624"/>
          </a:xfrm>
          <a:prstGeom prst="roundRect">
            <a:avLst>
              <a:gd name="adj" fmla="val 16000"/>
            </a:avLst>
          </a:prstGeom>
          <a:solidFill>
            <a:srgbClr val="18233B"/>
          </a:solidFill>
          <a:ln w="15875">
            <a:solidFill>
              <a:srgbClr val="6CAEF2"/>
            </a:solidFill>
          </a:ln>
          <a:effectLst/>
        </p:spPr>
        <p:style>
          <a:lnRef idx="1">
            <a:schemeClr val="accent1"/>
          </a:lnRef>
          <a:fillRef idx="3">
            <a:schemeClr val="accent1"/>
          </a:fillRef>
          <a:effectRef idx="2">
            <a:schemeClr val="accent1"/>
          </a:effectRef>
          <a:fontRef idx="minor">
            <a:schemeClr val="lt1"/>
          </a:fontRef>
        </p:style>
        <p:txBody>
          <a:bodyPr rtlCol="0" anchor="ctr" wrap="square" lIns="63500" rIns="63500" tIns="25400" bIns="25400"/>
          <a:lstStyle/>
          <a:p>
            <a:pPr algn="ctr"/>
            <a:r>
              <a:rPr sz="869" b="1">
                <a:solidFill>
                  <a:srgbClr val="F5F7FA"/>
                </a:solidFill>
                <a:latin typeface="Segoe UI"/>
              </a:rPr>
              <a:t>Configuration Scanner</a:t>
            </a:r>
          </a:p>
        </p:txBody>
      </p:sp>
      <p:sp>
        <p:nvSpPr>
          <p:cNvPr id="27" name="Rounded Rectangle 26"/>
          <p:cNvSpPr/>
          <p:nvPr/>
        </p:nvSpPr>
        <p:spPr>
          <a:xfrm>
            <a:off x="9913620" y="3502152"/>
            <a:ext cx="1772412" cy="420624"/>
          </a:xfrm>
          <a:prstGeom prst="roundRect">
            <a:avLst>
              <a:gd name="adj" fmla="val 16000"/>
            </a:avLst>
          </a:prstGeom>
          <a:solidFill>
            <a:srgbClr val="18233B"/>
          </a:solidFill>
          <a:ln w="15875">
            <a:solidFill>
              <a:srgbClr val="6CAEF2"/>
            </a:solidFill>
          </a:ln>
          <a:effectLst/>
        </p:spPr>
        <p:style>
          <a:lnRef idx="1">
            <a:schemeClr val="accent1"/>
          </a:lnRef>
          <a:fillRef idx="3">
            <a:schemeClr val="accent1"/>
          </a:fillRef>
          <a:effectRef idx="2">
            <a:schemeClr val="accent1"/>
          </a:effectRef>
          <a:fontRef idx="minor">
            <a:schemeClr val="lt1"/>
          </a:fontRef>
        </p:style>
        <p:txBody>
          <a:bodyPr rtlCol="0" anchor="ctr" wrap="square" lIns="63500" rIns="63500" tIns="25400" bIns="25400"/>
          <a:lstStyle/>
          <a:p>
            <a:pPr algn="ctr"/>
            <a:r>
              <a:rPr sz="869" b="1">
                <a:solidFill>
                  <a:srgbClr val="F5F7FA"/>
                </a:solidFill>
                <a:latin typeface="Segoe UI"/>
              </a:rPr>
              <a:t>Secrets Detection</a:t>
            </a:r>
          </a:p>
        </p:txBody>
      </p:sp>
      <p:cxnSp>
        <p:nvCxnSpPr>
          <p:cNvPr id="28" name="Connector 27"/>
          <p:cNvCxnSpPr/>
          <p:nvPr/>
        </p:nvCxnSpPr>
        <p:spPr>
          <a:xfrm>
            <a:off x="6094476" y="3922776"/>
            <a:ext cx="0" cy="100584"/>
          </a:xfrm>
          <a:prstGeom prst="line">
            <a:avLst/>
          </a:prstGeom>
          <a:ln w="15875">
            <a:solidFill>
              <a:srgbClr val="3A486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02920" y="4032504"/>
            <a:ext cx="3657600" cy="164592"/>
          </a:xfrm>
          <a:prstGeom prst="rect">
            <a:avLst/>
          </a:prstGeom>
          <a:noFill/>
        </p:spPr>
        <p:txBody>
          <a:bodyPr wrap="square" anchor="t" lIns="0" rIns="0" tIns="0" bIns="0">
            <a:noAutofit/>
          </a:bodyPr>
          <a:lstStyle/>
          <a:p>
            <a:pPr algn="l">
              <a:lnSpc>
                <a:spcPct val="100000"/>
              </a:lnSpc>
              <a:spcAft>
                <a:spcPts val="0"/>
              </a:spcAft>
            </a:pPr>
            <a:r>
              <a:rPr sz="850" b="1" i="0" spc="80">
                <a:solidFill>
                  <a:srgbClr val="EDA100"/>
                </a:solidFill>
                <a:latin typeface="Segoe UI"/>
              </a:rPr>
              <a:t>INTELLIGENCE</a:t>
            </a:r>
          </a:p>
        </p:txBody>
      </p:sp>
      <p:sp>
        <p:nvSpPr>
          <p:cNvPr id="30" name="Rounded Rectangle 29"/>
          <p:cNvSpPr/>
          <p:nvPr/>
        </p:nvSpPr>
        <p:spPr>
          <a:xfrm>
            <a:off x="992124" y="4206240"/>
            <a:ext cx="2468880" cy="457200"/>
          </a:xfrm>
          <a:prstGeom prst="roundRect">
            <a:avLst>
              <a:gd name="adj" fmla="val 16000"/>
            </a:avLst>
          </a:prstGeom>
          <a:solidFill>
            <a:srgbClr val="18233B"/>
          </a:solidFill>
          <a:ln w="15875">
            <a:solidFill>
              <a:srgbClr val="9AA7BD"/>
            </a:solidFill>
          </a:ln>
          <a:effectLst/>
        </p:spPr>
        <p:style>
          <a:lnRef idx="1">
            <a:schemeClr val="accent1"/>
          </a:lnRef>
          <a:fillRef idx="3">
            <a:schemeClr val="accent1"/>
          </a:fillRef>
          <a:effectRef idx="2">
            <a:schemeClr val="accent1"/>
          </a:effectRef>
          <a:fontRef idx="minor">
            <a:schemeClr val="lt1"/>
          </a:fontRef>
        </p:style>
        <p:txBody>
          <a:bodyPr rtlCol="0" anchor="ctr" wrap="square" lIns="63500" rIns="63500" tIns="25400" bIns="25400"/>
          <a:lstStyle/>
          <a:p>
            <a:pPr algn="ctr"/>
            <a:r>
              <a:rPr sz="950" b="1">
                <a:solidFill>
                  <a:srgbClr val="F5F7FA"/>
                </a:solidFill>
                <a:latin typeface="Segoe UI"/>
              </a:rPr>
              <a:t>Aggregation Layer</a:t>
            </a:r>
          </a:p>
        </p:txBody>
      </p:sp>
      <p:sp>
        <p:nvSpPr>
          <p:cNvPr id="31" name="Rounded Rectangle 30"/>
          <p:cNvSpPr/>
          <p:nvPr/>
        </p:nvSpPr>
        <p:spPr>
          <a:xfrm>
            <a:off x="3570732" y="4206240"/>
            <a:ext cx="2468880" cy="457200"/>
          </a:xfrm>
          <a:prstGeom prst="roundRect">
            <a:avLst>
              <a:gd name="adj" fmla="val 16000"/>
            </a:avLst>
          </a:prstGeom>
          <a:solidFill>
            <a:srgbClr val="18233B"/>
          </a:solidFill>
          <a:ln w="15875">
            <a:solidFill>
              <a:srgbClr val="EDA100"/>
            </a:solidFill>
          </a:ln>
          <a:effectLst/>
        </p:spPr>
        <p:style>
          <a:lnRef idx="1">
            <a:schemeClr val="accent1"/>
          </a:lnRef>
          <a:fillRef idx="3">
            <a:schemeClr val="accent1"/>
          </a:fillRef>
          <a:effectRef idx="2">
            <a:schemeClr val="accent1"/>
          </a:effectRef>
          <a:fontRef idx="minor">
            <a:schemeClr val="lt1"/>
          </a:fontRef>
        </p:style>
        <p:txBody>
          <a:bodyPr rtlCol="0" anchor="ctr" wrap="square" lIns="63500" rIns="63500" tIns="25400" bIns="25400"/>
          <a:lstStyle/>
          <a:p>
            <a:pPr algn="ctr"/>
            <a:r>
              <a:rPr sz="950" b="1">
                <a:solidFill>
                  <a:srgbClr val="F5F7FA"/>
                </a:solidFill>
                <a:latin typeface="Segoe UI"/>
              </a:rPr>
              <a:t>Banking Risk Score Engine</a:t>
            </a:r>
          </a:p>
        </p:txBody>
      </p:sp>
      <p:sp>
        <p:nvSpPr>
          <p:cNvPr id="32" name="Rounded Rectangle 31"/>
          <p:cNvSpPr/>
          <p:nvPr/>
        </p:nvSpPr>
        <p:spPr>
          <a:xfrm>
            <a:off x="6149340" y="4206240"/>
            <a:ext cx="2468880" cy="457200"/>
          </a:xfrm>
          <a:prstGeom prst="roundRect">
            <a:avLst>
              <a:gd name="adj" fmla="val 16000"/>
            </a:avLst>
          </a:prstGeom>
          <a:solidFill>
            <a:srgbClr val="18233B"/>
          </a:solidFill>
          <a:ln w="1587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wrap="square" lIns="63500" rIns="63500" tIns="25400" bIns="25400"/>
          <a:lstStyle/>
          <a:p>
            <a:pPr algn="ctr"/>
            <a:r>
              <a:rPr sz="950" b="1">
                <a:solidFill>
                  <a:srgbClr val="F5F7FA"/>
                </a:solidFill>
                <a:latin typeface="Segoe UI"/>
              </a:rPr>
              <a:t>Compliance Engine</a:t>
            </a:r>
          </a:p>
        </p:txBody>
      </p:sp>
      <p:sp>
        <p:nvSpPr>
          <p:cNvPr id="33" name="Rounded Rectangle 32"/>
          <p:cNvSpPr/>
          <p:nvPr/>
        </p:nvSpPr>
        <p:spPr>
          <a:xfrm>
            <a:off x="8727948" y="4206240"/>
            <a:ext cx="2468880" cy="457200"/>
          </a:xfrm>
          <a:prstGeom prst="roundRect">
            <a:avLst>
              <a:gd name="adj" fmla="val 16000"/>
            </a:avLst>
          </a:prstGeom>
          <a:solidFill>
            <a:srgbClr val="18233B"/>
          </a:solidFill>
          <a:ln w="15875">
            <a:solidFill>
              <a:srgbClr val="9B8BEA"/>
            </a:solidFill>
          </a:ln>
          <a:effectLst/>
        </p:spPr>
        <p:style>
          <a:lnRef idx="1">
            <a:schemeClr val="accent1"/>
          </a:lnRef>
          <a:fillRef idx="3">
            <a:schemeClr val="accent1"/>
          </a:fillRef>
          <a:effectRef idx="2">
            <a:schemeClr val="accent1"/>
          </a:effectRef>
          <a:fontRef idx="minor">
            <a:schemeClr val="lt1"/>
          </a:fontRef>
        </p:style>
        <p:txBody>
          <a:bodyPr rtlCol="0" anchor="ctr" wrap="square" lIns="63500" rIns="63500" tIns="25400" bIns="25400"/>
          <a:lstStyle/>
          <a:p>
            <a:pPr algn="ctr"/>
            <a:r>
              <a:rPr sz="950" b="1">
                <a:solidFill>
                  <a:srgbClr val="F5F7FA"/>
                </a:solidFill>
                <a:latin typeface="Segoe UI"/>
              </a:rPr>
              <a:t>AI Explanation Layer</a:t>
            </a:r>
          </a:p>
        </p:txBody>
      </p:sp>
      <p:cxnSp>
        <p:nvCxnSpPr>
          <p:cNvPr id="34" name="Connector 33"/>
          <p:cNvCxnSpPr/>
          <p:nvPr/>
        </p:nvCxnSpPr>
        <p:spPr>
          <a:xfrm>
            <a:off x="6094476" y="4663440"/>
            <a:ext cx="0" cy="100584"/>
          </a:xfrm>
          <a:prstGeom prst="line">
            <a:avLst/>
          </a:prstGeom>
          <a:ln w="15875">
            <a:solidFill>
              <a:srgbClr val="3A486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02920" y="4773168"/>
            <a:ext cx="3657600" cy="164592"/>
          </a:xfrm>
          <a:prstGeom prst="rect">
            <a:avLst/>
          </a:prstGeom>
          <a:noFill/>
        </p:spPr>
        <p:txBody>
          <a:bodyPr wrap="square" anchor="t" lIns="0" rIns="0" tIns="0" bIns="0">
            <a:noAutofit/>
          </a:bodyPr>
          <a:lstStyle/>
          <a:p>
            <a:pPr algn="l">
              <a:lnSpc>
                <a:spcPct val="100000"/>
              </a:lnSpc>
              <a:spcAft>
                <a:spcPts val="0"/>
              </a:spcAft>
            </a:pPr>
            <a:r>
              <a:rPr sz="850" b="1" i="0" spc="80">
                <a:solidFill>
                  <a:srgbClr val="9B8BEA"/>
                </a:solidFill>
                <a:latin typeface="Segoe UI"/>
              </a:rPr>
              <a:t>KNOWLEDGE (RAG)</a:t>
            </a:r>
          </a:p>
        </p:txBody>
      </p:sp>
      <p:sp>
        <p:nvSpPr>
          <p:cNvPr id="36" name="Rounded Rectangle 35"/>
          <p:cNvSpPr/>
          <p:nvPr/>
        </p:nvSpPr>
        <p:spPr>
          <a:xfrm>
            <a:off x="2199132" y="4946904"/>
            <a:ext cx="3840480" cy="457200"/>
          </a:xfrm>
          <a:prstGeom prst="roundRect">
            <a:avLst>
              <a:gd name="adj" fmla="val 16000"/>
            </a:avLst>
          </a:prstGeom>
          <a:solidFill>
            <a:srgbClr val="18233B"/>
          </a:solidFill>
          <a:ln w="15875">
            <a:solidFill>
              <a:srgbClr val="4A3AA7"/>
            </a:solidFill>
          </a:ln>
          <a:effectLst/>
        </p:spPr>
        <p:style>
          <a:lnRef idx="1">
            <a:schemeClr val="accent1"/>
          </a:lnRef>
          <a:fillRef idx="3">
            <a:schemeClr val="accent1"/>
          </a:fillRef>
          <a:effectRef idx="2">
            <a:schemeClr val="accent1"/>
          </a:effectRef>
          <a:fontRef idx="minor">
            <a:schemeClr val="lt1"/>
          </a:fontRef>
        </p:style>
        <p:txBody>
          <a:bodyPr rtlCol="0" anchor="ctr" wrap="square" lIns="63500" rIns="63500" tIns="25400" bIns="25400"/>
          <a:lstStyle/>
          <a:p>
            <a:pPr algn="ctr"/>
            <a:r>
              <a:rPr sz="950" b="1">
                <a:solidFill>
                  <a:srgbClr val="F5F7FA"/>
                </a:solidFill>
                <a:latin typeface="Segoe UI"/>
              </a:rPr>
              <a:t>Knowledge Base (pgvector)</a:t>
            </a:r>
          </a:p>
        </p:txBody>
      </p:sp>
      <p:sp>
        <p:nvSpPr>
          <p:cNvPr id="37" name="Rounded Rectangle 36"/>
          <p:cNvSpPr/>
          <p:nvPr/>
        </p:nvSpPr>
        <p:spPr>
          <a:xfrm>
            <a:off x="6149340" y="4946904"/>
            <a:ext cx="3840480" cy="457200"/>
          </a:xfrm>
          <a:prstGeom prst="roundRect">
            <a:avLst>
              <a:gd name="adj" fmla="val 16000"/>
            </a:avLst>
          </a:prstGeom>
          <a:solidFill>
            <a:srgbClr val="18233B"/>
          </a:solidFill>
          <a:ln w="15875">
            <a:solidFill>
              <a:srgbClr val="4A3AA7"/>
            </a:solidFill>
          </a:ln>
          <a:effectLst/>
        </p:spPr>
        <p:style>
          <a:lnRef idx="1">
            <a:schemeClr val="accent1"/>
          </a:lnRef>
          <a:fillRef idx="3">
            <a:schemeClr val="accent1"/>
          </a:fillRef>
          <a:effectRef idx="2">
            <a:schemeClr val="accent1"/>
          </a:effectRef>
          <a:fontRef idx="minor">
            <a:schemeClr val="lt1"/>
          </a:fontRef>
        </p:style>
        <p:txBody>
          <a:bodyPr rtlCol="0" anchor="ctr" wrap="square" lIns="63500" rIns="63500" tIns="25400" bIns="25400"/>
          <a:lstStyle/>
          <a:p>
            <a:pPr algn="ctr"/>
            <a:r>
              <a:rPr sz="950" b="1">
                <a:solidFill>
                  <a:srgbClr val="F5F7FA"/>
                </a:solidFill>
                <a:latin typeface="Segoe UI"/>
              </a:rPr>
              <a:t>Executive Intelligence</a:t>
            </a:r>
          </a:p>
        </p:txBody>
      </p:sp>
      <p:cxnSp>
        <p:nvCxnSpPr>
          <p:cNvPr id="38" name="Connector 37"/>
          <p:cNvCxnSpPr/>
          <p:nvPr/>
        </p:nvCxnSpPr>
        <p:spPr>
          <a:xfrm>
            <a:off x="6094476" y="5404104"/>
            <a:ext cx="0" cy="100584"/>
          </a:xfrm>
          <a:prstGeom prst="line">
            <a:avLst/>
          </a:prstGeom>
          <a:ln w="15875">
            <a:solidFill>
              <a:srgbClr val="3A486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502920" y="5513831"/>
            <a:ext cx="3657600" cy="164592"/>
          </a:xfrm>
          <a:prstGeom prst="rect">
            <a:avLst/>
          </a:prstGeom>
          <a:noFill/>
        </p:spPr>
        <p:txBody>
          <a:bodyPr wrap="square" anchor="t" lIns="0" rIns="0" tIns="0" bIns="0">
            <a:noAutofit/>
          </a:bodyPr>
          <a:lstStyle/>
          <a:p>
            <a:pPr algn="l">
              <a:lnSpc>
                <a:spcPct val="100000"/>
              </a:lnSpc>
              <a:spcAft>
                <a:spcPts val="0"/>
              </a:spcAft>
            </a:pPr>
            <a:r>
              <a:rPr sz="850" b="1" i="0" spc="80">
                <a:solidFill>
                  <a:srgbClr val="6FDDB4"/>
                </a:solidFill>
                <a:latin typeface="Segoe UI"/>
              </a:rPr>
              <a:t>DELIVERY</a:t>
            </a:r>
          </a:p>
        </p:txBody>
      </p:sp>
      <p:sp>
        <p:nvSpPr>
          <p:cNvPr id="40" name="Rounded Rectangle 39"/>
          <p:cNvSpPr/>
          <p:nvPr/>
        </p:nvSpPr>
        <p:spPr>
          <a:xfrm>
            <a:off x="992124" y="5687568"/>
            <a:ext cx="2468880" cy="457200"/>
          </a:xfrm>
          <a:prstGeom prst="roundRect">
            <a:avLst>
              <a:gd name="adj" fmla="val 16000"/>
            </a:avLst>
          </a:prstGeom>
          <a:solidFill>
            <a:srgbClr val="18233B"/>
          </a:solidFill>
          <a:ln w="1587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wrap="square" lIns="63500" rIns="63500" tIns="25400" bIns="25400"/>
          <a:lstStyle/>
          <a:p>
            <a:pPr algn="ctr"/>
            <a:r>
              <a:rPr sz="950" b="1">
                <a:solidFill>
                  <a:srgbClr val="F5F7FA"/>
                </a:solidFill>
                <a:latin typeface="Segoe UI"/>
              </a:rPr>
              <a:t>Report Generator</a:t>
            </a:r>
          </a:p>
        </p:txBody>
      </p:sp>
      <p:sp>
        <p:nvSpPr>
          <p:cNvPr id="41" name="Rounded Rectangle 40"/>
          <p:cNvSpPr/>
          <p:nvPr/>
        </p:nvSpPr>
        <p:spPr>
          <a:xfrm>
            <a:off x="3570732" y="5687568"/>
            <a:ext cx="2468880" cy="457200"/>
          </a:xfrm>
          <a:prstGeom prst="roundRect">
            <a:avLst>
              <a:gd name="adj" fmla="val 16000"/>
            </a:avLst>
          </a:prstGeom>
          <a:solidFill>
            <a:srgbClr val="18233B"/>
          </a:solidFill>
          <a:ln w="1587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wrap="square" lIns="63500" rIns="63500" tIns="25400" bIns="25400"/>
          <a:lstStyle/>
          <a:p>
            <a:pPr algn="ctr"/>
            <a:r>
              <a:rPr sz="950" b="1">
                <a:solidFill>
                  <a:srgbClr val="F5F7FA"/>
                </a:solidFill>
                <a:latin typeface="Segoe UI"/>
              </a:rPr>
              <a:t>Dashboard</a:t>
            </a:r>
          </a:p>
        </p:txBody>
      </p:sp>
      <p:sp>
        <p:nvSpPr>
          <p:cNvPr id="42" name="Rounded Rectangle 41"/>
          <p:cNvSpPr/>
          <p:nvPr/>
        </p:nvSpPr>
        <p:spPr>
          <a:xfrm>
            <a:off x="6149340" y="5687568"/>
            <a:ext cx="2468880" cy="457200"/>
          </a:xfrm>
          <a:prstGeom prst="roundRect">
            <a:avLst>
              <a:gd name="adj" fmla="val 16000"/>
            </a:avLst>
          </a:prstGeom>
          <a:solidFill>
            <a:srgbClr val="18233B"/>
          </a:solidFill>
          <a:ln w="15875">
            <a:solidFill>
              <a:srgbClr val="EDA100"/>
            </a:solidFill>
          </a:ln>
          <a:effectLst/>
        </p:spPr>
        <p:style>
          <a:lnRef idx="1">
            <a:schemeClr val="accent1"/>
          </a:lnRef>
          <a:fillRef idx="3">
            <a:schemeClr val="accent1"/>
          </a:fillRef>
          <a:effectRef idx="2">
            <a:schemeClr val="accent1"/>
          </a:effectRef>
          <a:fontRef idx="minor">
            <a:schemeClr val="lt1"/>
          </a:fontRef>
        </p:style>
        <p:txBody>
          <a:bodyPr rtlCol="0" anchor="ctr" wrap="square" lIns="63500" rIns="63500" tIns="25400" bIns="25400"/>
          <a:lstStyle/>
          <a:p>
            <a:pPr algn="ctr"/>
            <a:r>
              <a:rPr sz="950" b="1">
                <a:solidFill>
                  <a:srgbClr val="F5F7FA"/>
                </a:solidFill>
                <a:latin typeface="Segoe UI"/>
              </a:rPr>
              <a:t>Notifications</a:t>
            </a:r>
          </a:p>
        </p:txBody>
      </p:sp>
      <p:sp>
        <p:nvSpPr>
          <p:cNvPr id="43" name="Rounded Rectangle 42"/>
          <p:cNvSpPr/>
          <p:nvPr/>
        </p:nvSpPr>
        <p:spPr>
          <a:xfrm>
            <a:off x="8727948" y="5687568"/>
            <a:ext cx="2468880" cy="457200"/>
          </a:xfrm>
          <a:prstGeom prst="roundRect">
            <a:avLst>
              <a:gd name="adj" fmla="val 16000"/>
            </a:avLst>
          </a:prstGeom>
          <a:solidFill>
            <a:srgbClr val="18233B"/>
          </a:solidFill>
          <a:ln w="15875">
            <a:solidFill>
              <a:srgbClr val="9AA7BD"/>
            </a:solidFill>
          </a:ln>
          <a:effectLst/>
        </p:spPr>
        <p:style>
          <a:lnRef idx="1">
            <a:schemeClr val="accent1"/>
          </a:lnRef>
          <a:fillRef idx="3">
            <a:schemeClr val="accent1"/>
          </a:fillRef>
          <a:effectRef idx="2">
            <a:schemeClr val="accent1"/>
          </a:effectRef>
          <a:fontRef idx="minor">
            <a:schemeClr val="lt1"/>
          </a:fontRef>
        </p:style>
        <p:txBody>
          <a:bodyPr rtlCol="0" anchor="ctr" wrap="square" lIns="63500" rIns="63500" tIns="25400" bIns="25400"/>
          <a:lstStyle/>
          <a:p>
            <a:pPr algn="ctr"/>
            <a:r>
              <a:rPr sz="950" b="1">
                <a:solidFill>
                  <a:srgbClr val="F5F7FA"/>
                </a:solidFill>
                <a:latin typeface="Segoe UI"/>
              </a:rPr>
              <a:t>Storage (Local/S3)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362895" y="-3291840"/>
            <a:ext cx="5852160" cy="5852160"/>
          </a:xfrm>
          <a:prstGeom prst="ellipse">
            <a:avLst/>
          </a:prstGeom>
          <a:noFill/>
          <a:ln w="13970">
            <a:solidFill>
              <a:srgbClr val="EDA100">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502920" y="6473952"/>
            <a:ext cx="11185855" cy="0"/>
          </a:xfrm>
          <a:prstGeom prst="line">
            <a:avLst/>
          </a:prstGeom>
          <a:ln w="9525">
            <a:solidFill>
              <a:srgbClr val="2A3654"/>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28816"/>
            <a:ext cx="4572000" cy="274320"/>
          </a:xfrm>
          <a:prstGeom prst="rect">
            <a:avLst/>
          </a:prstGeom>
          <a:noFill/>
        </p:spPr>
        <p:txBody>
          <a:bodyPr wrap="square" anchor="t" lIns="0" rIns="0" tIns="0" bIns="0">
            <a:noAutofit/>
          </a:bodyPr>
          <a:lstStyle/>
          <a:p>
            <a:pPr algn="l">
              <a:lnSpc>
                <a:spcPct val="100000"/>
              </a:lnSpc>
              <a:spcAft>
                <a:spcPts val="0"/>
              </a:spcAft>
            </a:pPr>
            <a:r>
              <a:rPr sz="900" b="0" i="0">
                <a:solidFill>
                  <a:srgbClr val="64708A"/>
                </a:solidFill>
                <a:latin typeface="Segoe UI"/>
              </a:rPr>
              <a:t>KAVACH  ·  PSB Hackathon 2026</a:t>
            </a:r>
          </a:p>
        </p:txBody>
      </p:sp>
      <p:sp>
        <p:nvSpPr>
          <p:cNvPr id="6" name="TextBox 5"/>
          <p:cNvSpPr txBox="1"/>
          <p:nvPr/>
        </p:nvSpPr>
        <p:spPr>
          <a:xfrm>
            <a:off x="4480560" y="6528816"/>
            <a:ext cx="4572000" cy="274320"/>
          </a:xfrm>
          <a:prstGeom prst="rect">
            <a:avLst/>
          </a:prstGeom>
          <a:noFill/>
        </p:spPr>
        <p:txBody>
          <a:bodyPr wrap="square" anchor="t" lIns="0" rIns="0" tIns="0" bIns="0">
            <a:noAutofit/>
          </a:bodyPr>
          <a:lstStyle/>
          <a:p>
            <a:pPr algn="ctr">
              <a:lnSpc>
                <a:spcPct val="100000"/>
              </a:lnSpc>
              <a:spcAft>
                <a:spcPts val="0"/>
              </a:spcAft>
            </a:pPr>
            <a:r>
              <a:rPr sz="900" b="0" i="0">
                <a:solidFill>
                  <a:srgbClr val="64708A"/>
                </a:solidFill>
                <a:latin typeface="Segoe UI"/>
              </a:rPr>
              <a:t>SCAN PIPELINE</a:t>
            </a:r>
          </a:p>
        </p:txBody>
      </p:sp>
      <p:sp>
        <p:nvSpPr>
          <p:cNvPr id="7" name="TextBox 6"/>
          <p:cNvSpPr txBox="1"/>
          <p:nvPr/>
        </p:nvSpPr>
        <p:spPr>
          <a:xfrm>
            <a:off x="10820095" y="6528816"/>
            <a:ext cx="914400" cy="274320"/>
          </a:xfrm>
          <a:prstGeom prst="rect">
            <a:avLst/>
          </a:prstGeom>
          <a:noFill/>
        </p:spPr>
        <p:txBody>
          <a:bodyPr wrap="square" anchor="t" lIns="0" rIns="0" tIns="0" bIns="0">
            <a:noAutofit/>
          </a:bodyPr>
          <a:lstStyle/>
          <a:p>
            <a:pPr algn="r">
              <a:lnSpc>
                <a:spcPct val="100000"/>
              </a:lnSpc>
              <a:spcAft>
                <a:spcPts val="0"/>
              </a:spcAft>
            </a:pPr>
            <a:r>
              <a:rPr sz="900" b="0" i="0">
                <a:solidFill>
                  <a:srgbClr val="64708A"/>
                </a:solidFill>
                <a:latin typeface="Segoe UI"/>
              </a:rPr>
              <a:t>08 / 22</a:t>
            </a:r>
          </a:p>
        </p:txBody>
      </p:sp>
      <p:sp>
        <p:nvSpPr>
          <p:cNvPr id="8" name="TextBox 7"/>
          <p:cNvSpPr txBox="1"/>
          <p:nvPr/>
        </p:nvSpPr>
        <p:spPr>
          <a:xfrm>
            <a:off x="502920" y="457200"/>
            <a:ext cx="9601200" cy="292608"/>
          </a:xfrm>
          <a:prstGeom prst="rect">
            <a:avLst/>
          </a:prstGeom>
          <a:noFill/>
        </p:spPr>
        <p:txBody>
          <a:bodyPr wrap="square" anchor="t" lIns="0" rIns="0" tIns="0" bIns="0">
            <a:noAutofit/>
          </a:bodyPr>
          <a:lstStyle/>
          <a:p>
            <a:pPr algn="l">
              <a:lnSpc>
                <a:spcPct val="100000"/>
              </a:lnSpc>
              <a:spcAft>
                <a:spcPts val="0"/>
              </a:spcAft>
            </a:pPr>
            <a:r>
              <a:rPr sz="1250" b="1" i="0" spc="160">
                <a:solidFill>
                  <a:srgbClr val="EDA100"/>
                </a:solidFill>
                <a:latin typeface="Segoe UI"/>
              </a:rPr>
              <a:t>SCAN PIPELINE</a:t>
            </a:r>
          </a:p>
        </p:txBody>
      </p:sp>
      <p:sp>
        <p:nvSpPr>
          <p:cNvPr id="9" name="TextBox 8"/>
          <p:cNvSpPr txBox="1"/>
          <p:nvPr/>
        </p:nvSpPr>
        <p:spPr>
          <a:xfrm>
            <a:off x="502920" y="768096"/>
            <a:ext cx="10789920" cy="566928"/>
          </a:xfrm>
          <a:prstGeom prst="rect">
            <a:avLst/>
          </a:prstGeom>
          <a:noFill/>
        </p:spPr>
        <p:txBody>
          <a:bodyPr wrap="square" anchor="t" lIns="0" rIns="0" tIns="0" bIns="0">
            <a:noAutofit/>
          </a:bodyPr>
          <a:lstStyle/>
          <a:p>
            <a:pPr algn="l">
              <a:lnSpc>
                <a:spcPct val="102000"/>
              </a:lnSpc>
              <a:spcAft>
                <a:spcPts val="0"/>
              </a:spcAft>
            </a:pPr>
            <a:r>
              <a:rPr sz="3000" b="1" i="0">
                <a:solidFill>
                  <a:srgbClr val="F5F7FA"/>
                </a:solidFill>
                <a:latin typeface="Segoe UI"/>
              </a:rPr>
              <a:t>From Push to Dashboard, Automatically</a:t>
            </a:r>
          </a:p>
        </p:txBody>
      </p:sp>
      <p:cxnSp>
        <p:nvCxnSpPr>
          <p:cNvPr id="10" name="Connector 9"/>
          <p:cNvCxnSpPr/>
          <p:nvPr/>
        </p:nvCxnSpPr>
        <p:spPr>
          <a:xfrm>
            <a:off x="502920" y="1399032"/>
            <a:ext cx="960120" cy="0"/>
          </a:xfrm>
          <a:prstGeom prst="line">
            <a:avLst/>
          </a:prstGeom>
          <a:ln w="28575">
            <a:solidFill>
              <a:srgbClr val="EDA100"/>
            </a:solidFill>
          </a:ln>
          <a:effectLst/>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02920" y="2286000"/>
            <a:ext cx="1112520" cy="960120"/>
          </a:xfrm>
          <a:prstGeom prst="roundRect">
            <a:avLst>
              <a:gd name="adj" fmla="val 14000"/>
            </a:avLst>
          </a:prstGeom>
          <a:solidFill>
            <a:srgbClr val="18233B"/>
          </a:solidFill>
          <a:ln w="1587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050" b="1">
                <a:solidFill>
                  <a:srgbClr val="F5F7FA"/>
                </a:solidFill>
                <a:latin typeface="Segoe UI"/>
              </a:rPr>
              <a:t>Repository</a:t>
            </a:r>
          </a:p>
        </p:txBody>
      </p:sp>
      <p:sp>
        <p:nvSpPr>
          <p:cNvPr id="12" name="Isosceles Triangle 11"/>
          <p:cNvSpPr/>
          <p:nvPr/>
        </p:nvSpPr>
        <p:spPr>
          <a:xfrm rot="5400000">
            <a:off x="1629156" y="2702052"/>
            <a:ext cx="118872" cy="128016"/>
          </a:xfrm>
          <a:prstGeom prst="triangle">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761744" y="2286000"/>
            <a:ext cx="1112520" cy="960120"/>
          </a:xfrm>
          <a:prstGeom prst="roundRect">
            <a:avLst>
              <a:gd name="adj" fmla="val 14000"/>
            </a:avLst>
          </a:prstGeom>
          <a:solidFill>
            <a:srgbClr val="18233B"/>
          </a:solidFill>
          <a:ln w="1587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050" b="1">
                <a:solidFill>
                  <a:srgbClr val="F5F7FA"/>
                </a:solidFill>
                <a:latin typeface="Segoe UI"/>
              </a:rPr>
              <a:t>Webhook</a:t>
            </a:r>
          </a:p>
        </p:txBody>
      </p:sp>
      <p:sp>
        <p:nvSpPr>
          <p:cNvPr id="14" name="Isosceles Triangle 13"/>
          <p:cNvSpPr/>
          <p:nvPr/>
        </p:nvSpPr>
        <p:spPr>
          <a:xfrm rot="5400000">
            <a:off x="2887980" y="2702052"/>
            <a:ext cx="118872" cy="128016"/>
          </a:xfrm>
          <a:prstGeom prst="triangle">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020568" y="2286000"/>
            <a:ext cx="1112520" cy="960120"/>
          </a:xfrm>
          <a:prstGeom prst="roundRect">
            <a:avLst>
              <a:gd name="adj" fmla="val 14000"/>
            </a:avLst>
          </a:prstGeom>
          <a:solidFill>
            <a:srgbClr val="18233B"/>
          </a:solidFill>
          <a:ln w="15875">
            <a:solidFill>
              <a:srgbClr val="E34948"/>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050" b="1">
                <a:solidFill>
                  <a:srgbClr val="F5F7FA"/>
                </a:solidFill>
                <a:latin typeface="Segoe UI"/>
              </a:rPr>
              <a:t>Queue</a:t>
            </a:r>
          </a:p>
        </p:txBody>
      </p:sp>
      <p:sp>
        <p:nvSpPr>
          <p:cNvPr id="16" name="Isosceles Triangle 15"/>
          <p:cNvSpPr/>
          <p:nvPr/>
        </p:nvSpPr>
        <p:spPr>
          <a:xfrm rot="5400000">
            <a:off x="4146804" y="2702052"/>
            <a:ext cx="118872" cy="128016"/>
          </a:xfrm>
          <a:prstGeom prst="triangle">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279392" y="2286000"/>
            <a:ext cx="1112520" cy="960120"/>
          </a:xfrm>
          <a:prstGeom prst="roundRect">
            <a:avLst>
              <a:gd name="adj" fmla="val 14000"/>
            </a:avLst>
          </a:prstGeom>
          <a:solidFill>
            <a:srgbClr val="18233B"/>
          </a:solidFill>
          <a:ln w="15875">
            <a:solidFill>
              <a:srgbClr val="6CAEF2"/>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050" b="1">
                <a:solidFill>
                  <a:srgbClr val="F5F7FA"/>
                </a:solidFill>
                <a:latin typeface="Segoe UI"/>
              </a:rPr>
              <a:t>Parallel
Scanners</a:t>
            </a:r>
          </a:p>
        </p:txBody>
      </p:sp>
      <p:sp>
        <p:nvSpPr>
          <p:cNvPr id="18" name="Isosceles Triangle 17"/>
          <p:cNvSpPr/>
          <p:nvPr/>
        </p:nvSpPr>
        <p:spPr>
          <a:xfrm rot="5400000">
            <a:off x="5405628" y="2702052"/>
            <a:ext cx="118872" cy="128016"/>
          </a:xfrm>
          <a:prstGeom prst="triangle">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538216" y="2286000"/>
            <a:ext cx="1112520" cy="960120"/>
          </a:xfrm>
          <a:prstGeom prst="roundRect">
            <a:avLst>
              <a:gd name="adj" fmla="val 14000"/>
            </a:avLst>
          </a:prstGeom>
          <a:solidFill>
            <a:srgbClr val="18233B"/>
          </a:solidFill>
          <a:ln w="15875">
            <a:solidFill>
              <a:srgbClr val="9AA7BD"/>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050" b="1">
                <a:solidFill>
                  <a:srgbClr val="F5F7FA"/>
                </a:solidFill>
                <a:latin typeface="Segoe UI"/>
              </a:rPr>
              <a:t>Aggregation</a:t>
            </a:r>
          </a:p>
        </p:txBody>
      </p:sp>
      <p:sp>
        <p:nvSpPr>
          <p:cNvPr id="20" name="Isosceles Triangle 19"/>
          <p:cNvSpPr/>
          <p:nvPr/>
        </p:nvSpPr>
        <p:spPr>
          <a:xfrm rot="5400000">
            <a:off x="6664452" y="2702052"/>
            <a:ext cx="118872" cy="128016"/>
          </a:xfrm>
          <a:prstGeom prst="triangle">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797040" y="2286000"/>
            <a:ext cx="1112520" cy="960120"/>
          </a:xfrm>
          <a:prstGeom prst="roundRect">
            <a:avLst>
              <a:gd name="adj" fmla="val 14000"/>
            </a:avLst>
          </a:prstGeom>
          <a:solidFill>
            <a:srgbClr val="18233B"/>
          </a:solidFill>
          <a:ln w="15875">
            <a:solidFill>
              <a:srgbClr val="4A3AA7"/>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050" b="1">
                <a:solidFill>
                  <a:srgbClr val="F5F7FA"/>
                </a:solidFill>
                <a:latin typeface="Segoe UI"/>
              </a:rPr>
              <a:t>AI</a:t>
            </a:r>
          </a:p>
        </p:txBody>
      </p:sp>
      <p:sp>
        <p:nvSpPr>
          <p:cNvPr id="22" name="Isosceles Triangle 21"/>
          <p:cNvSpPr/>
          <p:nvPr/>
        </p:nvSpPr>
        <p:spPr>
          <a:xfrm rot="5400000">
            <a:off x="7923276" y="2702052"/>
            <a:ext cx="118872" cy="128016"/>
          </a:xfrm>
          <a:prstGeom prst="triangle">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55864" y="2286000"/>
            <a:ext cx="1112520" cy="960120"/>
          </a:xfrm>
          <a:prstGeom prst="roundRect">
            <a:avLst>
              <a:gd name="adj" fmla="val 14000"/>
            </a:avLst>
          </a:prstGeom>
          <a:solidFill>
            <a:srgbClr val="18233B"/>
          </a:solidFill>
          <a:ln w="1587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050" b="1">
                <a:solidFill>
                  <a:srgbClr val="F5F7FA"/>
                </a:solidFill>
                <a:latin typeface="Segoe UI"/>
              </a:rPr>
              <a:t>Compliance</a:t>
            </a:r>
          </a:p>
        </p:txBody>
      </p:sp>
      <p:sp>
        <p:nvSpPr>
          <p:cNvPr id="24" name="Isosceles Triangle 23"/>
          <p:cNvSpPr/>
          <p:nvPr/>
        </p:nvSpPr>
        <p:spPr>
          <a:xfrm rot="5400000">
            <a:off x="9182100" y="2702052"/>
            <a:ext cx="118872" cy="128016"/>
          </a:xfrm>
          <a:prstGeom prst="triangle">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314688" y="2286000"/>
            <a:ext cx="1112520" cy="960120"/>
          </a:xfrm>
          <a:prstGeom prst="roundRect">
            <a:avLst>
              <a:gd name="adj" fmla="val 14000"/>
            </a:avLst>
          </a:prstGeom>
          <a:solidFill>
            <a:srgbClr val="18233B"/>
          </a:solidFill>
          <a:ln w="15875">
            <a:solidFill>
              <a:srgbClr val="EDA10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050" b="1">
                <a:solidFill>
                  <a:srgbClr val="F5F7FA"/>
                </a:solidFill>
                <a:latin typeface="Segoe UI"/>
              </a:rPr>
              <a:t>Reports</a:t>
            </a:r>
          </a:p>
        </p:txBody>
      </p:sp>
      <p:sp>
        <p:nvSpPr>
          <p:cNvPr id="26" name="Isosceles Triangle 25"/>
          <p:cNvSpPr/>
          <p:nvPr/>
        </p:nvSpPr>
        <p:spPr>
          <a:xfrm rot="5400000">
            <a:off x="10440924" y="2702052"/>
            <a:ext cx="118872" cy="128016"/>
          </a:xfrm>
          <a:prstGeom prst="triangle">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10573512" y="2286000"/>
            <a:ext cx="1112520" cy="960120"/>
          </a:xfrm>
          <a:prstGeom prst="roundRect">
            <a:avLst>
              <a:gd name="adj" fmla="val 14000"/>
            </a:avLst>
          </a:prstGeom>
          <a:solidFill>
            <a:srgbClr val="18233B"/>
          </a:solidFill>
          <a:ln w="15875">
            <a:solidFill>
              <a:srgbClr val="F5F7F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050" b="1">
                <a:solidFill>
                  <a:srgbClr val="F5F7FA"/>
                </a:solidFill>
                <a:latin typeface="Segoe UI"/>
              </a:rPr>
              <a:t>Dashboard</a:t>
            </a:r>
          </a:p>
        </p:txBody>
      </p:sp>
      <p:sp>
        <p:nvSpPr>
          <p:cNvPr id="28" name="Rounded Rectangle 27"/>
          <p:cNvSpPr/>
          <p:nvPr/>
        </p:nvSpPr>
        <p:spPr>
          <a:xfrm>
            <a:off x="502920" y="3657600"/>
            <a:ext cx="3611880" cy="2423160"/>
          </a:xfrm>
          <a:prstGeom prst="roundRect">
            <a:avLst>
              <a:gd name="adj" fmla="val 5500"/>
            </a:avLst>
          </a:prstGeom>
          <a:solidFill>
            <a:srgbClr val="13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94944" y="3867912"/>
            <a:ext cx="128016" cy="128016"/>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3831336"/>
            <a:ext cx="2971800" cy="292608"/>
          </a:xfrm>
          <a:prstGeom prst="rect">
            <a:avLst/>
          </a:prstGeom>
          <a:noFill/>
        </p:spPr>
        <p:txBody>
          <a:bodyPr wrap="square" anchor="t" lIns="0" rIns="0" tIns="0" bIns="0">
            <a:noAutofit/>
          </a:bodyPr>
          <a:lstStyle/>
          <a:p>
            <a:pPr algn="l">
              <a:lnSpc>
                <a:spcPct val="100000"/>
              </a:lnSpc>
              <a:spcAft>
                <a:spcPts val="0"/>
              </a:spcAft>
            </a:pPr>
            <a:r>
              <a:rPr sz="1350" b="1" i="0">
                <a:solidFill>
                  <a:srgbClr val="F5F7FA"/>
                </a:solidFill>
                <a:latin typeface="Segoe UI"/>
              </a:rPr>
              <a:t>Entry Points</a:t>
            </a:r>
          </a:p>
        </p:txBody>
      </p:sp>
      <p:sp>
        <p:nvSpPr>
          <p:cNvPr id="31" name="TextBox 30"/>
          <p:cNvSpPr txBox="1"/>
          <p:nvPr/>
        </p:nvSpPr>
        <p:spPr>
          <a:xfrm>
            <a:off x="722376" y="4187952"/>
            <a:ext cx="3172968" cy="1737360"/>
          </a:xfrm>
          <a:prstGeom prst="rect">
            <a:avLst/>
          </a:prstGeom>
          <a:noFill/>
        </p:spPr>
        <p:txBody>
          <a:bodyPr wrap="square" anchor="t" lIns="0" rIns="0" tIns="0" bIns="0">
            <a:noAutofit/>
          </a:bodyPr>
          <a:lstStyle/>
          <a:p>
            <a:pPr algn="l">
              <a:lnSpc>
                <a:spcPct val="108000"/>
              </a:lnSpc>
              <a:spcAft>
                <a:spcPts val="0"/>
              </a:spcAft>
            </a:pPr>
            <a:r>
              <a:rPr sz="1100" b="0" i="0">
                <a:solidFill>
                  <a:srgbClr val="9AA7BD"/>
                </a:solidFill>
                <a:latin typeface="Segoe UI"/>
              </a:rPr>
              <a:t>A scan starts from a user-submitted .zip upload, a direct repository URL, a bundled sandbox payload, a nightly scheduled rescan, or a verified GitHub push webhook (HMAC-checked via X-Hub-Signature-256) -- all converge on the same orchestration path.</a:t>
            </a:r>
          </a:p>
        </p:txBody>
      </p:sp>
      <p:sp>
        <p:nvSpPr>
          <p:cNvPr id="32" name="Rounded Rectangle 31"/>
          <p:cNvSpPr/>
          <p:nvPr/>
        </p:nvSpPr>
        <p:spPr>
          <a:xfrm>
            <a:off x="3785615" y="3657600"/>
            <a:ext cx="3611880" cy="2423160"/>
          </a:xfrm>
          <a:prstGeom prst="roundRect">
            <a:avLst>
              <a:gd name="adj" fmla="val 5500"/>
            </a:avLst>
          </a:prstGeom>
          <a:solidFill>
            <a:srgbClr val="13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3977639" y="3867912"/>
            <a:ext cx="128016" cy="128016"/>
          </a:xfrm>
          <a:prstGeom prst="ellipse">
            <a:avLst/>
          </a:prstGeom>
          <a:solidFill>
            <a:srgbClr val="E349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242815" y="3831336"/>
            <a:ext cx="2971800" cy="292608"/>
          </a:xfrm>
          <a:prstGeom prst="rect">
            <a:avLst/>
          </a:prstGeom>
          <a:noFill/>
        </p:spPr>
        <p:txBody>
          <a:bodyPr wrap="square" anchor="t" lIns="0" rIns="0" tIns="0" bIns="0">
            <a:noAutofit/>
          </a:bodyPr>
          <a:lstStyle/>
          <a:p>
            <a:pPr algn="l">
              <a:lnSpc>
                <a:spcPct val="100000"/>
              </a:lnSpc>
              <a:spcAft>
                <a:spcPts val="0"/>
              </a:spcAft>
            </a:pPr>
            <a:r>
              <a:rPr sz="1350" b="1" i="0">
                <a:solidFill>
                  <a:srgbClr val="F5F7FA"/>
                </a:solidFill>
                <a:latin typeface="Segoe UI"/>
              </a:rPr>
              <a:t>Fault-Isolated Fan-Out</a:t>
            </a:r>
          </a:p>
        </p:txBody>
      </p:sp>
      <p:sp>
        <p:nvSpPr>
          <p:cNvPr id="35" name="TextBox 34"/>
          <p:cNvSpPr txBox="1"/>
          <p:nvPr/>
        </p:nvSpPr>
        <p:spPr>
          <a:xfrm>
            <a:off x="4005071" y="4187952"/>
            <a:ext cx="3172968" cy="1737360"/>
          </a:xfrm>
          <a:prstGeom prst="rect">
            <a:avLst/>
          </a:prstGeom>
          <a:noFill/>
        </p:spPr>
        <p:txBody>
          <a:bodyPr wrap="square" anchor="t" lIns="0" rIns="0" tIns="0" bIns="0">
            <a:noAutofit/>
          </a:bodyPr>
          <a:lstStyle/>
          <a:p>
            <a:pPr algn="l">
              <a:lnSpc>
                <a:spcPct val="108000"/>
              </a:lnSpc>
              <a:spcAft>
                <a:spcPts val="0"/>
              </a:spcAft>
            </a:pPr>
            <a:r>
              <a:rPr sz="1100" b="0" i="0">
                <a:solidFill>
                  <a:srgbClr val="9AA7BD"/>
                </a:solidFill>
                <a:latin typeface="Segoe UI"/>
              </a:rPr>
              <a:t>prepare_scan_job dispatches a Celery chord: all 9 scanner tasks run in parallel, each with its own timeout and 3-attempt retry with backoff. A scanner failing (or a missing local tool) never blocks the others -- the chord callback always fires.</a:t>
            </a:r>
          </a:p>
        </p:txBody>
      </p:sp>
      <p:sp>
        <p:nvSpPr>
          <p:cNvPr id="36" name="Rounded Rectangle 35"/>
          <p:cNvSpPr/>
          <p:nvPr/>
        </p:nvSpPr>
        <p:spPr>
          <a:xfrm>
            <a:off x="7571231" y="3657600"/>
            <a:ext cx="3611880" cy="2423160"/>
          </a:xfrm>
          <a:prstGeom prst="roundRect">
            <a:avLst>
              <a:gd name="adj" fmla="val 5500"/>
            </a:avLst>
          </a:prstGeom>
          <a:solidFill>
            <a:srgbClr val="13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7763255" y="3867912"/>
            <a:ext cx="128016" cy="128016"/>
          </a:xfrm>
          <a:prstGeom prst="ellipse">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28431" y="3831336"/>
            <a:ext cx="2971800" cy="292608"/>
          </a:xfrm>
          <a:prstGeom prst="rect">
            <a:avLst/>
          </a:prstGeom>
          <a:noFill/>
        </p:spPr>
        <p:txBody>
          <a:bodyPr wrap="square" anchor="t" lIns="0" rIns="0" tIns="0" bIns="0">
            <a:noAutofit/>
          </a:bodyPr>
          <a:lstStyle/>
          <a:p>
            <a:pPr algn="l">
              <a:lnSpc>
                <a:spcPct val="100000"/>
              </a:lnSpc>
              <a:spcAft>
                <a:spcPts val="0"/>
              </a:spcAft>
            </a:pPr>
            <a:r>
              <a:rPr sz="1350" b="1" i="0">
                <a:solidFill>
                  <a:srgbClr val="F5F7FA"/>
                </a:solidFill>
                <a:latin typeface="Segoe UI"/>
              </a:rPr>
              <a:t>Live Progress</a:t>
            </a:r>
          </a:p>
        </p:txBody>
      </p:sp>
      <p:sp>
        <p:nvSpPr>
          <p:cNvPr id="39" name="TextBox 38"/>
          <p:cNvSpPr txBox="1"/>
          <p:nvPr/>
        </p:nvSpPr>
        <p:spPr>
          <a:xfrm>
            <a:off x="7790687" y="4187952"/>
            <a:ext cx="3172968" cy="1737360"/>
          </a:xfrm>
          <a:prstGeom prst="rect">
            <a:avLst/>
          </a:prstGeom>
          <a:noFill/>
        </p:spPr>
        <p:txBody>
          <a:bodyPr wrap="square" anchor="t" lIns="0" rIns="0" tIns="0" bIns="0">
            <a:noAutofit/>
          </a:bodyPr>
          <a:lstStyle/>
          <a:p>
            <a:pPr algn="l">
              <a:lnSpc>
                <a:spcPct val="108000"/>
              </a:lnSpc>
              <a:spcAft>
                <a:spcPts val="0"/>
              </a:spcAft>
            </a:pPr>
            <a:r>
              <a:rPr sz="1100" b="0" i="0">
                <a:solidFill>
                  <a:srgbClr val="9AA7BD"/>
                </a:solidFill>
                <a:latin typeface="Segoe UI"/>
              </a:rPr>
              <a:t>Per-scanner status lives in Redis (queued/running/completed/failed) and streams to the client over a WebSocket (/scan/{id}/ws) -- the dashboard shows real-time progress, not a spinner.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362895" y="-3291840"/>
            <a:ext cx="5852160" cy="5852160"/>
          </a:xfrm>
          <a:prstGeom prst="ellipse">
            <a:avLst/>
          </a:prstGeom>
          <a:noFill/>
          <a:ln w="13970">
            <a:solidFill>
              <a:srgbClr val="EDA100">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502920" y="6473952"/>
            <a:ext cx="11185855" cy="0"/>
          </a:xfrm>
          <a:prstGeom prst="line">
            <a:avLst/>
          </a:prstGeom>
          <a:ln w="9525">
            <a:solidFill>
              <a:srgbClr val="2A3654"/>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28816"/>
            <a:ext cx="4572000" cy="274320"/>
          </a:xfrm>
          <a:prstGeom prst="rect">
            <a:avLst/>
          </a:prstGeom>
          <a:noFill/>
        </p:spPr>
        <p:txBody>
          <a:bodyPr wrap="square" anchor="t" lIns="0" rIns="0" tIns="0" bIns="0">
            <a:noAutofit/>
          </a:bodyPr>
          <a:lstStyle/>
          <a:p>
            <a:pPr algn="l">
              <a:lnSpc>
                <a:spcPct val="100000"/>
              </a:lnSpc>
              <a:spcAft>
                <a:spcPts val="0"/>
              </a:spcAft>
            </a:pPr>
            <a:r>
              <a:rPr sz="900" b="0" i="0">
                <a:solidFill>
                  <a:srgbClr val="64708A"/>
                </a:solidFill>
                <a:latin typeface="Segoe UI"/>
              </a:rPr>
              <a:t>KAVACH  ·  PSB Hackathon 2026</a:t>
            </a:r>
          </a:p>
        </p:txBody>
      </p:sp>
      <p:sp>
        <p:nvSpPr>
          <p:cNvPr id="6" name="TextBox 5"/>
          <p:cNvSpPr txBox="1"/>
          <p:nvPr/>
        </p:nvSpPr>
        <p:spPr>
          <a:xfrm>
            <a:off x="4480560" y="6528816"/>
            <a:ext cx="4572000" cy="274320"/>
          </a:xfrm>
          <a:prstGeom prst="rect">
            <a:avLst/>
          </a:prstGeom>
          <a:noFill/>
        </p:spPr>
        <p:txBody>
          <a:bodyPr wrap="square" anchor="t" lIns="0" rIns="0" tIns="0" bIns="0">
            <a:noAutofit/>
          </a:bodyPr>
          <a:lstStyle/>
          <a:p>
            <a:pPr algn="ctr">
              <a:lnSpc>
                <a:spcPct val="100000"/>
              </a:lnSpc>
              <a:spcAft>
                <a:spcPts val="0"/>
              </a:spcAft>
            </a:pPr>
            <a:r>
              <a:rPr sz="900" b="0" i="0">
                <a:solidFill>
                  <a:srgbClr val="64708A"/>
                </a:solidFill>
                <a:latin typeface="Segoe UI"/>
              </a:rPr>
              <a:t>PARALLEL SCANNING ENGINE</a:t>
            </a:r>
          </a:p>
        </p:txBody>
      </p:sp>
      <p:sp>
        <p:nvSpPr>
          <p:cNvPr id="7" name="TextBox 6"/>
          <p:cNvSpPr txBox="1"/>
          <p:nvPr/>
        </p:nvSpPr>
        <p:spPr>
          <a:xfrm>
            <a:off x="10820095" y="6528816"/>
            <a:ext cx="914400" cy="274320"/>
          </a:xfrm>
          <a:prstGeom prst="rect">
            <a:avLst/>
          </a:prstGeom>
          <a:noFill/>
        </p:spPr>
        <p:txBody>
          <a:bodyPr wrap="square" anchor="t" lIns="0" rIns="0" tIns="0" bIns="0">
            <a:noAutofit/>
          </a:bodyPr>
          <a:lstStyle/>
          <a:p>
            <a:pPr algn="r">
              <a:lnSpc>
                <a:spcPct val="100000"/>
              </a:lnSpc>
              <a:spcAft>
                <a:spcPts val="0"/>
              </a:spcAft>
            </a:pPr>
            <a:r>
              <a:rPr sz="900" b="0" i="0">
                <a:solidFill>
                  <a:srgbClr val="64708A"/>
                </a:solidFill>
                <a:latin typeface="Segoe UI"/>
              </a:rPr>
              <a:t>09 / 22</a:t>
            </a:r>
          </a:p>
        </p:txBody>
      </p:sp>
      <p:sp>
        <p:nvSpPr>
          <p:cNvPr id="8" name="TextBox 7"/>
          <p:cNvSpPr txBox="1"/>
          <p:nvPr/>
        </p:nvSpPr>
        <p:spPr>
          <a:xfrm>
            <a:off x="502920" y="457200"/>
            <a:ext cx="9601200" cy="292608"/>
          </a:xfrm>
          <a:prstGeom prst="rect">
            <a:avLst/>
          </a:prstGeom>
          <a:noFill/>
        </p:spPr>
        <p:txBody>
          <a:bodyPr wrap="square" anchor="t" lIns="0" rIns="0" tIns="0" bIns="0">
            <a:noAutofit/>
          </a:bodyPr>
          <a:lstStyle/>
          <a:p>
            <a:pPr algn="l">
              <a:lnSpc>
                <a:spcPct val="100000"/>
              </a:lnSpc>
              <a:spcAft>
                <a:spcPts val="0"/>
              </a:spcAft>
            </a:pPr>
            <a:r>
              <a:rPr sz="1250" b="1" i="0" spc="160">
                <a:solidFill>
                  <a:srgbClr val="EDA100"/>
                </a:solidFill>
                <a:latin typeface="Segoe UI"/>
              </a:rPr>
              <a:t>PARALLEL SCANNING ENGINE</a:t>
            </a:r>
          </a:p>
        </p:txBody>
      </p:sp>
      <p:sp>
        <p:nvSpPr>
          <p:cNvPr id="9" name="TextBox 8"/>
          <p:cNvSpPr txBox="1"/>
          <p:nvPr/>
        </p:nvSpPr>
        <p:spPr>
          <a:xfrm>
            <a:off x="502920" y="768096"/>
            <a:ext cx="10789920" cy="566928"/>
          </a:xfrm>
          <a:prstGeom prst="rect">
            <a:avLst/>
          </a:prstGeom>
          <a:noFill/>
        </p:spPr>
        <p:txBody>
          <a:bodyPr wrap="square" anchor="t" lIns="0" rIns="0" tIns="0" bIns="0">
            <a:noAutofit/>
          </a:bodyPr>
          <a:lstStyle/>
          <a:p>
            <a:pPr algn="l">
              <a:lnSpc>
                <a:spcPct val="102000"/>
              </a:lnSpc>
              <a:spcAft>
                <a:spcPts val="0"/>
              </a:spcAft>
            </a:pPr>
            <a:r>
              <a:rPr sz="2600" b="1" i="0">
                <a:solidFill>
                  <a:srgbClr val="F5F7FA"/>
                </a:solidFill>
                <a:latin typeface="Segoe UI"/>
              </a:rPr>
              <a:t>9 Independent Celery Tasks, Fanned Out Per Scan</a:t>
            </a:r>
          </a:p>
        </p:txBody>
      </p:sp>
      <p:cxnSp>
        <p:nvCxnSpPr>
          <p:cNvPr id="10" name="Connector 9"/>
          <p:cNvCxnSpPr/>
          <p:nvPr/>
        </p:nvCxnSpPr>
        <p:spPr>
          <a:xfrm>
            <a:off x="502920" y="1399032"/>
            <a:ext cx="960120" cy="0"/>
          </a:xfrm>
          <a:prstGeom prst="line">
            <a:avLst/>
          </a:prstGeom>
          <a:ln w="28575">
            <a:solidFill>
              <a:srgbClr val="EDA100"/>
            </a:solidFill>
          </a:ln>
          <a:effectLst/>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02920" y="1874519"/>
            <a:ext cx="3630168" cy="1371600"/>
          </a:xfrm>
          <a:prstGeom prst="roundRect">
            <a:avLst>
              <a:gd name="adj" fmla="val 5500"/>
            </a:avLst>
          </a:prstGeom>
          <a:solidFill>
            <a:srgbClr val="13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94944" y="2084831"/>
            <a:ext cx="128016" cy="128016"/>
          </a:xfrm>
          <a:prstGeom prst="ellipse">
            <a:avLst/>
          </a:prstGeom>
          <a:solidFill>
            <a:srgbClr val="6CA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2048255"/>
            <a:ext cx="2990088" cy="292608"/>
          </a:xfrm>
          <a:prstGeom prst="rect">
            <a:avLst/>
          </a:prstGeom>
          <a:noFill/>
        </p:spPr>
        <p:txBody>
          <a:bodyPr wrap="square" anchor="t" lIns="0" rIns="0" tIns="0" bIns="0">
            <a:noAutofit/>
          </a:bodyPr>
          <a:lstStyle/>
          <a:p>
            <a:pPr algn="l">
              <a:lnSpc>
                <a:spcPct val="100000"/>
              </a:lnSpc>
              <a:spcAft>
                <a:spcPts val="0"/>
              </a:spcAft>
            </a:pPr>
            <a:r>
              <a:rPr sz="1250" b="1" i="0">
                <a:solidFill>
                  <a:srgbClr val="F5F7FA"/>
                </a:solidFill>
                <a:latin typeface="Segoe UI"/>
              </a:rPr>
              <a:t>Semgrep</a:t>
            </a:r>
          </a:p>
        </p:txBody>
      </p:sp>
      <p:sp>
        <p:nvSpPr>
          <p:cNvPr id="14" name="TextBox 13"/>
          <p:cNvSpPr txBox="1"/>
          <p:nvPr/>
        </p:nvSpPr>
        <p:spPr>
          <a:xfrm>
            <a:off x="722376" y="2404871"/>
            <a:ext cx="3191256" cy="685800"/>
          </a:xfrm>
          <a:prstGeom prst="rect">
            <a:avLst/>
          </a:prstGeom>
          <a:noFill/>
        </p:spPr>
        <p:txBody>
          <a:bodyPr wrap="square" anchor="t" lIns="0" rIns="0" tIns="0" bIns="0">
            <a:noAutofit/>
          </a:bodyPr>
          <a:lstStyle/>
          <a:p>
            <a:pPr algn="l">
              <a:lnSpc>
                <a:spcPct val="108000"/>
              </a:lnSpc>
              <a:spcAft>
                <a:spcPts val="0"/>
              </a:spcAft>
            </a:pPr>
            <a:r>
              <a:rPr sz="969" b="0" i="0">
                <a:solidFill>
                  <a:srgbClr val="9AA7BD"/>
                </a:solidFill>
                <a:latin typeface="Segoe UI"/>
              </a:rPr>
              <a:t>Custom rule pack: secrets, SQLi/cmd injection, weak crypto, unsafe deserialization, path traversal, insecure randomness. Regex fallback if the binary is unavailable.</a:t>
            </a:r>
          </a:p>
        </p:txBody>
      </p:sp>
      <p:sp>
        <p:nvSpPr>
          <p:cNvPr id="15" name="Rounded Rectangle 14"/>
          <p:cNvSpPr/>
          <p:nvPr/>
        </p:nvSpPr>
        <p:spPr>
          <a:xfrm>
            <a:off x="4279392" y="1874519"/>
            <a:ext cx="3630168" cy="1371600"/>
          </a:xfrm>
          <a:prstGeom prst="roundRect">
            <a:avLst>
              <a:gd name="adj" fmla="val 5500"/>
            </a:avLst>
          </a:prstGeom>
          <a:solidFill>
            <a:srgbClr val="13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471416" y="2084831"/>
            <a:ext cx="128016" cy="128016"/>
          </a:xfrm>
          <a:prstGeom prst="ellipse">
            <a:avLst/>
          </a:prstGeom>
          <a:solidFill>
            <a:srgbClr val="6CA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36592" y="2048255"/>
            <a:ext cx="2990088" cy="292608"/>
          </a:xfrm>
          <a:prstGeom prst="rect">
            <a:avLst/>
          </a:prstGeom>
          <a:noFill/>
        </p:spPr>
        <p:txBody>
          <a:bodyPr wrap="square" anchor="t" lIns="0" rIns="0" tIns="0" bIns="0">
            <a:noAutofit/>
          </a:bodyPr>
          <a:lstStyle/>
          <a:p>
            <a:pPr algn="l">
              <a:lnSpc>
                <a:spcPct val="100000"/>
              </a:lnSpc>
              <a:spcAft>
                <a:spcPts val="0"/>
              </a:spcAft>
            </a:pPr>
            <a:r>
              <a:rPr sz="1250" b="1" i="0">
                <a:solidFill>
                  <a:srgbClr val="F5F7FA"/>
                </a:solidFill>
                <a:latin typeface="Segoe UI"/>
              </a:rPr>
              <a:t>Joern</a:t>
            </a:r>
          </a:p>
        </p:txBody>
      </p:sp>
      <p:sp>
        <p:nvSpPr>
          <p:cNvPr id="18" name="TextBox 17"/>
          <p:cNvSpPr txBox="1"/>
          <p:nvPr/>
        </p:nvSpPr>
        <p:spPr>
          <a:xfrm>
            <a:off x="4498848" y="2404871"/>
            <a:ext cx="3191256" cy="685800"/>
          </a:xfrm>
          <a:prstGeom prst="rect">
            <a:avLst/>
          </a:prstGeom>
          <a:noFill/>
        </p:spPr>
        <p:txBody>
          <a:bodyPr wrap="square" anchor="t" lIns="0" rIns="0" tIns="0" bIns="0">
            <a:noAutofit/>
          </a:bodyPr>
          <a:lstStyle/>
          <a:p>
            <a:pPr algn="l">
              <a:lnSpc>
                <a:spcPct val="108000"/>
              </a:lnSpc>
              <a:spcAft>
                <a:spcPts val="0"/>
              </a:spcAft>
            </a:pPr>
            <a:r>
              <a:rPr sz="969" b="0" i="0">
                <a:solidFill>
                  <a:srgbClr val="9AA7BD"/>
                </a:solidFill>
                <a:latin typeface="Segoe UI"/>
              </a:rPr>
              <a:t>Code-property-graph reachability from dangerous sinks (exec, eval, pickle.loads) back to untrusted input -- runs when a local Joern install is present.</a:t>
            </a:r>
          </a:p>
        </p:txBody>
      </p:sp>
      <p:sp>
        <p:nvSpPr>
          <p:cNvPr id="19" name="Rounded Rectangle 18"/>
          <p:cNvSpPr/>
          <p:nvPr/>
        </p:nvSpPr>
        <p:spPr>
          <a:xfrm>
            <a:off x="8055864" y="1874519"/>
            <a:ext cx="3630168" cy="1371600"/>
          </a:xfrm>
          <a:prstGeom prst="roundRect">
            <a:avLst>
              <a:gd name="adj" fmla="val 5500"/>
            </a:avLst>
          </a:prstGeom>
          <a:solidFill>
            <a:srgbClr val="13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247888" y="2084831"/>
            <a:ext cx="128016" cy="128016"/>
          </a:xfrm>
          <a:prstGeom prst="ellipse">
            <a:avLst/>
          </a:prstGeom>
          <a:solidFill>
            <a:srgbClr val="6CA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13064" y="2048255"/>
            <a:ext cx="2990088" cy="292608"/>
          </a:xfrm>
          <a:prstGeom prst="rect">
            <a:avLst/>
          </a:prstGeom>
          <a:noFill/>
        </p:spPr>
        <p:txBody>
          <a:bodyPr wrap="square" anchor="t" lIns="0" rIns="0" tIns="0" bIns="0">
            <a:noAutofit/>
          </a:bodyPr>
          <a:lstStyle/>
          <a:p>
            <a:pPr algn="l">
              <a:lnSpc>
                <a:spcPct val="100000"/>
              </a:lnSpc>
              <a:spcAft>
                <a:spcPts val="0"/>
              </a:spcAft>
            </a:pPr>
            <a:r>
              <a:rPr sz="1250" b="1" i="0">
                <a:solidFill>
                  <a:srgbClr val="F5F7FA"/>
                </a:solidFill>
                <a:latin typeface="Segoe UI"/>
              </a:rPr>
              <a:t>AST-Grep</a:t>
            </a:r>
          </a:p>
        </p:txBody>
      </p:sp>
      <p:sp>
        <p:nvSpPr>
          <p:cNvPr id="22" name="TextBox 21"/>
          <p:cNvSpPr txBox="1"/>
          <p:nvPr/>
        </p:nvSpPr>
        <p:spPr>
          <a:xfrm>
            <a:off x="8275320" y="2404871"/>
            <a:ext cx="3191256" cy="685800"/>
          </a:xfrm>
          <a:prstGeom prst="rect">
            <a:avLst/>
          </a:prstGeom>
          <a:noFill/>
        </p:spPr>
        <p:txBody>
          <a:bodyPr wrap="square" anchor="t" lIns="0" rIns="0" tIns="0" bIns="0">
            <a:noAutofit/>
          </a:bodyPr>
          <a:lstStyle/>
          <a:p>
            <a:pPr algn="l">
              <a:lnSpc>
                <a:spcPct val="108000"/>
              </a:lnSpc>
              <a:spcAft>
                <a:spcPts val="0"/>
              </a:spcAft>
            </a:pPr>
            <a:r>
              <a:rPr sz="969" b="0" i="0">
                <a:solidFill>
                  <a:srgbClr val="9AA7BD"/>
                </a:solidFill>
                <a:latin typeface="Segoe UI"/>
              </a:rPr>
              <a:t>Structural AST rules (eval/exec, unsafe child_process.exec, asserts used as security checks) -- deliberately independent of Semgrep's pattern language.</a:t>
            </a:r>
          </a:p>
        </p:txBody>
      </p:sp>
      <p:sp>
        <p:nvSpPr>
          <p:cNvPr id="23" name="Rounded Rectangle 22"/>
          <p:cNvSpPr/>
          <p:nvPr/>
        </p:nvSpPr>
        <p:spPr>
          <a:xfrm>
            <a:off x="502920" y="3355848"/>
            <a:ext cx="3630168" cy="1371600"/>
          </a:xfrm>
          <a:prstGeom prst="roundRect">
            <a:avLst>
              <a:gd name="adj" fmla="val 5500"/>
            </a:avLst>
          </a:prstGeom>
          <a:solidFill>
            <a:srgbClr val="13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94944" y="3566160"/>
            <a:ext cx="128016" cy="128016"/>
          </a:xfrm>
          <a:prstGeom prst="ellipse">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0120" y="3529584"/>
            <a:ext cx="2990088" cy="292608"/>
          </a:xfrm>
          <a:prstGeom prst="rect">
            <a:avLst/>
          </a:prstGeom>
          <a:noFill/>
        </p:spPr>
        <p:txBody>
          <a:bodyPr wrap="square" anchor="t" lIns="0" rIns="0" tIns="0" bIns="0">
            <a:noAutofit/>
          </a:bodyPr>
          <a:lstStyle/>
          <a:p>
            <a:pPr algn="l">
              <a:lnSpc>
                <a:spcPct val="100000"/>
              </a:lnSpc>
              <a:spcAft>
                <a:spcPts val="0"/>
              </a:spcAft>
            </a:pPr>
            <a:r>
              <a:rPr sz="1250" b="1" i="0">
                <a:solidFill>
                  <a:srgbClr val="F5F7FA"/>
                </a:solidFill>
                <a:latin typeface="Segoe UI"/>
              </a:rPr>
              <a:t>Dependency Scanner</a:t>
            </a:r>
          </a:p>
        </p:txBody>
      </p:sp>
      <p:sp>
        <p:nvSpPr>
          <p:cNvPr id="26" name="TextBox 25"/>
          <p:cNvSpPr txBox="1"/>
          <p:nvPr/>
        </p:nvSpPr>
        <p:spPr>
          <a:xfrm>
            <a:off x="722376" y="3886200"/>
            <a:ext cx="3191256" cy="685800"/>
          </a:xfrm>
          <a:prstGeom prst="rect">
            <a:avLst/>
          </a:prstGeom>
          <a:noFill/>
        </p:spPr>
        <p:txBody>
          <a:bodyPr wrap="square" anchor="t" lIns="0" rIns="0" tIns="0" bIns="0">
            <a:noAutofit/>
          </a:bodyPr>
          <a:lstStyle/>
          <a:p>
            <a:pPr algn="l">
              <a:lnSpc>
                <a:spcPct val="108000"/>
              </a:lnSpc>
              <a:spcAft>
                <a:spcPts val="0"/>
              </a:spcAft>
            </a:pPr>
            <a:r>
              <a:rPr sz="969" b="0" i="0">
                <a:solidFill>
                  <a:srgbClr val="9AA7BD"/>
                </a:solidFill>
                <a:latin typeface="Segoe UI"/>
              </a:rPr>
              <a:t>pip-audit + a CycloneDX SBOM, cross-checked against OSV.dev batch queries and a rate-limited NVD keyword search -- 3 independent CVE lookups.</a:t>
            </a:r>
          </a:p>
        </p:txBody>
      </p:sp>
      <p:sp>
        <p:nvSpPr>
          <p:cNvPr id="27" name="Rounded Rectangle 26"/>
          <p:cNvSpPr/>
          <p:nvPr/>
        </p:nvSpPr>
        <p:spPr>
          <a:xfrm>
            <a:off x="4279392" y="3355848"/>
            <a:ext cx="3630168" cy="1371600"/>
          </a:xfrm>
          <a:prstGeom prst="roundRect">
            <a:avLst>
              <a:gd name="adj" fmla="val 5500"/>
            </a:avLst>
          </a:prstGeom>
          <a:solidFill>
            <a:srgbClr val="13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471416" y="3566160"/>
            <a:ext cx="128016" cy="128016"/>
          </a:xfrm>
          <a:prstGeom prst="ellipse">
            <a:avLst/>
          </a:prstGeom>
          <a:solidFill>
            <a:srgbClr val="6FD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736592" y="3529584"/>
            <a:ext cx="2990088" cy="292608"/>
          </a:xfrm>
          <a:prstGeom prst="rect">
            <a:avLst/>
          </a:prstGeom>
          <a:noFill/>
        </p:spPr>
        <p:txBody>
          <a:bodyPr wrap="square" anchor="t" lIns="0" rIns="0" tIns="0" bIns="0">
            <a:noAutofit/>
          </a:bodyPr>
          <a:lstStyle/>
          <a:p>
            <a:pPr algn="l">
              <a:lnSpc>
                <a:spcPct val="100000"/>
              </a:lnSpc>
              <a:spcAft>
                <a:spcPts val="0"/>
              </a:spcAft>
            </a:pPr>
            <a:r>
              <a:rPr sz="1250" b="1" i="0">
                <a:solidFill>
                  <a:srgbClr val="F5F7FA"/>
                </a:solidFill>
                <a:latin typeface="Segoe UI"/>
              </a:rPr>
              <a:t>Configuration Scanner</a:t>
            </a:r>
          </a:p>
        </p:txBody>
      </p:sp>
      <p:sp>
        <p:nvSpPr>
          <p:cNvPr id="30" name="TextBox 29"/>
          <p:cNvSpPr txBox="1"/>
          <p:nvPr/>
        </p:nvSpPr>
        <p:spPr>
          <a:xfrm>
            <a:off x="4498848" y="3886200"/>
            <a:ext cx="3191256" cy="685800"/>
          </a:xfrm>
          <a:prstGeom prst="rect">
            <a:avLst/>
          </a:prstGeom>
          <a:noFill/>
        </p:spPr>
        <p:txBody>
          <a:bodyPr wrap="square" anchor="t" lIns="0" rIns="0" tIns="0" bIns="0">
            <a:noAutofit/>
          </a:bodyPr>
          <a:lstStyle/>
          <a:p>
            <a:pPr algn="l">
              <a:lnSpc>
                <a:spcPct val="108000"/>
              </a:lnSpc>
              <a:spcAft>
                <a:spcPts val="0"/>
              </a:spcAft>
            </a:pPr>
            <a:r>
              <a:rPr sz="969" b="0" i="0">
                <a:solidFill>
                  <a:srgbClr val="9AA7BD"/>
                </a:solidFill>
                <a:latin typeface="Segoe UI"/>
              </a:rPr>
              <a:t>Structural YAML analysis of Kubernetes manifests, Docker Compose, and GitHub Actions, plus a dedicated Dockerfile instruction analyzer.</a:t>
            </a:r>
          </a:p>
        </p:txBody>
      </p:sp>
      <p:sp>
        <p:nvSpPr>
          <p:cNvPr id="31" name="Rounded Rectangle 30"/>
          <p:cNvSpPr/>
          <p:nvPr/>
        </p:nvSpPr>
        <p:spPr>
          <a:xfrm>
            <a:off x="8055864" y="3355848"/>
            <a:ext cx="3630168" cy="1371600"/>
          </a:xfrm>
          <a:prstGeom prst="roundRect">
            <a:avLst>
              <a:gd name="adj" fmla="val 5500"/>
            </a:avLst>
          </a:prstGeom>
          <a:solidFill>
            <a:srgbClr val="13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247888" y="3566160"/>
            <a:ext cx="128016" cy="128016"/>
          </a:xfrm>
          <a:prstGeom prst="ellipse">
            <a:avLst/>
          </a:prstGeom>
          <a:solidFill>
            <a:srgbClr val="F28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513064" y="3529584"/>
            <a:ext cx="2990088" cy="292608"/>
          </a:xfrm>
          <a:prstGeom prst="rect">
            <a:avLst/>
          </a:prstGeom>
          <a:noFill/>
        </p:spPr>
        <p:txBody>
          <a:bodyPr wrap="square" anchor="t" lIns="0" rIns="0" tIns="0" bIns="0">
            <a:noAutofit/>
          </a:bodyPr>
          <a:lstStyle/>
          <a:p>
            <a:pPr algn="l">
              <a:lnSpc>
                <a:spcPct val="100000"/>
              </a:lnSpc>
              <a:spcAft>
                <a:spcPts val="0"/>
              </a:spcAft>
            </a:pPr>
            <a:r>
              <a:rPr sz="1250" b="1" i="0">
                <a:solidFill>
                  <a:srgbClr val="F5F7FA"/>
                </a:solidFill>
                <a:latin typeface="Segoe UI"/>
              </a:rPr>
              <a:t>Secrets Detection</a:t>
            </a:r>
          </a:p>
        </p:txBody>
      </p:sp>
      <p:sp>
        <p:nvSpPr>
          <p:cNvPr id="34" name="TextBox 33"/>
          <p:cNvSpPr txBox="1"/>
          <p:nvPr/>
        </p:nvSpPr>
        <p:spPr>
          <a:xfrm>
            <a:off x="8275320" y="3886200"/>
            <a:ext cx="3191256" cy="685800"/>
          </a:xfrm>
          <a:prstGeom prst="rect">
            <a:avLst/>
          </a:prstGeom>
          <a:noFill/>
        </p:spPr>
        <p:txBody>
          <a:bodyPr wrap="square" anchor="t" lIns="0" rIns="0" tIns="0" bIns="0">
            <a:noAutofit/>
          </a:bodyPr>
          <a:lstStyle/>
          <a:p>
            <a:pPr algn="l">
              <a:lnSpc>
                <a:spcPct val="108000"/>
              </a:lnSpc>
              <a:spcAft>
                <a:spcPts val="0"/>
              </a:spcAft>
            </a:pPr>
            <a:r>
              <a:rPr sz="969" b="0" i="0">
                <a:solidFill>
                  <a:srgbClr val="9AA7BD"/>
                </a:solidFill>
                <a:latin typeface="Segoe UI"/>
              </a:rPr>
              <a:t>In-house, gitleaks-style regex engine: AWS/GitHub/GitLab/Slack/Stripe keys, private-key blocks, JWTs, credentials embedded in URLs.</a:t>
            </a:r>
          </a:p>
        </p:txBody>
      </p:sp>
      <p:sp>
        <p:nvSpPr>
          <p:cNvPr id="35" name="Rounded Rectangle 34"/>
          <p:cNvSpPr/>
          <p:nvPr/>
        </p:nvSpPr>
        <p:spPr>
          <a:xfrm>
            <a:off x="502920" y="4892040"/>
            <a:ext cx="11183112" cy="1234440"/>
          </a:xfrm>
          <a:prstGeom prst="roundRect">
            <a:avLst>
              <a:gd name="adj" fmla="val 5500"/>
            </a:avLst>
          </a:prstGeom>
          <a:solidFill>
            <a:srgbClr val="18233B"/>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5010912"/>
            <a:ext cx="10725912" cy="274320"/>
          </a:xfrm>
          <a:prstGeom prst="rect">
            <a:avLst/>
          </a:prstGeom>
          <a:noFill/>
        </p:spPr>
        <p:txBody>
          <a:bodyPr wrap="square" anchor="t" lIns="0" rIns="0" tIns="0" bIns="0">
            <a:noAutofit/>
          </a:bodyPr>
          <a:lstStyle/>
          <a:p>
            <a:pPr algn="l">
              <a:lnSpc>
                <a:spcPct val="100000"/>
              </a:lnSpc>
              <a:spcAft>
                <a:spcPts val="0"/>
              </a:spcAft>
            </a:pPr>
            <a:r>
              <a:rPr sz="1100" b="1" i="0" spc="100">
                <a:solidFill>
                  <a:srgbClr val="EDA100"/>
                </a:solidFill>
                <a:latin typeface="Segoe UI"/>
              </a:rPr>
              <a:t>PRIORITY-QUEUED, FAULT-ISOLATED EXECUTION</a:t>
            </a:r>
          </a:p>
        </p:txBody>
      </p:sp>
      <p:sp>
        <p:nvSpPr>
          <p:cNvPr id="37" name="TextBox 36"/>
          <p:cNvSpPr txBox="1"/>
          <p:nvPr/>
        </p:nvSpPr>
        <p:spPr>
          <a:xfrm>
            <a:off x="731520" y="5303520"/>
            <a:ext cx="10725912" cy="731520"/>
          </a:xfrm>
          <a:prstGeom prst="rect">
            <a:avLst/>
          </a:prstGeom>
          <a:noFill/>
        </p:spPr>
        <p:txBody>
          <a:bodyPr wrap="square" anchor="t" lIns="0" rIns="0" tIns="0" bIns="0">
            <a:noAutofit/>
          </a:bodyPr>
          <a:lstStyle/>
          <a:p>
            <a:pPr algn="l">
              <a:lnSpc>
                <a:spcPct val="120000"/>
              </a:lnSpc>
              <a:spcAft>
                <a:spcPts val="0"/>
              </a:spcAft>
            </a:pPr>
            <a:r>
              <a:rPr sz="1150" b="0" i="0">
                <a:solidFill>
                  <a:srgbClr val="9AA7BD"/>
                </a:solidFill>
                <a:latin typeface="Segoe UI"/>
              </a:rPr>
              <a:t>Named Redis queues -- kavach.critical, kavach.high, kavach.normal, kavach.low -- back a dedicated always-on worker pool for critical/high scans plus a horizontally-scalable pool for bulk throughput. Every scanner task retries up to 3 times with exponential backoff and always returns a result, so one missing tool degrades gracefully instead of blocking the scan.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362895" y="-3291840"/>
            <a:ext cx="5852160" cy="5852160"/>
          </a:xfrm>
          <a:prstGeom prst="ellipse">
            <a:avLst/>
          </a:prstGeom>
          <a:noFill/>
          <a:ln w="13970">
            <a:solidFill>
              <a:srgbClr val="EDA100">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502920" y="6473952"/>
            <a:ext cx="11185855" cy="0"/>
          </a:xfrm>
          <a:prstGeom prst="line">
            <a:avLst/>
          </a:prstGeom>
          <a:ln w="9525">
            <a:solidFill>
              <a:srgbClr val="2A3654"/>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28816"/>
            <a:ext cx="4572000" cy="274320"/>
          </a:xfrm>
          <a:prstGeom prst="rect">
            <a:avLst/>
          </a:prstGeom>
          <a:noFill/>
        </p:spPr>
        <p:txBody>
          <a:bodyPr wrap="square" anchor="t" lIns="0" rIns="0" tIns="0" bIns="0">
            <a:noAutofit/>
          </a:bodyPr>
          <a:lstStyle/>
          <a:p>
            <a:pPr algn="l">
              <a:lnSpc>
                <a:spcPct val="100000"/>
              </a:lnSpc>
              <a:spcAft>
                <a:spcPts val="0"/>
              </a:spcAft>
            </a:pPr>
            <a:r>
              <a:rPr sz="900" b="0" i="0">
                <a:solidFill>
                  <a:srgbClr val="64708A"/>
                </a:solidFill>
                <a:latin typeface="Segoe UI"/>
              </a:rPr>
              <a:t>KAVACH  ·  PSB Hackathon 2026</a:t>
            </a:r>
          </a:p>
        </p:txBody>
      </p:sp>
      <p:sp>
        <p:nvSpPr>
          <p:cNvPr id="6" name="TextBox 5"/>
          <p:cNvSpPr txBox="1"/>
          <p:nvPr/>
        </p:nvSpPr>
        <p:spPr>
          <a:xfrm>
            <a:off x="4480560" y="6528816"/>
            <a:ext cx="4572000" cy="274320"/>
          </a:xfrm>
          <a:prstGeom prst="rect">
            <a:avLst/>
          </a:prstGeom>
          <a:noFill/>
        </p:spPr>
        <p:txBody>
          <a:bodyPr wrap="square" anchor="t" lIns="0" rIns="0" tIns="0" bIns="0">
            <a:noAutofit/>
          </a:bodyPr>
          <a:lstStyle/>
          <a:p>
            <a:pPr algn="ctr">
              <a:lnSpc>
                <a:spcPct val="100000"/>
              </a:lnSpc>
              <a:spcAft>
                <a:spcPts val="0"/>
              </a:spcAft>
            </a:pPr>
            <a:r>
              <a:rPr sz="900" b="0" i="0">
                <a:solidFill>
                  <a:srgbClr val="64708A"/>
                </a:solidFill>
                <a:latin typeface="Segoe UI"/>
              </a:rPr>
              <a:t>ATTACK SURFACE EXPOSURE</a:t>
            </a:r>
          </a:p>
        </p:txBody>
      </p:sp>
      <p:sp>
        <p:nvSpPr>
          <p:cNvPr id="7" name="TextBox 6"/>
          <p:cNvSpPr txBox="1"/>
          <p:nvPr/>
        </p:nvSpPr>
        <p:spPr>
          <a:xfrm>
            <a:off x="10820095" y="6528816"/>
            <a:ext cx="914400" cy="274320"/>
          </a:xfrm>
          <a:prstGeom prst="rect">
            <a:avLst/>
          </a:prstGeom>
          <a:noFill/>
        </p:spPr>
        <p:txBody>
          <a:bodyPr wrap="square" anchor="t" lIns="0" rIns="0" tIns="0" bIns="0">
            <a:noAutofit/>
          </a:bodyPr>
          <a:lstStyle/>
          <a:p>
            <a:pPr algn="r">
              <a:lnSpc>
                <a:spcPct val="100000"/>
              </a:lnSpc>
              <a:spcAft>
                <a:spcPts val="0"/>
              </a:spcAft>
            </a:pPr>
            <a:r>
              <a:rPr sz="900" b="0" i="0">
                <a:solidFill>
                  <a:srgbClr val="64708A"/>
                </a:solidFill>
                <a:latin typeface="Segoe UI"/>
              </a:rPr>
              <a:t>10 / 22</a:t>
            </a:r>
          </a:p>
        </p:txBody>
      </p:sp>
      <p:sp>
        <p:nvSpPr>
          <p:cNvPr id="8" name="TextBox 7"/>
          <p:cNvSpPr txBox="1"/>
          <p:nvPr/>
        </p:nvSpPr>
        <p:spPr>
          <a:xfrm>
            <a:off x="502920" y="457200"/>
            <a:ext cx="9601200" cy="292608"/>
          </a:xfrm>
          <a:prstGeom prst="rect">
            <a:avLst/>
          </a:prstGeom>
          <a:noFill/>
        </p:spPr>
        <p:txBody>
          <a:bodyPr wrap="square" anchor="t" lIns="0" rIns="0" tIns="0" bIns="0">
            <a:noAutofit/>
          </a:bodyPr>
          <a:lstStyle/>
          <a:p>
            <a:pPr algn="l">
              <a:lnSpc>
                <a:spcPct val="100000"/>
              </a:lnSpc>
              <a:spcAft>
                <a:spcPts val="0"/>
              </a:spcAft>
            </a:pPr>
            <a:r>
              <a:rPr sz="1250" b="1" i="0" spc="160">
                <a:solidFill>
                  <a:srgbClr val="EDA100"/>
                </a:solidFill>
                <a:latin typeface="Segoe UI"/>
              </a:rPr>
              <a:t>ATTACK SURFACE EXPOSURE</a:t>
            </a:r>
          </a:p>
        </p:txBody>
      </p:sp>
      <p:sp>
        <p:nvSpPr>
          <p:cNvPr id="9" name="TextBox 8"/>
          <p:cNvSpPr txBox="1"/>
          <p:nvPr/>
        </p:nvSpPr>
        <p:spPr>
          <a:xfrm>
            <a:off x="502920" y="768096"/>
            <a:ext cx="10789920" cy="566928"/>
          </a:xfrm>
          <a:prstGeom prst="rect">
            <a:avLst/>
          </a:prstGeom>
          <a:noFill/>
        </p:spPr>
        <p:txBody>
          <a:bodyPr wrap="square" anchor="t" lIns="0" rIns="0" tIns="0" bIns="0">
            <a:noAutofit/>
          </a:bodyPr>
          <a:lstStyle/>
          <a:p>
            <a:pPr algn="l">
              <a:lnSpc>
                <a:spcPct val="102000"/>
              </a:lnSpc>
              <a:spcAft>
                <a:spcPts val="0"/>
              </a:spcAft>
            </a:pPr>
            <a:r>
              <a:rPr sz="2500" b="1" i="0">
                <a:solidFill>
                  <a:srgbClr val="F5F7FA"/>
                </a:solidFill>
                <a:latin typeface="Segoe UI"/>
              </a:rPr>
              <a:t>A Heuristic Exposure Index -- Not a Zero-Day Prediction</a:t>
            </a:r>
          </a:p>
        </p:txBody>
      </p:sp>
      <p:cxnSp>
        <p:nvCxnSpPr>
          <p:cNvPr id="10" name="Connector 9"/>
          <p:cNvCxnSpPr/>
          <p:nvPr/>
        </p:nvCxnSpPr>
        <p:spPr>
          <a:xfrm>
            <a:off x="502920" y="1399032"/>
            <a:ext cx="960120" cy="0"/>
          </a:xfrm>
          <a:prstGeom prst="line">
            <a:avLst/>
          </a:prstGeom>
          <a:ln w="28575">
            <a:solidFill>
              <a:srgbClr val="EDA100"/>
            </a:solidFill>
          </a:ln>
          <a:effectLst/>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02920" y="1874519"/>
            <a:ext cx="6492240" cy="914400"/>
          </a:xfrm>
          <a:prstGeom prst="roundRect">
            <a:avLst>
              <a:gd name="adj" fmla="val 5500"/>
            </a:avLst>
          </a:prstGeom>
          <a:solidFill>
            <a:srgbClr val="18233B"/>
          </a:solidFill>
          <a:ln w="13970">
            <a:solidFill>
              <a:srgbClr val="EDA1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011680"/>
            <a:ext cx="6035040" cy="685800"/>
          </a:xfrm>
          <a:prstGeom prst="rect">
            <a:avLst/>
          </a:prstGeom>
          <a:noFill/>
        </p:spPr>
        <p:txBody>
          <a:bodyPr wrap="square" anchor="t" lIns="0" rIns="0" tIns="0" bIns="0">
            <a:noAutofit/>
          </a:bodyPr>
          <a:lstStyle/>
          <a:p>
            <a:pPr algn="l">
              <a:lnSpc>
                <a:spcPct val="115000"/>
              </a:lnSpc>
              <a:spcAft>
                <a:spcPts val="0"/>
              </a:spcAft>
            </a:pPr>
            <a:r>
              <a:rPr sz="1300" b="0" i="1">
                <a:solidFill>
                  <a:srgbClr val="F5F7FA"/>
                </a:solidFill>
                <a:latin typeface="Segoe UI"/>
              </a:rPr>
              <a:t>We deliberately do not call this “Zero-Day Prediction.” It is a composite index of factors correlated with exposure to undisclosed vulnerabilities -- not a forecast of any specific future exploit.</a:t>
            </a:r>
          </a:p>
        </p:txBody>
      </p:sp>
      <p:sp>
        <p:nvSpPr>
          <p:cNvPr id="13" name="Rounded Rectangle 12"/>
          <p:cNvSpPr/>
          <p:nvPr/>
        </p:nvSpPr>
        <p:spPr>
          <a:xfrm>
            <a:off x="502920" y="2926080"/>
            <a:ext cx="6492240" cy="502920"/>
          </a:xfrm>
          <a:prstGeom prst="roundRect">
            <a:avLst>
              <a:gd name="adj" fmla="val 5500"/>
            </a:avLst>
          </a:prstGeom>
          <a:solidFill>
            <a:srgbClr val="13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980944"/>
            <a:ext cx="2377440" cy="384048"/>
          </a:xfrm>
          <a:prstGeom prst="rect">
            <a:avLst/>
          </a:prstGeom>
          <a:noFill/>
        </p:spPr>
        <p:txBody>
          <a:bodyPr wrap="square" anchor="ctr" lIns="0" rIns="0" tIns="0" bIns="0">
            <a:noAutofit/>
          </a:bodyPr>
          <a:lstStyle/>
          <a:p>
            <a:pPr algn="l">
              <a:lnSpc>
                <a:spcPct val="100000"/>
              </a:lnSpc>
              <a:spcAft>
                <a:spcPts val="0"/>
              </a:spcAft>
            </a:pPr>
            <a:r>
              <a:rPr sz="1150" b="1" i="0">
                <a:solidFill>
                  <a:srgbClr val="F5F7FA"/>
                </a:solidFill>
                <a:latin typeface="Segoe UI"/>
              </a:rPr>
              <a:t>Dependency count</a:t>
            </a:r>
          </a:p>
        </p:txBody>
      </p:sp>
      <p:sp>
        <p:nvSpPr>
          <p:cNvPr id="15" name="TextBox 14"/>
          <p:cNvSpPr txBox="1"/>
          <p:nvPr/>
        </p:nvSpPr>
        <p:spPr>
          <a:xfrm>
            <a:off x="3108960" y="2980944"/>
            <a:ext cx="3749039" cy="384048"/>
          </a:xfrm>
          <a:prstGeom prst="rect">
            <a:avLst/>
          </a:prstGeom>
          <a:noFill/>
        </p:spPr>
        <p:txBody>
          <a:bodyPr wrap="square" anchor="ctr" lIns="0" rIns="0" tIns="0" bIns="0">
            <a:noAutofit/>
          </a:bodyPr>
          <a:lstStyle/>
          <a:p>
            <a:pPr algn="l">
              <a:lnSpc>
                <a:spcPct val="100000"/>
              </a:lnSpc>
              <a:spcAft>
                <a:spcPts val="0"/>
              </a:spcAft>
            </a:pPr>
            <a:r>
              <a:rPr sz="1000" b="0" i="0">
                <a:solidFill>
                  <a:srgbClr val="9AA7BD"/>
                </a:solidFill>
                <a:latin typeface="Segoe UI"/>
              </a:rPr>
              <a:t>0.18 × SBOM component count, capped 20</a:t>
            </a:r>
          </a:p>
        </p:txBody>
      </p:sp>
      <p:sp>
        <p:nvSpPr>
          <p:cNvPr id="16" name="Rounded Rectangle 15"/>
          <p:cNvSpPr/>
          <p:nvPr/>
        </p:nvSpPr>
        <p:spPr>
          <a:xfrm>
            <a:off x="502920" y="3483864"/>
            <a:ext cx="6492240" cy="502920"/>
          </a:xfrm>
          <a:prstGeom prst="roundRect">
            <a:avLst>
              <a:gd name="adj" fmla="val 5500"/>
            </a:avLst>
          </a:prstGeom>
          <a:solidFill>
            <a:srgbClr val="13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3538728"/>
            <a:ext cx="2377440" cy="384048"/>
          </a:xfrm>
          <a:prstGeom prst="rect">
            <a:avLst/>
          </a:prstGeom>
          <a:noFill/>
        </p:spPr>
        <p:txBody>
          <a:bodyPr wrap="square" anchor="ctr" lIns="0" rIns="0" tIns="0" bIns="0">
            <a:noAutofit/>
          </a:bodyPr>
          <a:lstStyle/>
          <a:p>
            <a:pPr algn="l">
              <a:lnSpc>
                <a:spcPct val="100000"/>
              </a:lnSpc>
              <a:spcAft>
                <a:spcPts val="0"/>
              </a:spcAft>
            </a:pPr>
            <a:r>
              <a:rPr sz="1150" b="1" i="0">
                <a:solidFill>
                  <a:srgbClr val="F5F7FA"/>
                </a:solidFill>
                <a:latin typeface="Segoe UI"/>
              </a:rPr>
              <a:t>Known CVE density</a:t>
            </a:r>
          </a:p>
        </p:txBody>
      </p:sp>
      <p:sp>
        <p:nvSpPr>
          <p:cNvPr id="18" name="TextBox 17"/>
          <p:cNvSpPr txBox="1"/>
          <p:nvPr/>
        </p:nvSpPr>
        <p:spPr>
          <a:xfrm>
            <a:off x="3108960" y="3538728"/>
            <a:ext cx="3749039" cy="384048"/>
          </a:xfrm>
          <a:prstGeom prst="rect">
            <a:avLst/>
          </a:prstGeom>
          <a:noFill/>
        </p:spPr>
        <p:txBody>
          <a:bodyPr wrap="square" anchor="ctr" lIns="0" rIns="0" tIns="0" bIns="0">
            <a:noAutofit/>
          </a:bodyPr>
          <a:lstStyle/>
          <a:p>
            <a:pPr algn="l">
              <a:lnSpc>
                <a:spcPct val="100000"/>
              </a:lnSpc>
              <a:spcAft>
                <a:spcPts val="0"/>
              </a:spcAft>
            </a:pPr>
            <a:r>
              <a:rPr sz="1000" b="0" i="0">
                <a:solidFill>
                  <a:srgbClr val="9AA7BD"/>
                </a:solidFill>
                <a:latin typeface="Segoe UI"/>
              </a:rPr>
              <a:t>4.0 × critical/high pip-audit findings, capped 30</a:t>
            </a:r>
          </a:p>
        </p:txBody>
      </p:sp>
      <p:sp>
        <p:nvSpPr>
          <p:cNvPr id="19" name="Rounded Rectangle 18"/>
          <p:cNvSpPr/>
          <p:nvPr/>
        </p:nvSpPr>
        <p:spPr>
          <a:xfrm>
            <a:off x="502920" y="4041648"/>
            <a:ext cx="6492240" cy="502920"/>
          </a:xfrm>
          <a:prstGeom prst="roundRect">
            <a:avLst>
              <a:gd name="adj" fmla="val 5500"/>
            </a:avLst>
          </a:prstGeom>
          <a:solidFill>
            <a:srgbClr val="13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4096511"/>
            <a:ext cx="2377440" cy="384048"/>
          </a:xfrm>
          <a:prstGeom prst="rect">
            <a:avLst/>
          </a:prstGeom>
          <a:noFill/>
        </p:spPr>
        <p:txBody>
          <a:bodyPr wrap="square" anchor="ctr" lIns="0" rIns="0" tIns="0" bIns="0">
            <a:noAutofit/>
          </a:bodyPr>
          <a:lstStyle/>
          <a:p>
            <a:pPr algn="l">
              <a:lnSpc>
                <a:spcPct val="100000"/>
              </a:lnSpc>
              <a:spcAft>
                <a:spcPts val="0"/>
              </a:spcAft>
            </a:pPr>
            <a:r>
              <a:rPr sz="1150" b="1" i="0">
                <a:solidFill>
                  <a:srgbClr val="F5F7FA"/>
                </a:solidFill>
                <a:latin typeface="Segoe UI"/>
              </a:rPr>
              <a:t>Dependency staleness</a:t>
            </a:r>
          </a:p>
        </p:txBody>
      </p:sp>
      <p:sp>
        <p:nvSpPr>
          <p:cNvPr id="21" name="TextBox 20"/>
          <p:cNvSpPr txBox="1"/>
          <p:nvPr/>
        </p:nvSpPr>
        <p:spPr>
          <a:xfrm>
            <a:off x="3108960" y="4096511"/>
            <a:ext cx="3749039" cy="384048"/>
          </a:xfrm>
          <a:prstGeom prst="rect">
            <a:avLst/>
          </a:prstGeom>
          <a:noFill/>
        </p:spPr>
        <p:txBody>
          <a:bodyPr wrap="square" anchor="ctr" lIns="0" rIns="0" tIns="0" bIns="0">
            <a:noAutofit/>
          </a:bodyPr>
          <a:lstStyle/>
          <a:p>
            <a:pPr algn="l">
              <a:lnSpc>
                <a:spcPct val="100000"/>
              </a:lnSpc>
              <a:spcAft>
                <a:spcPts val="0"/>
              </a:spcAft>
            </a:pPr>
            <a:r>
              <a:rPr sz="1000" b="0" i="0">
                <a:solidFill>
                  <a:srgbClr val="9AA7BD"/>
                </a:solidFill>
                <a:latin typeface="Segoe UI"/>
              </a:rPr>
              <a:t>4.0 × est. avg. dependency age (yrs), capped 20</a:t>
            </a:r>
          </a:p>
        </p:txBody>
      </p:sp>
      <p:sp>
        <p:nvSpPr>
          <p:cNvPr id="22" name="Rounded Rectangle 21"/>
          <p:cNvSpPr/>
          <p:nvPr/>
        </p:nvSpPr>
        <p:spPr>
          <a:xfrm>
            <a:off x="502920" y="4599432"/>
            <a:ext cx="6492240" cy="502920"/>
          </a:xfrm>
          <a:prstGeom prst="roundRect">
            <a:avLst>
              <a:gd name="adj" fmla="val 5500"/>
            </a:avLst>
          </a:prstGeom>
          <a:solidFill>
            <a:srgbClr val="13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4654296"/>
            <a:ext cx="2377440" cy="384048"/>
          </a:xfrm>
          <a:prstGeom prst="rect">
            <a:avLst/>
          </a:prstGeom>
          <a:noFill/>
        </p:spPr>
        <p:txBody>
          <a:bodyPr wrap="square" anchor="ctr" lIns="0" rIns="0" tIns="0" bIns="0">
            <a:noAutofit/>
          </a:bodyPr>
          <a:lstStyle/>
          <a:p>
            <a:pPr algn="l">
              <a:lnSpc>
                <a:spcPct val="100000"/>
              </a:lnSpc>
              <a:spcAft>
                <a:spcPts val="0"/>
              </a:spcAft>
            </a:pPr>
            <a:r>
              <a:rPr sz="1150" b="1" i="0">
                <a:solidFill>
                  <a:srgbClr val="F5F7FA"/>
                </a:solidFill>
                <a:latin typeface="Segoe UI"/>
              </a:rPr>
              <a:t>Risky package categories</a:t>
            </a:r>
          </a:p>
        </p:txBody>
      </p:sp>
      <p:sp>
        <p:nvSpPr>
          <p:cNvPr id="24" name="TextBox 23"/>
          <p:cNvSpPr txBox="1"/>
          <p:nvPr/>
        </p:nvSpPr>
        <p:spPr>
          <a:xfrm>
            <a:off x="3108960" y="4654296"/>
            <a:ext cx="3749039" cy="384048"/>
          </a:xfrm>
          <a:prstGeom prst="rect">
            <a:avLst/>
          </a:prstGeom>
          <a:noFill/>
        </p:spPr>
        <p:txBody>
          <a:bodyPr wrap="square" anchor="ctr" lIns="0" rIns="0" tIns="0" bIns="0">
            <a:noAutofit/>
          </a:bodyPr>
          <a:lstStyle/>
          <a:p>
            <a:pPr algn="l">
              <a:lnSpc>
                <a:spcPct val="100000"/>
              </a:lnSpc>
              <a:spcAft>
                <a:spcPts val="0"/>
              </a:spcAft>
            </a:pPr>
            <a:r>
              <a:rPr sz="1000" b="0" i="0">
                <a:solidFill>
                  <a:srgbClr val="9AA7BD"/>
                </a:solidFill>
                <a:latin typeface="Segoe UI"/>
              </a:rPr>
              <a:t>1.5 × crypto/auth/serialization-adjacent packages, capped 15</a:t>
            </a:r>
          </a:p>
        </p:txBody>
      </p:sp>
      <p:sp>
        <p:nvSpPr>
          <p:cNvPr id="25" name="Rounded Rectangle 24"/>
          <p:cNvSpPr/>
          <p:nvPr/>
        </p:nvSpPr>
        <p:spPr>
          <a:xfrm>
            <a:off x="502920" y="5157216"/>
            <a:ext cx="6492240" cy="502920"/>
          </a:xfrm>
          <a:prstGeom prst="roundRect">
            <a:avLst>
              <a:gd name="adj" fmla="val 5500"/>
            </a:avLst>
          </a:prstGeom>
          <a:solidFill>
            <a:srgbClr val="13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5212080"/>
            <a:ext cx="2377440" cy="384048"/>
          </a:xfrm>
          <a:prstGeom prst="rect">
            <a:avLst/>
          </a:prstGeom>
          <a:noFill/>
        </p:spPr>
        <p:txBody>
          <a:bodyPr wrap="square" anchor="ctr" lIns="0" rIns="0" tIns="0" bIns="0">
            <a:noAutofit/>
          </a:bodyPr>
          <a:lstStyle/>
          <a:p>
            <a:pPr algn="l">
              <a:lnSpc>
                <a:spcPct val="100000"/>
              </a:lnSpc>
              <a:spcAft>
                <a:spcPts val="0"/>
              </a:spcAft>
            </a:pPr>
            <a:r>
              <a:rPr sz="1150" b="1" i="0">
                <a:solidFill>
                  <a:srgbClr val="F5F7FA"/>
                </a:solidFill>
                <a:latin typeface="Segoe UI"/>
              </a:rPr>
              <a:t>Configuration risk</a:t>
            </a:r>
          </a:p>
        </p:txBody>
      </p:sp>
      <p:sp>
        <p:nvSpPr>
          <p:cNvPr id="27" name="TextBox 26"/>
          <p:cNvSpPr txBox="1"/>
          <p:nvPr/>
        </p:nvSpPr>
        <p:spPr>
          <a:xfrm>
            <a:off x="3108960" y="5212080"/>
            <a:ext cx="3749039" cy="384048"/>
          </a:xfrm>
          <a:prstGeom prst="rect">
            <a:avLst/>
          </a:prstGeom>
          <a:noFill/>
        </p:spPr>
        <p:txBody>
          <a:bodyPr wrap="square" anchor="ctr" lIns="0" rIns="0" tIns="0" bIns="0">
            <a:noAutofit/>
          </a:bodyPr>
          <a:lstStyle/>
          <a:p>
            <a:pPr algn="l">
              <a:lnSpc>
                <a:spcPct val="100000"/>
              </a:lnSpc>
              <a:spcAft>
                <a:spcPts val="0"/>
              </a:spcAft>
            </a:pPr>
            <a:r>
              <a:rPr sz="1000" b="0" i="0">
                <a:solidFill>
                  <a:srgbClr val="9AA7BD"/>
                </a:solidFill>
                <a:latin typeface="Segoe UI"/>
              </a:rPr>
              <a:t>critical×3.0 + high×1.5 config findings, capped 10</a:t>
            </a:r>
          </a:p>
        </p:txBody>
      </p:sp>
      <p:sp>
        <p:nvSpPr>
          <p:cNvPr id="28" name="Rounded Rectangle 27"/>
          <p:cNvSpPr/>
          <p:nvPr/>
        </p:nvSpPr>
        <p:spPr>
          <a:xfrm>
            <a:off x="502920" y="5715000"/>
            <a:ext cx="6492240" cy="502920"/>
          </a:xfrm>
          <a:prstGeom prst="roundRect">
            <a:avLst>
              <a:gd name="adj" fmla="val 5500"/>
            </a:avLst>
          </a:prstGeom>
          <a:solidFill>
            <a:srgbClr val="13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5769864"/>
            <a:ext cx="2377440" cy="384048"/>
          </a:xfrm>
          <a:prstGeom prst="rect">
            <a:avLst/>
          </a:prstGeom>
          <a:noFill/>
        </p:spPr>
        <p:txBody>
          <a:bodyPr wrap="square" anchor="ctr" lIns="0" rIns="0" tIns="0" bIns="0">
            <a:noAutofit/>
          </a:bodyPr>
          <a:lstStyle/>
          <a:p>
            <a:pPr algn="l">
              <a:lnSpc>
                <a:spcPct val="100000"/>
              </a:lnSpc>
              <a:spcAft>
                <a:spcPts val="0"/>
              </a:spcAft>
            </a:pPr>
            <a:r>
              <a:rPr sz="1150" b="1" i="0">
                <a:solidFill>
                  <a:srgbClr val="F5F7FA"/>
                </a:solidFill>
                <a:latin typeface="Segoe UI"/>
              </a:rPr>
              <a:t>Code vulnerability density</a:t>
            </a:r>
          </a:p>
        </p:txBody>
      </p:sp>
      <p:sp>
        <p:nvSpPr>
          <p:cNvPr id="30" name="TextBox 29"/>
          <p:cNvSpPr txBox="1"/>
          <p:nvPr/>
        </p:nvSpPr>
        <p:spPr>
          <a:xfrm>
            <a:off x="3108960" y="5769864"/>
            <a:ext cx="3749039" cy="384048"/>
          </a:xfrm>
          <a:prstGeom prst="rect">
            <a:avLst/>
          </a:prstGeom>
          <a:noFill/>
        </p:spPr>
        <p:txBody>
          <a:bodyPr wrap="square" anchor="ctr" lIns="0" rIns="0" tIns="0" bIns="0">
            <a:noAutofit/>
          </a:bodyPr>
          <a:lstStyle/>
          <a:p>
            <a:pPr algn="l">
              <a:lnSpc>
                <a:spcPct val="100000"/>
              </a:lnSpc>
              <a:spcAft>
                <a:spcPts val="0"/>
              </a:spcAft>
            </a:pPr>
            <a:r>
              <a:rPr sz="1000" b="0" i="0">
                <a:solidFill>
                  <a:srgbClr val="9AA7BD"/>
                </a:solidFill>
                <a:latin typeface="Segoe UI"/>
              </a:rPr>
              <a:t>2.5 × critical static findings, capped 15</a:t>
            </a:r>
          </a:p>
        </p:txBody>
      </p:sp>
      <p:sp>
        <p:nvSpPr>
          <p:cNvPr id="31" name="Rounded Rectangle 30"/>
          <p:cNvSpPr/>
          <p:nvPr/>
        </p:nvSpPr>
        <p:spPr>
          <a:xfrm>
            <a:off x="7315200" y="1874519"/>
            <a:ext cx="3867912" cy="1417320"/>
          </a:xfrm>
          <a:prstGeom prst="roundRect">
            <a:avLst>
              <a:gd name="adj" fmla="val 5500"/>
            </a:avLst>
          </a:prstGeom>
          <a:solidFill>
            <a:srgbClr val="13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507224" y="2084831"/>
            <a:ext cx="128016" cy="128016"/>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72400" y="2048255"/>
            <a:ext cx="3227832" cy="292608"/>
          </a:xfrm>
          <a:prstGeom prst="rect">
            <a:avLst/>
          </a:prstGeom>
          <a:noFill/>
        </p:spPr>
        <p:txBody>
          <a:bodyPr wrap="square" anchor="t" lIns="0" rIns="0" tIns="0" bIns="0">
            <a:noAutofit/>
          </a:bodyPr>
          <a:lstStyle/>
          <a:p>
            <a:pPr algn="l">
              <a:lnSpc>
                <a:spcPct val="100000"/>
              </a:lnSpc>
              <a:spcAft>
                <a:spcPts val="0"/>
              </a:spcAft>
            </a:pPr>
            <a:r>
              <a:rPr sz="1350" b="1" i="0">
                <a:solidFill>
                  <a:srgbClr val="F5F7FA"/>
                </a:solidFill>
                <a:latin typeface="Segoe UI"/>
              </a:rPr>
              <a:t>How It's Used</a:t>
            </a:r>
          </a:p>
        </p:txBody>
      </p:sp>
      <p:sp>
        <p:nvSpPr>
          <p:cNvPr id="34" name="TextBox 33"/>
          <p:cNvSpPr txBox="1"/>
          <p:nvPr/>
        </p:nvSpPr>
        <p:spPr>
          <a:xfrm>
            <a:off x="7534656" y="2404871"/>
            <a:ext cx="3429000" cy="731520"/>
          </a:xfrm>
          <a:prstGeom prst="rect">
            <a:avLst/>
          </a:prstGeom>
          <a:noFill/>
        </p:spPr>
        <p:txBody>
          <a:bodyPr wrap="square" anchor="t" lIns="0" rIns="0" tIns="0" bIns="0">
            <a:noAutofit/>
          </a:bodyPr>
          <a:lstStyle/>
          <a:p>
            <a:pPr algn="l">
              <a:lnSpc>
                <a:spcPct val="108000"/>
              </a:lnSpc>
              <a:spcAft>
                <a:spcPts val="0"/>
              </a:spcAft>
            </a:pPr>
            <a:r>
              <a:rPr sz="1100" b="0" i="0">
                <a:solidFill>
                  <a:srgbClr val="9AA7BD"/>
                </a:solidFill>
                <a:latin typeface="Segoe UI"/>
              </a:rPr>
              <a:t>Sum of 6 capped factors, capped again at 100. Bands: Critical ≥70, High ≥45, Medium ≥20, Low &lt;20. Persisted independently of BRS on its own ScanResult columns.</a:t>
            </a:r>
          </a:p>
        </p:txBody>
      </p:sp>
      <p:sp>
        <p:nvSpPr>
          <p:cNvPr id="35" name="Rounded Rectangle 34"/>
          <p:cNvSpPr/>
          <p:nvPr/>
        </p:nvSpPr>
        <p:spPr>
          <a:xfrm>
            <a:off x="7315200" y="3383280"/>
            <a:ext cx="3867912" cy="1417320"/>
          </a:xfrm>
          <a:prstGeom prst="roundRect">
            <a:avLst>
              <a:gd name="adj" fmla="val 5500"/>
            </a:avLst>
          </a:prstGeom>
          <a:solidFill>
            <a:srgbClr val="13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507224" y="3593592"/>
            <a:ext cx="128016" cy="128016"/>
          </a:xfrm>
          <a:prstGeom prst="ellipse">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772400" y="3557016"/>
            <a:ext cx="3227832" cy="292608"/>
          </a:xfrm>
          <a:prstGeom prst="rect">
            <a:avLst/>
          </a:prstGeom>
          <a:noFill/>
        </p:spPr>
        <p:txBody>
          <a:bodyPr wrap="square" anchor="t" lIns="0" rIns="0" tIns="0" bIns="0">
            <a:noAutofit/>
          </a:bodyPr>
          <a:lstStyle/>
          <a:p>
            <a:pPr algn="l">
              <a:lnSpc>
                <a:spcPct val="100000"/>
              </a:lnSpc>
              <a:spcAft>
                <a:spcPts val="0"/>
              </a:spcAft>
            </a:pPr>
            <a:r>
              <a:rPr sz="1350" b="1" i="0">
                <a:solidFill>
                  <a:srgbClr val="F5F7FA"/>
                </a:solidFill>
                <a:latin typeface="Segoe UI"/>
              </a:rPr>
              <a:t>Its Purpose</a:t>
            </a:r>
          </a:p>
        </p:txBody>
      </p:sp>
      <p:sp>
        <p:nvSpPr>
          <p:cNvPr id="38" name="TextBox 37"/>
          <p:cNvSpPr txBox="1"/>
          <p:nvPr/>
        </p:nvSpPr>
        <p:spPr>
          <a:xfrm>
            <a:off x="7534656" y="3913632"/>
            <a:ext cx="3429000" cy="731520"/>
          </a:xfrm>
          <a:prstGeom prst="rect">
            <a:avLst/>
          </a:prstGeom>
          <a:noFill/>
        </p:spPr>
        <p:txBody>
          <a:bodyPr wrap="square" anchor="t" lIns="0" rIns="0" tIns="0" bIns="0">
            <a:noAutofit/>
          </a:bodyPr>
          <a:lstStyle/>
          <a:p>
            <a:pPr algn="l">
              <a:lnSpc>
                <a:spcPct val="108000"/>
              </a:lnSpc>
              <a:spcAft>
                <a:spcPts val="0"/>
              </a:spcAft>
            </a:pPr>
            <a:r>
              <a:rPr sz="1100" b="0" i="0">
                <a:solidFill>
                  <a:srgbClr val="9AA7BD"/>
                </a:solidFill>
                <a:latin typeface="Segoe UI"/>
              </a:rPr>
              <a:t>Flags dependency-rot and risky-surface accumulation even on a scan with zero confirmed findings -- a codebase can be BRS-clean today and still be sitting on this problem.</a:t>
            </a:r>
          </a:p>
        </p:txBody>
      </p:sp>
      <p:sp>
        <p:nvSpPr>
          <p:cNvPr id="39" name="Rounded Rectangle 38"/>
          <p:cNvSpPr/>
          <p:nvPr/>
        </p:nvSpPr>
        <p:spPr>
          <a:xfrm>
            <a:off x="7315200" y="4892040"/>
            <a:ext cx="3867912" cy="1234440"/>
          </a:xfrm>
          <a:prstGeom prst="roundRect">
            <a:avLst>
              <a:gd name="adj" fmla="val 5500"/>
            </a:avLst>
          </a:prstGeom>
          <a:solidFill>
            <a:srgbClr val="13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7507224" y="5102352"/>
            <a:ext cx="128016" cy="128016"/>
          </a:xfrm>
          <a:prstGeom prst="ellipse">
            <a:avLst/>
          </a:prstGeom>
          <a:solidFill>
            <a:srgbClr val="E349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772400" y="5065776"/>
            <a:ext cx="3227832" cy="292608"/>
          </a:xfrm>
          <a:prstGeom prst="rect">
            <a:avLst/>
          </a:prstGeom>
          <a:noFill/>
        </p:spPr>
        <p:txBody>
          <a:bodyPr wrap="square" anchor="t" lIns="0" rIns="0" tIns="0" bIns="0">
            <a:noAutofit/>
          </a:bodyPr>
          <a:lstStyle/>
          <a:p>
            <a:pPr algn="l">
              <a:lnSpc>
                <a:spcPct val="100000"/>
              </a:lnSpc>
              <a:spcAft>
                <a:spcPts val="0"/>
              </a:spcAft>
            </a:pPr>
            <a:r>
              <a:rPr sz="1350" b="1" i="0">
                <a:solidFill>
                  <a:srgbClr val="F5F7FA"/>
                </a:solidFill>
                <a:latin typeface="Segoe UI"/>
              </a:rPr>
              <a:t>Explicit Limitations</a:t>
            </a:r>
          </a:p>
        </p:txBody>
      </p:sp>
      <p:sp>
        <p:nvSpPr>
          <p:cNvPr id="42" name="TextBox 41"/>
          <p:cNvSpPr txBox="1"/>
          <p:nvPr/>
        </p:nvSpPr>
        <p:spPr>
          <a:xfrm>
            <a:off x="7534656" y="5422392"/>
            <a:ext cx="3429000" cy="548640"/>
          </a:xfrm>
          <a:prstGeom prst="rect">
            <a:avLst/>
          </a:prstGeom>
          <a:noFill/>
        </p:spPr>
        <p:txBody>
          <a:bodyPr wrap="square" anchor="t" lIns="0" rIns="0" tIns="0" bIns="0">
            <a:noAutofit/>
          </a:bodyPr>
          <a:lstStyle/>
          <a:p>
            <a:pPr algn="l">
              <a:lnSpc>
                <a:spcPct val="108000"/>
              </a:lnSpc>
              <a:spcAft>
                <a:spcPts val="0"/>
              </a:spcAft>
            </a:pPr>
            <a:r>
              <a:rPr sz="1100" b="0" i="0">
                <a:solidFill>
                  <a:srgbClr val="9AA7BD"/>
                </a:solidFill>
                <a:latin typeface="Segoe UI"/>
              </a:rPr>
              <a:t>Fixed confidence = 0.55, labeled a prototype in-code. Documented path to replace the heuristic with a calibrated classifier -- not shipped as one today.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362895" y="-3291840"/>
            <a:ext cx="5852160" cy="5852160"/>
          </a:xfrm>
          <a:prstGeom prst="ellipse">
            <a:avLst/>
          </a:prstGeom>
          <a:noFill/>
          <a:ln w="13970">
            <a:solidFill>
              <a:srgbClr val="EDA100">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502920" y="6473952"/>
            <a:ext cx="11185855" cy="0"/>
          </a:xfrm>
          <a:prstGeom prst="line">
            <a:avLst/>
          </a:prstGeom>
          <a:ln w="9525">
            <a:solidFill>
              <a:srgbClr val="2A3654"/>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28816"/>
            <a:ext cx="4572000" cy="274320"/>
          </a:xfrm>
          <a:prstGeom prst="rect">
            <a:avLst/>
          </a:prstGeom>
          <a:noFill/>
        </p:spPr>
        <p:txBody>
          <a:bodyPr wrap="square" anchor="t" lIns="0" rIns="0" tIns="0" bIns="0">
            <a:noAutofit/>
          </a:bodyPr>
          <a:lstStyle/>
          <a:p>
            <a:pPr algn="l">
              <a:lnSpc>
                <a:spcPct val="100000"/>
              </a:lnSpc>
              <a:spcAft>
                <a:spcPts val="0"/>
              </a:spcAft>
            </a:pPr>
            <a:r>
              <a:rPr sz="900" b="0" i="0">
                <a:solidFill>
                  <a:srgbClr val="64708A"/>
                </a:solidFill>
                <a:latin typeface="Segoe UI"/>
              </a:rPr>
              <a:t>KAVACH  ·  PSB Hackathon 2026</a:t>
            </a:r>
          </a:p>
        </p:txBody>
      </p:sp>
      <p:sp>
        <p:nvSpPr>
          <p:cNvPr id="6" name="TextBox 5"/>
          <p:cNvSpPr txBox="1"/>
          <p:nvPr/>
        </p:nvSpPr>
        <p:spPr>
          <a:xfrm>
            <a:off x="4480560" y="6528816"/>
            <a:ext cx="4572000" cy="274320"/>
          </a:xfrm>
          <a:prstGeom prst="rect">
            <a:avLst/>
          </a:prstGeom>
          <a:noFill/>
        </p:spPr>
        <p:txBody>
          <a:bodyPr wrap="square" anchor="t" lIns="0" rIns="0" tIns="0" bIns="0">
            <a:noAutofit/>
          </a:bodyPr>
          <a:lstStyle/>
          <a:p>
            <a:pPr algn="ctr">
              <a:lnSpc>
                <a:spcPct val="100000"/>
              </a:lnSpc>
              <a:spcAft>
                <a:spcPts val="0"/>
              </a:spcAft>
            </a:pPr>
            <a:r>
              <a:rPr sz="900" b="0" i="0">
                <a:solidFill>
                  <a:srgbClr val="64708A"/>
                </a:solidFill>
                <a:latin typeface="Segoe UI"/>
              </a:rPr>
              <a:t>BANKING RISK SCORE</a:t>
            </a:r>
          </a:p>
        </p:txBody>
      </p:sp>
      <p:sp>
        <p:nvSpPr>
          <p:cNvPr id="7" name="TextBox 6"/>
          <p:cNvSpPr txBox="1"/>
          <p:nvPr/>
        </p:nvSpPr>
        <p:spPr>
          <a:xfrm>
            <a:off x="10820095" y="6528816"/>
            <a:ext cx="914400" cy="274320"/>
          </a:xfrm>
          <a:prstGeom prst="rect">
            <a:avLst/>
          </a:prstGeom>
          <a:noFill/>
        </p:spPr>
        <p:txBody>
          <a:bodyPr wrap="square" anchor="t" lIns="0" rIns="0" tIns="0" bIns="0">
            <a:noAutofit/>
          </a:bodyPr>
          <a:lstStyle/>
          <a:p>
            <a:pPr algn="r">
              <a:lnSpc>
                <a:spcPct val="100000"/>
              </a:lnSpc>
              <a:spcAft>
                <a:spcPts val="0"/>
              </a:spcAft>
            </a:pPr>
            <a:r>
              <a:rPr sz="900" b="0" i="0">
                <a:solidFill>
                  <a:srgbClr val="64708A"/>
                </a:solidFill>
                <a:latin typeface="Segoe UI"/>
              </a:rPr>
              <a:t>11 / 22</a:t>
            </a:r>
          </a:p>
        </p:txBody>
      </p:sp>
      <p:sp>
        <p:nvSpPr>
          <p:cNvPr id="8" name="TextBox 7"/>
          <p:cNvSpPr txBox="1"/>
          <p:nvPr/>
        </p:nvSpPr>
        <p:spPr>
          <a:xfrm>
            <a:off x="502920" y="457200"/>
            <a:ext cx="9601200" cy="292608"/>
          </a:xfrm>
          <a:prstGeom prst="rect">
            <a:avLst/>
          </a:prstGeom>
          <a:noFill/>
        </p:spPr>
        <p:txBody>
          <a:bodyPr wrap="square" anchor="t" lIns="0" rIns="0" tIns="0" bIns="0">
            <a:noAutofit/>
          </a:bodyPr>
          <a:lstStyle/>
          <a:p>
            <a:pPr algn="l">
              <a:lnSpc>
                <a:spcPct val="100000"/>
              </a:lnSpc>
              <a:spcAft>
                <a:spcPts val="0"/>
              </a:spcAft>
            </a:pPr>
            <a:r>
              <a:rPr sz="1250" b="1" i="0" spc="160">
                <a:solidFill>
                  <a:srgbClr val="EDA100"/>
                </a:solidFill>
                <a:latin typeface="Segoe UI"/>
              </a:rPr>
              <a:t>BUSINESS-AWARE RISK SCORING</a:t>
            </a:r>
          </a:p>
        </p:txBody>
      </p:sp>
      <p:sp>
        <p:nvSpPr>
          <p:cNvPr id="9" name="TextBox 8"/>
          <p:cNvSpPr txBox="1"/>
          <p:nvPr/>
        </p:nvSpPr>
        <p:spPr>
          <a:xfrm>
            <a:off x="502920" y="768096"/>
            <a:ext cx="10789920" cy="566928"/>
          </a:xfrm>
          <a:prstGeom prst="rect">
            <a:avLst/>
          </a:prstGeom>
          <a:noFill/>
        </p:spPr>
        <p:txBody>
          <a:bodyPr wrap="square" anchor="t" lIns="0" rIns="0" tIns="0" bIns="0">
            <a:noAutofit/>
          </a:bodyPr>
          <a:lstStyle/>
          <a:p>
            <a:pPr algn="l">
              <a:lnSpc>
                <a:spcPct val="102000"/>
              </a:lnSpc>
              <a:spcAft>
                <a:spcPts val="0"/>
              </a:spcAft>
            </a:pPr>
            <a:r>
              <a:rPr sz="2500" b="1" i="0">
                <a:solidFill>
                  <a:srgbClr val="F5F7FA"/>
                </a:solidFill>
                <a:latin typeface="Segoe UI"/>
              </a:rPr>
              <a:t>Technical Severity + Business Context = Banking Risk Score</a:t>
            </a:r>
          </a:p>
        </p:txBody>
      </p:sp>
      <p:cxnSp>
        <p:nvCxnSpPr>
          <p:cNvPr id="10" name="Connector 9"/>
          <p:cNvCxnSpPr/>
          <p:nvPr/>
        </p:nvCxnSpPr>
        <p:spPr>
          <a:xfrm>
            <a:off x="502920" y="1399032"/>
            <a:ext cx="960120" cy="0"/>
          </a:xfrm>
          <a:prstGeom prst="line">
            <a:avLst/>
          </a:prstGeom>
          <a:ln w="28575">
            <a:solidFill>
              <a:srgbClr val="EDA100"/>
            </a:solidFill>
          </a:ln>
          <a:effectLst/>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02920" y="1847088"/>
            <a:ext cx="1181404" cy="640080"/>
          </a:xfrm>
          <a:prstGeom prst="roundRect">
            <a:avLst>
              <a:gd name="adj" fmla="val 14000"/>
            </a:avLst>
          </a:prstGeom>
          <a:solidFill>
            <a:srgbClr val="18233B"/>
          </a:solidFill>
          <a:ln w="1587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100" b="1">
                <a:solidFill>
                  <a:srgbClr val="F5F7FA"/>
                </a:solidFill>
                <a:latin typeface="Segoe UI"/>
              </a:rPr>
              <a:t>Technical
Severity</a:t>
            </a:r>
          </a:p>
        </p:txBody>
      </p:sp>
      <p:sp>
        <p:nvSpPr>
          <p:cNvPr id="12" name="Isosceles Triangle 11"/>
          <p:cNvSpPr/>
          <p:nvPr/>
        </p:nvSpPr>
        <p:spPr>
          <a:xfrm rot="5400000">
            <a:off x="1698040" y="2103120"/>
            <a:ext cx="118872" cy="128016"/>
          </a:xfrm>
          <a:prstGeom prst="triangle">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830628" y="1847088"/>
            <a:ext cx="1181404" cy="640080"/>
          </a:xfrm>
          <a:prstGeom prst="roundRect">
            <a:avLst>
              <a:gd name="adj" fmla="val 14000"/>
            </a:avLst>
          </a:prstGeom>
          <a:solidFill>
            <a:srgbClr val="18233B"/>
          </a:solidFill>
          <a:ln w="15875">
            <a:solidFill>
              <a:srgbClr val="131B2E"/>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100" b="1">
                <a:solidFill>
                  <a:srgbClr val="F5F7FA"/>
                </a:solidFill>
                <a:latin typeface="Segoe UI"/>
              </a:rPr>
              <a:t>+</a:t>
            </a:r>
          </a:p>
        </p:txBody>
      </p:sp>
      <p:sp>
        <p:nvSpPr>
          <p:cNvPr id="14" name="Isosceles Triangle 13"/>
          <p:cNvSpPr/>
          <p:nvPr/>
        </p:nvSpPr>
        <p:spPr>
          <a:xfrm rot="5400000">
            <a:off x="3025748" y="2103120"/>
            <a:ext cx="118872" cy="128016"/>
          </a:xfrm>
          <a:prstGeom prst="triangle">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158336" y="1847088"/>
            <a:ext cx="1181404" cy="640080"/>
          </a:xfrm>
          <a:prstGeom prst="roundRect">
            <a:avLst>
              <a:gd name="adj" fmla="val 14000"/>
            </a:avLst>
          </a:prstGeom>
          <a:solidFill>
            <a:srgbClr val="18233B"/>
          </a:solidFill>
          <a:ln w="15875">
            <a:solidFill>
              <a:srgbClr val="EDA10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100" b="1">
                <a:solidFill>
                  <a:srgbClr val="F5F7FA"/>
                </a:solidFill>
                <a:latin typeface="Segoe UI"/>
              </a:rPr>
              <a:t>Business
Context</a:t>
            </a:r>
          </a:p>
        </p:txBody>
      </p:sp>
      <p:sp>
        <p:nvSpPr>
          <p:cNvPr id="16" name="Isosceles Triangle 15"/>
          <p:cNvSpPr/>
          <p:nvPr/>
        </p:nvSpPr>
        <p:spPr>
          <a:xfrm rot="5400000">
            <a:off x="4353456" y="2103120"/>
            <a:ext cx="118872" cy="128016"/>
          </a:xfrm>
          <a:prstGeom prst="triangle">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486044" y="1847088"/>
            <a:ext cx="1181404" cy="640080"/>
          </a:xfrm>
          <a:prstGeom prst="roundRect">
            <a:avLst>
              <a:gd name="adj" fmla="val 14000"/>
            </a:avLst>
          </a:prstGeom>
          <a:solidFill>
            <a:srgbClr val="18233B"/>
          </a:solidFill>
          <a:ln w="15875">
            <a:solidFill>
              <a:srgbClr val="131B2E"/>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100" b="1">
                <a:solidFill>
                  <a:srgbClr val="F5F7FA"/>
                </a:solidFill>
                <a:latin typeface="Segoe UI"/>
              </a:rPr>
              <a:t>=</a:t>
            </a:r>
          </a:p>
        </p:txBody>
      </p:sp>
      <p:sp>
        <p:nvSpPr>
          <p:cNvPr id="18" name="Isosceles Triangle 17"/>
          <p:cNvSpPr/>
          <p:nvPr/>
        </p:nvSpPr>
        <p:spPr>
          <a:xfrm rot="5400000">
            <a:off x="5681164" y="2103120"/>
            <a:ext cx="118872" cy="128016"/>
          </a:xfrm>
          <a:prstGeom prst="triangle">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813752" y="1847088"/>
            <a:ext cx="1181404" cy="640080"/>
          </a:xfrm>
          <a:prstGeom prst="roundRect">
            <a:avLst>
              <a:gd name="adj" fmla="val 14000"/>
            </a:avLst>
          </a:prstGeom>
          <a:solidFill>
            <a:srgbClr val="18233B"/>
          </a:solidFill>
          <a:ln w="1587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100" b="1">
                <a:solidFill>
                  <a:srgbClr val="F5F7FA"/>
                </a:solidFill>
                <a:latin typeface="Segoe UI"/>
              </a:rPr>
              <a:t>Banking
Risk Score</a:t>
            </a:r>
          </a:p>
        </p:txBody>
      </p:sp>
      <p:sp>
        <p:nvSpPr>
          <p:cNvPr id="20" name="Rounded Rectangle 19"/>
          <p:cNvSpPr/>
          <p:nvPr/>
        </p:nvSpPr>
        <p:spPr>
          <a:xfrm>
            <a:off x="502920" y="2697480"/>
            <a:ext cx="6492240" cy="402336"/>
          </a:xfrm>
          <a:prstGeom prst="roundRect">
            <a:avLst>
              <a:gd name="adj" fmla="val 5500"/>
            </a:avLst>
          </a:prstGeom>
          <a:solidFill>
            <a:srgbClr val="13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02920" y="2697480"/>
            <a:ext cx="4025188" cy="402336"/>
          </a:xfrm>
          <a:prstGeom prst="roundRect">
            <a:avLst>
              <a:gd name="adj" fmla="val 35000"/>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7512" y="2724912"/>
            <a:ext cx="3840480" cy="347472"/>
          </a:xfrm>
          <a:prstGeom prst="rect">
            <a:avLst/>
          </a:prstGeom>
          <a:noFill/>
        </p:spPr>
        <p:txBody>
          <a:bodyPr wrap="square" anchor="ctr" lIns="0" rIns="0" tIns="0" bIns="0">
            <a:noAutofit/>
          </a:bodyPr>
          <a:lstStyle/>
          <a:p>
            <a:pPr algn="l">
              <a:lnSpc>
                <a:spcPct val="100000"/>
              </a:lnSpc>
              <a:spcAft>
                <a:spcPts val="0"/>
              </a:spcAft>
            </a:pPr>
            <a:r>
              <a:rPr sz="1150" b="1" i="0">
                <a:solidFill>
                  <a:srgbClr val="F5F7FA"/>
                </a:solidFill>
                <a:latin typeface="Segoe UI"/>
              </a:rPr>
              <a:t>CVSS</a:t>
            </a:r>
          </a:p>
        </p:txBody>
      </p:sp>
      <p:sp>
        <p:nvSpPr>
          <p:cNvPr id="23" name="TextBox 22"/>
          <p:cNvSpPr txBox="1"/>
          <p:nvPr/>
        </p:nvSpPr>
        <p:spPr>
          <a:xfrm>
            <a:off x="6309359" y="2724912"/>
            <a:ext cx="594360" cy="347472"/>
          </a:xfrm>
          <a:prstGeom prst="rect">
            <a:avLst/>
          </a:prstGeom>
          <a:noFill/>
        </p:spPr>
        <p:txBody>
          <a:bodyPr wrap="square" anchor="ctr" lIns="0" rIns="0" tIns="0" bIns="0">
            <a:noAutofit/>
          </a:bodyPr>
          <a:lstStyle/>
          <a:p>
            <a:pPr algn="r">
              <a:lnSpc>
                <a:spcPct val="100000"/>
              </a:lnSpc>
              <a:spcAft>
                <a:spcPts val="0"/>
              </a:spcAft>
            </a:pPr>
            <a:r>
              <a:rPr sz="1200" b="1" i="0">
                <a:solidFill>
                  <a:srgbClr val="FFC64B"/>
                </a:solidFill>
                <a:latin typeface="Segoe UI"/>
              </a:rPr>
              <a:t>30%</a:t>
            </a:r>
          </a:p>
        </p:txBody>
      </p:sp>
      <p:sp>
        <p:nvSpPr>
          <p:cNvPr id="24" name="Rounded Rectangle 23"/>
          <p:cNvSpPr/>
          <p:nvPr/>
        </p:nvSpPr>
        <p:spPr>
          <a:xfrm>
            <a:off x="502920" y="3140964"/>
            <a:ext cx="6492240" cy="402336"/>
          </a:xfrm>
          <a:prstGeom prst="roundRect">
            <a:avLst>
              <a:gd name="adj" fmla="val 5500"/>
            </a:avLst>
          </a:prstGeom>
          <a:solidFill>
            <a:srgbClr val="13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3140964"/>
            <a:ext cx="2683459" cy="402336"/>
          </a:xfrm>
          <a:prstGeom prst="roundRect">
            <a:avLst>
              <a:gd name="adj" fmla="val 35000"/>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7512" y="3168396"/>
            <a:ext cx="3840480" cy="347472"/>
          </a:xfrm>
          <a:prstGeom prst="rect">
            <a:avLst/>
          </a:prstGeom>
          <a:noFill/>
        </p:spPr>
        <p:txBody>
          <a:bodyPr wrap="square" anchor="ctr" lIns="0" rIns="0" tIns="0" bIns="0">
            <a:noAutofit/>
          </a:bodyPr>
          <a:lstStyle/>
          <a:p>
            <a:pPr algn="l">
              <a:lnSpc>
                <a:spcPct val="100000"/>
              </a:lnSpc>
              <a:spcAft>
                <a:spcPts val="0"/>
              </a:spcAft>
            </a:pPr>
            <a:r>
              <a:rPr sz="1150" b="1" i="0">
                <a:solidFill>
                  <a:srgbClr val="F5F7FA"/>
                </a:solidFill>
                <a:latin typeface="Segoe UI"/>
              </a:rPr>
              <a:t>Business criticality</a:t>
            </a:r>
          </a:p>
        </p:txBody>
      </p:sp>
      <p:sp>
        <p:nvSpPr>
          <p:cNvPr id="27" name="TextBox 26"/>
          <p:cNvSpPr txBox="1"/>
          <p:nvPr/>
        </p:nvSpPr>
        <p:spPr>
          <a:xfrm>
            <a:off x="6309359" y="3168396"/>
            <a:ext cx="594360" cy="347472"/>
          </a:xfrm>
          <a:prstGeom prst="rect">
            <a:avLst/>
          </a:prstGeom>
          <a:noFill/>
        </p:spPr>
        <p:txBody>
          <a:bodyPr wrap="square" anchor="ctr" lIns="0" rIns="0" tIns="0" bIns="0">
            <a:noAutofit/>
          </a:bodyPr>
          <a:lstStyle/>
          <a:p>
            <a:pPr algn="r">
              <a:lnSpc>
                <a:spcPct val="100000"/>
              </a:lnSpc>
              <a:spcAft>
                <a:spcPts val="0"/>
              </a:spcAft>
            </a:pPr>
            <a:r>
              <a:rPr sz="1200" b="1" i="0">
                <a:solidFill>
                  <a:srgbClr val="FFC64B"/>
                </a:solidFill>
                <a:latin typeface="Segoe UI"/>
              </a:rPr>
              <a:t>20%</a:t>
            </a:r>
          </a:p>
        </p:txBody>
      </p:sp>
      <p:sp>
        <p:nvSpPr>
          <p:cNvPr id="28" name="Rounded Rectangle 27"/>
          <p:cNvSpPr/>
          <p:nvPr/>
        </p:nvSpPr>
        <p:spPr>
          <a:xfrm>
            <a:off x="502920" y="3584448"/>
            <a:ext cx="6492240" cy="402336"/>
          </a:xfrm>
          <a:prstGeom prst="roundRect">
            <a:avLst>
              <a:gd name="adj" fmla="val 5500"/>
            </a:avLst>
          </a:prstGeom>
          <a:solidFill>
            <a:srgbClr val="13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502920" y="3584448"/>
            <a:ext cx="2012594" cy="402336"/>
          </a:xfrm>
          <a:prstGeom prst="roundRect">
            <a:avLst>
              <a:gd name="adj" fmla="val 35000"/>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7512" y="3611879"/>
            <a:ext cx="3840480" cy="347472"/>
          </a:xfrm>
          <a:prstGeom prst="rect">
            <a:avLst/>
          </a:prstGeom>
          <a:noFill/>
        </p:spPr>
        <p:txBody>
          <a:bodyPr wrap="square" anchor="ctr" lIns="0" rIns="0" tIns="0" bIns="0">
            <a:noAutofit/>
          </a:bodyPr>
          <a:lstStyle/>
          <a:p>
            <a:pPr algn="l">
              <a:lnSpc>
                <a:spcPct val="100000"/>
              </a:lnSpc>
              <a:spcAft>
                <a:spcPts val="0"/>
              </a:spcAft>
            </a:pPr>
            <a:r>
              <a:rPr sz="1150" b="1" i="0">
                <a:solidFill>
                  <a:srgbClr val="F5F7FA"/>
                </a:solidFill>
                <a:latin typeface="Segoe UI"/>
              </a:rPr>
              <a:t>Exploitability</a:t>
            </a:r>
          </a:p>
        </p:txBody>
      </p:sp>
      <p:sp>
        <p:nvSpPr>
          <p:cNvPr id="31" name="TextBox 30"/>
          <p:cNvSpPr txBox="1"/>
          <p:nvPr/>
        </p:nvSpPr>
        <p:spPr>
          <a:xfrm>
            <a:off x="6309359" y="3611879"/>
            <a:ext cx="594360" cy="347472"/>
          </a:xfrm>
          <a:prstGeom prst="rect">
            <a:avLst/>
          </a:prstGeom>
          <a:noFill/>
        </p:spPr>
        <p:txBody>
          <a:bodyPr wrap="square" anchor="ctr" lIns="0" rIns="0" tIns="0" bIns="0">
            <a:noAutofit/>
          </a:bodyPr>
          <a:lstStyle/>
          <a:p>
            <a:pPr algn="r">
              <a:lnSpc>
                <a:spcPct val="100000"/>
              </a:lnSpc>
              <a:spcAft>
                <a:spcPts val="0"/>
              </a:spcAft>
            </a:pPr>
            <a:r>
              <a:rPr sz="1200" b="1" i="0">
                <a:solidFill>
                  <a:srgbClr val="FFC64B"/>
                </a:solidFill>
                <a:latin typeface="Segoe UI"/>
              </a:rPr>
              <a:t>15%</a:t>
            </a:r>
          </a:p>
        </p:txBody>
      </p:sp>
      <p:sp>
        <p:nvSpPr>
          <p:cNvPr id="32" name="Rounded Rectangle 31"/>
          <p:cNvSpPr/>
          <p:nvPr/>
        </p:nvSpPr>
        <p:spPr>
          <a:xfrm>
            <a:off x="502920" y="4027932"/>
            <a:ext cx="6492240" cy="402336"/>
          </a:xfrm>
          <a:prstGeom prst="roundRect">
            <a:avLst>
              <a:gd name="adj" fmla="val 5500"/>
            </a:avLst>
          </a:prstGeom>
          <a:solidFill>
            <a:srgbClr val="13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502920" y="4027932"/>
            <a:ext cx="1341729" cy="402336"/>
          </a:xfrm>
          <a:prstGeom prst="roundRect">
            <a:avLst>
              <a:gd name="adj" fmla="val 35000"/>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7512" y="4055364"/>
            <a:ext cx="3840480" cy="347472"/>
          </a:xfrm>
          <a:prstGeom prst="rect">
            <a:avLst/>
          </a:prstGeom>
          <a:noFill/>
        </p:spPr>
        <p:txBody>
          <a:bodyPr wrap="square" anchor="ctr" lIns="0" rIns="0" tIns="0" bIns="0">
            <a:noAutofit/>
          </a:bodyPr>
          <a:lstStyle/>
          <a:p>
            <a:pPr algn="l">
              <a:lnSpc>
                <a:spcPct val="100000"/>
              </a:lnSpc>
              <a:spcAft>
                <a:spcPts val="0"/>
              </a:spcAft>
            </a:pPr>
            <a:r>
              <a:rPr sz="1150" b="1" i="0">
                <a:solidFill>
                  <a:srgbClr val="F5F7FA"/>
                </a:solidFill>
                <a:latin typeface="Segoe UI"/>
              </a:rPr>
              <a:t>Internet exposure</a:t>
            </a:r>
          </a:p>
        </p:txBody>
      </p:sp>
      <p:sp>
        <p:nvSpPr>
          <p:cNvPr id="35" name="TextBox 34"/>
          <p:cNvSpPr txBox="1"/>
          <p:nvPr/>
        </p:nvSpPr>
        <p:spPr>
          <a:xfrm>
            <a:off x="6309359" y="4055364"/>
            <a:ext cx="594360" cy="347472"/>
          </a:xfrm>
          <a:prstGeom prst="rect">
            <a:avLst/>
          </a:prstGeom>
          <a:noFill/>
        </p:spPr>
        <p:txBody>
          <a:bodyPr wrap="square" anchor="ctr" lIns="0" rIns="0" tIns="0" bIns="0">
            <a:noAutofit/>
          </a:bodyPr>
          <a:lstStyle/>
          <a:p>
            <a:pPr algn="r">
              <a:lnSpc>
                <a:spcPct val="100000"/>
              </a:lnSpc>
              <a:spcAft>
                <a:spcPts val="0"/>
              </a:spcAft>
            </a:pPr>
            <a:r>
              <a:rPr sz="1200" b="1" i="0">
                <a:solidFill>
                  <a:srgbClr val="FFC64B"/>
                </a:solidFill>
                <a:latin typeface="Segoe UI"/>
              </a:rPr>
              <a:t>10%</a:t>
            </a:r>
          </a:p>
        </p:txBody>
      </p:sp>
      <p:sp>
        <p:nvSpPr>
          <p:cNvPr id="36" name="Rounded Rectangle 35"/>
          <p:cNvSpPr/>
          <p:nvPr/>
        </p:nvSpPr>
        <p:spPr>
          <a:xfrm>
            <a:off x="502920" y="4471416"/>
            <a:ext cx="6492240" cy="402336"/>
          </a:xfrm>
          <a:prstGeom prst="roundRect">
            <a:avLst>
              <a:gd name="adj" fmla="val 5500"/>
            </a:avLst>
          </a:prstGeom>
          <a:solidFill>
            <a:srgbClr val="13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502920" y="4471416"/>
            <a:ext cx="1341729" cy="402336"/>
          </a:xfrm>
          <a:prstGeom prst="roundRect">
            <a:avLst>
              <a:gd name="adj" fmla="val 35000"/>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67512" y="4498848"/>
            <a:ext cx="3840480" cy="347472"/>
          </a:xfrm>
          <a:prstGeom prst="rect">
            <a:avLst/>
          </a:prstGeom>
          <a:noFill/>
        </p:spPr>
        <p:txBody>
          <a:bodyPr wrap="square" anchor="ctr" lIns="0" rIns="0" tIns="0" bIns="0">
            <a:noAutofit/>
          </a:bodyPr>
          <a:lstStyle/>
          <a:p>
            <a:pPr algn="l">
              <a:lnSpc>
                <a:spcPct val="100000"/>
              </a:lnSpc>
              <a:spcAft>
                <a:spcPts val="0"/>
              </a:spcAft>
            </a:pPr>
            <a:r>
              <a:rPr sz="1150" b="1" i="0">
                <a:solidFill>
                  <a:srgbClr val="F5F7FA"/>
                </a:solidFill>
                <a:latin typeface="Segoe UI"/>
              </a:rPr>
              <a:t>Compliance impact</a:t>
            </a:r>
          </a:p>
        </p:txBody>
      </p:sp>
      <p:sp>
        <p:nvSpPr>
          <p:cNvPr id="39" name="TextBox 38"/>
          <p:cNvSpPr txBox="1"/>
          <p:nvPr/>
        </p:nvSpPr>
        <p:spPr>
          <a:xfrm>
            <a:off x="6309359" y="4498848"/>
            <a:ext cx="594360" cy="347472"/>
          </a:xfrm>
          <a:prstGeom prst="rect">
            <a:avLst/>
          </a:prstGeom>
          <a:noFill/>
        </p:spPr>
        <p:txBody>
          <a:bodyPr wrap="square" anchor="ctr" lIns="0" rIns="0" tIns="0" bIns="0">
            <a:noAutofit/>
          </a:bodyPr>
          <a:lstStyle/>
          <a:p>
            <a:pPr algn="r">
              <a:lnSpc>
                <a:spcPct val="100000"/>
              </a:lnSpc>
              <a:spcAft>
                <a:spcPts val="0"/>
              </a:spcAft>
            </a:pPr>
            <a:r>
              <a:rPr sz="1200" b="1" i="0">
                <a:solidFill>
                  <a:srgbClr val="FFC64B"/>
                </a:solidFill>
                <a:latin typeface="Segoe UI"/>
              </a:rPr>
              <a:t>10%</a:t>
            </a:r>
          </a:p>
        </p:txBody>
      </p:sp>
      <p:sp>
        <p:nvSpPr>
          <p:cNvPr id="40" name="Rounded Rectangle 39"/>
          <p:cNvSpPr/>
          <p:nvPr/>
        </p:nvSpPr>
        <p:spPr>
          <a:xfrm>
            <a:off x="502920" y="4914900"/>
            <a:ext cx="6492240" cy="402336"/>
          </a:xfrm>
          <a:prstGeom prst="roundRect">
            <a:avLst>
              <a:gd name="adj" fmla="val 5500"/>
            </a:avLst>
          </a:prstGeom>
          <a:solidFill>
            <a:srgbClr val="13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502920" y="4914900"/>
            <a:ext cx="1341729" cy="402336"/>
          </a:xfrm>
          <a:prstGeom prst="roundRect">
            <a:avLst>
              <a:gd name="adj" fmla="val 35000"/>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67512" y="4942332"/>
            <a:ext cx="3840480" cy="347472"/>
          </a:xfrm>
          <a:prstGeom prst="rect">
            <a:avLst/>
          </a:prstGeom>
          <a:noFill/>
        </p:spPr>
        <p:txBody>
          <a:bodyPr wrap="square" anchor="ctr" lIns="0" rIns="0" tIns="0" bIns="0">
            <a:noAutofit/>
          </a:bodyPr>
          <a:lstStyle/>
          <a:p>
            <a:pPr algn="l">
              <a:lnSpc>
                <a:spcPct val="100000"/>
              </a:lnSpc>
              <a:spcAft>
                <a:spcPts val="0"/>
              </a:spcAft>
            </a:pPr>
            <a:r>
              <a:rPr sz="1150" b="1" i="0">
                <a:solidFill>
                  <a:srgbClr val="F5F7FA"/>
                </a:solidFill>
                <a:latin typeface="Segoe UI"/>
              </a:rPr>
              <a:t>Asset value</a:t>
            </a:r>
          </a:p>
        </p:txBody>
      </p:sp>
      <p:sp>
        <p:nvSpPr>
          <p:cNvPr id="43" name="TextBox 42"/>
          <p:cNvSpPr txBox="1"/>
          <p:nvPr/>
        </p:nvSpPr>
        <p:spPr>
          <a:xfrm>
            <a:off x="6309359" y="4942332"/>
            <a:ext cx="594360" cy="347472"/>
          </a:xfrm>
          <a:prstGeom prst="rect">
            <a:avLst/>
          </a:prstGeom>
          <a:noFill/>
        </p:spPr>
        <p:txBody>
          <a:bodyPr wrap="square" anchor="ctr" lIns="0" rIns="0" tIns="0" bIns="0">
            <a:noAutofit/>
          </a:bodyPr>
          <a:lstStyle/>
          <a:p>
            <a:pPr algn="r">
              <a:lnSpc>
                <a:spcPct val="100000"/>
              </a:lnSpc>
              <a:spcAft>
                <a:spcPts val="0"/>
              </a:spcAft>
            </a:pPr>
            <a:r>
              <a:rPr sz="1200" b="1" i="0">
                <a:solidFill>
                  <a:srgbClr val="FFC64B"/>
                </a:solidFill>
                <a:latin typeface="Segoe UI"/>
              </a:rPr>
              <a:t>10%</a:t>
            </a:r>
          </a:p>
        </p:txBody>
      </p:sp>
      <p:sp>
        <p:nvSpPr>
          <p:cNvPr id="44" name="Rounded Rectangle 43"/>
          <p:cNvSpPr/>
          <p:nvPr/>
        </p:nvSpPr>
        <p:spPr>
          <a:xfrm>
            <a:off x="502920" y="5358384"/>
            <a:ext cx="6492240" cy="402336"/>
          </a:xfrm>
          <a:prstGeom prst="roundRect">
            <a:avLst>
              <a:gd name="adj" fmla="val 5500"/>
            </a:avLst>
          </a:prstGeom>
          <a:solidFill>
            <a:srgbClr val="13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502920" y="5358384"/>
            <a:ext cx="670864" cy="402336"/>
          </a:xfrm>
          <a:prstGeom prst="roundRect">
            <a:avLst>
              <a:gd name="adj" fmla="val 35000"/>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67512" y="5385816"/>
            <a:ext cx="3840480" cy="347472"/>
          </a:xfrm>
          <a:prstGeom prst="rect">
            <a:avLst/>
          </a:prstGeom>
          <a:noFill/>
        </p:spPr>
        <p:txBody>
          <a:bodyPr wrap="square" anchor="ctr" lIns="0" rIns="0" tIns="0" bIns="0">
            <a:noAutofit/>
          </a:bodyPr>
          <a:lstStyle/>
          <a:p>
            <a:pPr algn="l">
              <a:lnSpc>
                <a:spcPct val="100000"/>
              </a:lnSpc>
              <a:spcAft>
                <a:spcPts val="0"/>
              </a:spcAft>
            </a:pPr>
            <a:r>
              <a:rPr sz="1150" b="1" i="0">
                <a:solidFill>
                  <a:srgbClr val="F5F7FA"/>
                </a:solidFill>
                <a:latin typeface="Segoe UI"/>
              </a:rPr>
              <a:t>Historical incidents</a:t>
            </a:r>
          </a:p>
        </p:txBody>
      </p:sp>
      <p:sp>
        <p:nvSpPr>
          <p:cNvPr id="47" name="TextBox 46"/>
          <p:cNvSpPr txBox="1"/>
          <p:nvPr/>
        </p:nvSpPr>
        <p:spPr>
          <a:xfrm>
            <a:off x="6309359" y="5385816"/>
            <a:ext cx="594360" cy="347472"/>
          </a:xfrm>
          <a:prstGeom prst="rect">
            <a:avLst/>
          </a:prstGeom>
          <a:noFill/>
        </p:spPr>
        <p:txBody>
          <a:bodyPr wrap="square" anchor="ctr" lIns="0" rIns="0" tIns="0" bIns="0">
            <a:noAutofit/>
          </a:bodyPr>
          <a:lstStyle/>
          <a:p>
            <a:pPr algn="r">
              <a:lnSpc>
                <a:spcPct val="100000"/>
              </a:lnSpc>
              <a:spcAft>
                <a:spcPts val="0"/>
              </a:spcAft>
            </a:pPr>
            <a:r>
              <a:rPr sz="1200" b="1" i="0">
                <a:solidFill>
                  <a:srgbClr val="FFC64B"/>
                </a:solidFill>
                <a:latin typeface="Segoe UI"/>
              </a:rPr>
              <a:t>5%</a:t>
            </a:r>
          </a:p>
        </p:txBody>
      </p:sp>
      <p:sp>
        <p:nvSpPr>
          <p:cNvPr id="48" name="Rounded Rectangle 47"/>
          <p:cNvSpPr/>
          <p:nvPr/>
        </p:nvSpPr>
        <p:spPr>
          <a:xfrm>
            <a:off x="7315200" y="1847088"/>
            <a:ext cx="3867912" cy="1783080"/>
          </a:xfrm>
          <a:prstGeom prst="roundRect">
            <a:avLst>
              <a:gd name="adj" fmla="val 5500"/>
            </a:avLst>
          </a:prstGeom>
          <a:solidFill>
            <a:srgbClr val="13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7507224" y="2057400"/>
            <a:ext cx="128016" cy="128016"/>
          </a:xfrm>
          <a:prstGeom prst="ellipse">
            <a:avLst/>
          </a:prstGeom>
          <a:solidFill>
            <a:srgbClr val="E349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772400" y="2020824"/>
            <a:ext cx="3227832" cy="292608"/>
          </a:xfrm>
          <a:prstGeom prst="rect">
            <a:avLst/>
          </a:prstGeom>
          <a:noFill/>
        </p:spPr>
        <p:txBody>
          <a:bodyPr wrap="square" anchor="t" lIns="0" rIns="0" tIns="0" bIns="0">
            <a:noAutofit/>
          </a:bodyPr>
          <a:lstStyle/>
          <a:p>
            <a:pPr algn="l">
              <a:lnSpc>
                <a:spcPct val="100000"/>
              </a:lnSpc>
              <a:spcAft>
                <a:spcPts val="0"/>
              </a:spcAft>
            </a:pPr>
            <a:r>
              <a:rPr sz="1350" b="1" i="0">
                <a:solidFill>
                  <a:srgbClr val="F5F7FA"/>
                </a:solidFill>
                <a:latin typeface="Segoe UI"/>
              </a:rPr>
              <a:t>Risk Bands (0-100)</a:t>
            </a:r>
          </a:p>
        </p:txBody>
      </p:sp>
      <p:sp>
        <p:nvSpPr>
          <p:cNvPr id="51" name="TextBox 50"/>
          <p:cNvSpPr txBox="1"/>
          <p:nvPr/>
        </p:nvSpPr>
        <p:spPr>
          <a:xfrm>
            <a:off x="7534656" y="2377440"/>
            <a:ext cx="3429000" cy="1097280"/>
          </a:xfrm>
          <a:prstGeom prst="rect">
            <a:avLst/>
          </a:prstGeom>
          <a:noFill/>
        </p:spPr>
        <p:txBody>
          <a:bodyPr wrap="square" anchor="t" lIns="0" rIns="0" tIns="0" bIns="0">
            <a:noAutofit/>
          </a:bodyPr>
          <a:lstStyle/>
          <a:p>
            <a:pPr algn="l">
              <a:lnSpc>
                <a:spcPct val="108000"/>
              </a:lnSpc>
              <a:spcAft>
                <a:spcPts val="0"/>
              </a:spcAft>
            </a:pPr>
            <a:r>
              <a:rPr sz="1100" b="0" i="0">
                <a:solidFill>
                  <a:srgbClr val="9AA7BD"/>
                </a:solidFill>
                <a:latin typeface="Segoe UI"/>
              </a:rPr>
              <a:t>Critical ≥82  ·  High 58-82  ·  Medium 35-58  ·  Low &lt;35 -- empirically calibrated and unit-tested at every boundary.</a:t>
            </a:r>
          </a:p>
        </p:txBody>
      </p:sp>
      <p:sp>
        <p:nvSpPr>
          <p:cNvPr id="52" name="Rounded Rectangle 51"/>
          <p:cNvSpPr/>
          <p:nvPr/>
        </p:nvSpPr>
        <p:spPr>
          <a:xfrm>
            <a:off x="7315200" y="3703320"/>
            <a:ext cx="3867912" cy="1600200"/>
          </a:xfrm>
          <a:prstGeom prst="roundRect">
            <a:avLst>
              <a:gd name="adj" fmla="val 5500"/>
            </a:avLst>
          </a:prstGeom>
          <a:solidFill>
            <a:srgbClr val="13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7507224" y="3913632"/>
            <a:ext cx="128016" cy="128016"/>
          </a:xfrm>
          <a:prstGeom prst="ellipse">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772400" y="3877056"/>
            <a:ext cx="3227832" cy="292608"/>
          </a:xfrm>
          <a:prstGeom prst="rect">
            <a:avLst/>
          </a:prstGeom>
          <a:noFill/>
        </p:spPr>
        <p:txBody>
          <a:bodyPr wrap="square" anchor="t" lIns="0" rIns="0" tIns="0" bIns="0">
            <a:noAutofit/>
          </a:bodyPr>
          <a:lstStyle/>
          <a:p>
            <a:pPr algn="l">
              <a:lnSpc>
                <a:spcPct val="100000"/>
              </a:lnSpc>
              <a:spcAft>
                <a:spcPts val="0"/>
              </a:spcAft>
            </a:pPr>
            <a:r>
              <a:rPr sz="1350" b="1" i="0">
                <a:solidFill>
                  <a:srgbClr val="F5F7FA"/>
                </a:solidFill>
                <a:latin typeface="Segoe UI"/>
              </a:rPr>
              <a:t>Business Modules</a:t>
            </a:r>
          </a:p>
        </p:txBody>
      </p:sp>
      <p:sp>
        <p:nvSpPr>
          <p:cNvPr id="55" name="TextBox 54"/>
          <p:cNvSpPr txBox="1"/>
          <p:nvPr/>
        </p:nvSpPr>
        <p:spPr>
          <a:xfrm>
            <a:off x="7534656" y="4233672"/>
            <a:ext cx="3429000" cy="914400"/>
          </a:xfrm>
          <a:prstGeom prst="rect">
            <a:avLst/>
          </a:prstGeom>
          <a:noFill/>
        </p:spPr>
        <p:txBody>
          <a:bodyPr wrap="square" anchor="t" lIns="0" rIns="0" tIns="0" bIns="0">
            <a:noAutofit/>
          </a:bodyPr>
          <a:lstStyle/>
          <a:p>
            <a:pPr algn="l">
              <a:lnSpc>
                <a:spcPct val="108000"/>
              </a:lnSpc>
              <a:spcAft>
                <a:spcPts val="0"/>
              </a:spcAft>
            </a:pPr>
            <a:r>
              <a:rPr sz="1100" b="0" i="0">
                <a:solidFill>
                  <a:srgbClr val="9AA7BD"/>
                </a:solidFill>
                <a:latin typeface="Segoe UI"/>
              </a:rPr>
              <a:t>Payments (10/10, internet-facing), Authentication (8.5/8.0), Customer Data (7.0/9.0), Admin, Infrastructure, Reporting, General -- criticality × asset value, both DB-editable.</a:t>
            </a:r>
          </a:p>
        </p:txBody>
      </p:sp>
      <p:sp>
        <p:nvSpPr>
          <p:cNvPr id="56" name="Rounded Rectangle 55"/>
          <p:cNvSpPr/>
          <p:nvPr/>
        </p:nvSpPr>
        <p:spPr>
          <a:xfrm>
            <a:off x="7315200" y="5376672"/>
            <a:ext cx="3867912" cy="822960"/>
          </a:xfrm>
          <a:prstGeom prst="roundRect">
            <a:avLst>
              <a:gd name="adj" fmla="val 5500"/>
            </a:avLst>
          </a:prstGeom>
          <a:solidFill>
            <a:srgbClr val="13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7507224" y="5586984"/>
            <a:ext cx="128016" cy="128016"/>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772400" y="5550408"/>
            <a:ext cx="3227832" cy="292608"/>
          </a:xfrm>
          <a:prstGeom prst="rect">
            <a:avLst/>
          </a:prstGeom>
          <a:noFill/>
        </p:spPr>
        <p:txBody>
          <a:bodyPr wrap="square" anchor="t" lIns="0" rIns="0" tIns="0" bIns="0">
            <a:noAutofit/>
          </a:bodyPr>
          <a:lstStyle/>
          <a:p>
            <a:pPr algn="l">
              <a:lnSpc>
                <a:spcPct val="100000"/>
              </a:lnSpc>
              <a:spcAft>
                <a:spcPts val="0"/>
              </a:spcAft>
            </a:pPr>
            <a:r>
              <a:rPr sz="1350" b="1" i="0">
                <a:solidFill>
                  <a:srgbClr val="F5F7FA"/>
                </a:solidFill>
                <a:latin typeface="Segoe UI"/>
              </a:rPr>
              <a:t>Runtime-Configurable</a:t>
            </a:r>
          </a:p>
        </p:txBody>
      </p:sp>
      <p:sp>
        <p:nvSpPr>
          <p:cNvPr id="59" name="TextBox 58"/>
          <p:cNvSpPr txBox="1"/>
          <p:nvPr/>
        </p:nvSpPr>
        <p:spPr>
          <a:xfrm>
            <a:off x="7534656" y="5907024"/>
            <a:ext cx="3429000" cy="137160"/>
          </a:xfrm>
          <a:prstGeom prst="rect">
            <a:avLst/>
          </a:prstGeom>
          <a:noFill/>
        </p:spPr>
        <p:txBody>
          <a:bodyPr wrap="square" anchor="t" lIns="0" rIns="0" tIns="0" bIns="0">
            <a:noAutofit/>
          </a:bodyPr>
          <a:lstStyle/>
          <a:p>
            <a:pPr algn="l">
              <a:lnSpc>
                <a:spcPct val="108000"/>
              </a:lnSpc>
              <a:spcAft>
                <a:spcPts val="0"/>
              </a:spcAft>
            </a:pPr>
            <a:r>
              <a:rPr sz="950" b="0" i="0">
                <a:solidFill>
                  <a:srgbClr val="9AA7BD"/>
                </a:solidFill>
                <a:latin typeface="Segoe UI"/>
              </a:rPr>
              <a:t>Every weight and module lives in Postgres, editable via /api/v1/risk/* -- no redeploy.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362895" y="-3291840"/>
            <a:ext cx="5852160" cy="5852160"/>
          </a:xfrm>
          <a:prstGeom prst="ellipse">
            <a:avLst/>
          </a:prstGeom>
          <a:noFill/>
          <a:ln w="13970">
            <a:solidFill>
              <a:srgbClr val="EDA100">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502920" y="6473952"/>
            <a:ext cx="11185855" cy="0"/>
          </a:xfrm>
          <a:prstGeom prst="line">
            <a:avLst/>
          </a:prstGeom>
          <a:ln w="9525">
            <a:solidFill>
              <a:srgbClr val="2A3654"/>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28816"/>
            <a:ext cx="4572000" cy="274320"/>
          </a:xfrm>
          <a:prstGeom prst="rect">
            <a:avLst/>
          </a:prstGeom>
          <a:noFill/>
        </p:spPr>
        <p:txBody>
          <a:bodyPr wrap="square" anchor="t" lIns="0" rIns="0" tIns="0" bIns="0">
            <a:noAutofit/>
          </a:bodyPr>
          <a:lstStyle/>
          <a:p>
            <a:pPr algn="l">
              <a:lnSpc>
                <a:spcPct val="100000"/>
              </a:lnSpc>
              <a:spcAft>
                <a:spcPts val="0"/>
              </a:spcAft>
            </a:pPr>
            <a:r>
              <a:rPr sz="900" b="0" i="0">
                <a:solidFill>
                  <a:srgbClr val="64708A"/>
                </a:solidFill>
                <a:latin typeface="Segoe UI"/>
              </a:rPr>
              <a:t>KAVACH  ·  PSB Hackathon 2026</a:t>
            </a:r>
          </a:p>
        </p:txBody>
      </p:sp>
      <p:sp>
        <p:nvSpPr>
          <p:cNvPr id="6" name="TextBox 5"/>
          <p:cNvSpPr txBox="1"/>
          <p:nvPr/>
        </p:nvSpPr>
        <p:spPr>
          <a:xfrm>
            <a:off x="4480560" y="6528816"/>
            <a:ext cx="4572000" cy="274320"/>
          </a:xfrm>
          <a:prstGeom prst="rect">
            <a:avLst/>
          </a:prstGeom>
          <a:noFill/>
        </p:spPr>
        <p:txBody>
          <a:bodyPr wrap="square" anchor="t" lIns="0" rIns="0" tIns="0" bIns="0">
            <a:noAutofit/>
          </a:bodyPr>
          <a:lstStyle/>
          <a:p>
            <a:pPr algn="ctr">
              <a:lnSpc>
                <a:spcPct val="100000"/>
              </a:lnSpc>
              <a:spcAft>
                <a:spcPts val="0"/>
              </a:spcAft>
            </a:pPr>
            <a:r>
              <a:rPr sz="900" b="0" i="0">
                <a:solidFill>
                  <a:srgbClr val="64708A"/>
                </a:solidFill>
                <a:latin typeface="Segoe UI"/>
              </a:rPr>
              <a:t>AI INTELLIGENCE LAYER</a:t>
            </a:r>
          </a:p>
        </p:txBody>
      </p:sp>
      <p:sp>
        <p:nvSpPr>
          <p:cNvPr id="7" name="TextBox 6"/>
          <p:cNvSpPr txBox="1"/>
          <p:nvPr/>
        </p:nvSpPr>
        <p:spPr>
          <a:xfrm>
            <a:off x="10820095" y="6528816"/>
            <a:ext cx="914400" cy="274320"/>
          </a:xfrm>
          <a:prstGeom prst="rect">
            <a:avLst/>
          </a:prstGeom>
          <a:noFill/>
        </p:spPr>
        <p:txBody>
          <a:bodyPr wrap="square" anchor="t" lIns="0" rIns="0" tIns="0" bIns="0">
            <a:noAutofit/>
          </a:bodyPr>
          <a:lstStyle/>
          <a:p>
            <a:pPr algn="r">
              <a:lnSpc>
                <a:spcPct val="100000"/>
              </a:lnSpc>
              <a:spcAft>
                <a:spcPts val="0"/>
              </a:spcAft>
            </a:pPr>
            <a:r>
              <a:rPr sz="900" b="0" i="0">
                <a:solidFill>
                  <a:srgbClr val="64708A"/>
                </a:solidFill>
                <a:latin typeface="Segoe UI"/>
              </a:rPr>
              <a:t>12 / 22</a:t>
            </a:r>
          </a:p>
        </p:txBody>
      </p:sp>
      <p:sp>
        <p:nvSpPr>
          <p:cNvPr id="8" name="TextBox 7"/>
          <p:cNvSpPr txBox="1"/>
          <p:nvPr/>
        </p:nvSpPr>
        <p:spPr>
          <a:xfrm>
            <a:off x="502920" y="457200"/>
            <a:ext cx="9601200" cy="292608"/>
          </a:xfrm>
          <a:prstGeom prst="rect">
            <a:avLst/>
          </a:prstGeom>
          <a:noFill/>
        </p:spPr>
        <p:txBody>
          <a:bodyPr wrap="square" anchor="t" lIns="0" rIns="0" tIns="0" bIns="0">
            <a:noAutofit/>
          </a:bodyPr>
          <a:lstStyle/>
          <a:p>
            <a:pPr algn="l">
              <a:lnSpc>
                <a:spcPct val="100000"/>
              </a:lnSpc>
              <a:spcAft>
                <a:spcPts val="0"/>
              </a:spcAft>
            </a:pPr>
            <a:r>
              <a:rPr sz="1250" b="1" i="0" spc="160">
                <a:solidFill>
                  <a:srgbClr val="EDA100"/>
                </a:solidFill>
                <a:latin typeface="Segoe UI"/>
              </a:rPr>
              <a:t>AI INTELLIGENCE LAYER</a:t>
            </a:r>
          </a:p>
        </p:txBody>
      </p:sp>
      <p:sp>
        <p:nvSpPr>
          <p:cNvPr id="9" name="TextBox 8"/>
          <p:cNvSpPr txBox="1"/>
          <p:nvPr/>
        </p:nvSpPr>
        <p:spPr>
          <a:xfrm>
            <a:off x="502920" y="768096"/>
            <a:ext cx="10789920" cy="566928"/>
          </a:xfrm>
          <a:prstGeom prst="rect">
            <a:avLst/>
          </a:prstGeom>
          <a:noFill/>
        </p:spPr>
        <p:txBody>
          <a:bodyPr wrap="square" anchor="t" lIns="0" rIns="0" tIns="0" bIns="0">
            <a:noAutofit/>
          </a:bodyPr>
          <a:lstStyle/>
          <a:p>
            <a:pPr algn="l">
              <a:lnSpc>
                <a:spcPct val="102000"/>
              </a:lnSpc>
              <a:spcAft>
                <a:spcPts val="0"/>
              </a:spcAft>
            </a:pPr>
            <a:r>
              <a:rPr sz="3000" b="1" i="0">
                <a:solidFill>
                  <a:srgbClr val="F5F7FA"/>
                </a:solidFill>
                <a:latin typeface="Segoe UI"/>
              </a:rPr>
              <a:t>Strictly Explanatory -- Never the Scorer</a:t>
            </a:r>
          </a:p>
        </p:txBody>
      </p:sp>
      <p:cxnSp>
        <p:nvCxnSpPr>
          <p:cNvPr id="10" name="Connector 9"/>
          <p:cNvCxnSpPr/>
          <p:nvPr/>
        </p:nvCxnSpPr>
        <p:spPr>
          <a:xfrm>
            <a:off x="502920" y="1399032"/>
            <a:ext cx="960120" cy="0"/>
          </a:xfrm>
          <a:prstGeom prst="line">
            <a:avLst/>
          </a:prstGeom>
          <a:ln w="28575">
            <a:solidFill>
              <a:srgbClr val="EDA100"/>
            </a:solidFill>
          </a:ln>
          <a:effectLst/>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02920" y="1874519"/>
            <a:ext cx="5349240" cy="1965960"/>
          </a:xfrm>
          <a:prstGeom prst="roundRect">
            <a:avLst>
              <a:gd name="adj" fmla="val 5500"/>
            </a:avLst>
          </a:prstGeom>
          <a:solidFill>
            <a:srgbClr val="13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94944" y="2084831"/>
            <a:ext cx="128016" cy="128016"/>
          </a:xfrm>
          <a:prstGeom prst="ellipse">
            <a:avLst/>
          </a:prstGeom>
          <a:solidFill>
            <a:srgbClr val="4A3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2048255"/>
            <a:ext cx="4709160" cy="292608"/>
          </a:xfrm>
          <a:prstGeom prst="rect">
            <a:avLst/>
          </a:prstGeom>
          <a:noFill/>
        </p:spPr>
        <p:txBody>
          <a:bodyPr wrap="square" anchor="t" lIns="0" rIns="0" tIns="0" bIns="0">
            <a:noAutofit/>
          </a:bodyPr>
          <a:lstStyle/>
          <a:p>
            <a:pPr algn="l">
              <a:lnSpc>
                <a:spcPct val="100000"/>
              </a:lnSpc>
              <a:spcAft>
                <a:spcPts val="0"/>
              </a:spcAft>
            </a:pPr>
            <a:r>
              <a:rPr sz="1350" b="1" i="0">
                <a:solidFill>
                  <a:srgbClr val="F5F7FA"/>
                </a:solidFill>
                <a:latin typeface="Segoe UI"/>
              </a:rPr>
              <a:t>1. Automated Finding Explanations</a:t>
            </a:r>
          </a:p>
        </p:txBody>
      </p:sp>
      <p:sp>
        <p:nvSpPr>
          <p:cNvPr id="14" name="TextBox 13"/>
          <p:cNvSpPr txBox="1"/>
          <p:nvPr/>
        </p:nvSpPr>
        <p:spPr>
          <a:xfrm>
            <a:off x="722376" y="2404871"/>
            <a:ext cx="4910328" cy="1280160"/>
          </a:xfrm>
          <a:prstGeom prst="rect">
            <a:avLst/>
          </a:prstGeom>
          <a:noFill/>
        </p:spPr>
        <p:txBody>
          <a:bodyPr wrap="square" anchor="t" lIns="0" rIns="0" tIns="0" bIns="0">
            <a:noAutofit/>
          </a:bodyPr>
          <a:lstStyle/>
          <a:p>
            <a:pPr algn="l">
              <a:lnSpc>
                <a:spcPct val="108000"/>
              </a:lnSpc>
              <a:spcAft>
                <a:spcPts val="0"/>
              </a:spcAft>
            </a:pPr>
            <a:r>
              <a:rPr sz="1030" b="0" i="0">
                <a:solidFill>
                  <a:srgbClr val="9AA7BD"/>
                </a:solidFill>
                <a:latin typeface="Segoe UI"/>
              </a:rPr>
              <a:t>Pipeline-embedded, no user interaction needed. A provider-agnostic gateway resolves Claude, OpenAI, and Gemini (cloud) or Ollama and vLLM (local) behind one AI_MODE setting -- hybrid by default: local first, cloud fallback. A semantic cache avoids re-explaining near-identical findings, and a rule-based template library guarantees an explanation even with zero providers configured -- a scan never blocks on AI availability.</a:t>
            </a:r>
          </a:p>
        </p:txBody>
      </p:sp>
      <p:sp>
        <p:nvSpPr>
          <p:cNvPr id="15" name="Rounded Rectangle 14"/>
          <p:cNvSpPr/>
          <p:nvPr/>
        </p:nvSpPr>
        <p:spPr>
          <a:xfrm>
            <a:off x="5605272" y="1874519"/>
            <a:ext cx="5577840" cy="1965960"/>
          </a:xfrm>
          <a:prstGeom prst="roundRect">
            <a:avLst>
              <a:gd name="adj" fmla="val 5500"/>
            </a:avLst>
          </a:prstGeom>
          <a:solidFill>
            <a:srgbClr val="13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797296" y="2084831"/>
            <a:ext cx="128016" cy="128016"/>
          </a:xfrm>
          <a:prstGeom prst="ellipse">
            <a:avLst/>
          </a:prstGeom>
          <a:solidFill>
            <a:srgbClr val="9B8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62472" y="2048255"/>
            <a:ext cx="4937760" cy="292608"/>
          </a:xfrm>
          <a:prstGeom prst="rect">
            <a:avLst/>
          </a:prstGeom>
          <a:noFill/>
        </p:spPr>
        <p:txBody>
          <a:bodyPr wrap="square" anchor="t" lIns="0" rIns="0" tIns="0" bIns="0">
            <a:noAutofit/>
          </a:bodyPr>
          <a:lstStyle/>
          <a:p>
            <a:pPr algn="l">
              <a:lnSpc>
                <a:spcPct val="100000"/>
              </a:lnSpc>
              <a:spcAft>
                <a:spcPts val="0"/>
              </a:spcAft>
            </a:pPr>
            <a:r>
              <a:rPr sz="1350" b="1" i="0">
                <a:solidFill>
                  <a:srgbClr val="F5F7FA"/>
                </a:solidFill>
                <a:latin typeface="Segoe UI"/>
              </a:rPr>
              <a:t>2. RAG Knowledge Layer</a:t>
            </a:r>
          </a:p>
        </p:txBody>
      </p:sp>
      <p:sp>
        <p:nvSpPr>
          <p:cNvPr id="18" name="TextBox 17"/>
          <p:cNvSpPr txBox="1"/>
          <p:nvPr/>
        </p:nvSpPr>
        <p:spPr>
          <a:xfrm>
            <a:off x="5824728" y="2404871"/>
            <a:ext cx="5138928" cy="1280160"/>
          </a:xfrm>
          <a:prstGeom prst="rect">
            <a:avLst/>
          </a:prstGeom>
          <a:noFill/>
        </p:spPr>
        <p:txBody>
          <a:bodyPr wrap="square" anchor="t" lIns="0" rIns="0" tIns="0" bIns="0">
            <a:noAutofit/>
          </a:bodyPr>
          <a:lstStyle/>
          <a:p>
            <a:pPr algn="l">
              <a:lnSpc>
                <a:spcPct val="108000"/>
              </a:lnSpc>
              <a:spcAft>
                <a:spcPts val="0"/>
              </a:spcAft>
            </a:pPr>
            <a:r>
              <a:rPr sz="1050" b="0" i="0">
                <a:solidFill>
                  <a:srgbClr val="9AA7BD"/>
                </a:solidFill>
                <a:latin typeface="Segoe UI"/>
              </a:rPr>
              <a:t>On-demand, citation-grounded: AI Assistant chat, per-Finding Intelligence, and Executive Intelligence share one retrieve → rerank → confidence-gate → generate pipeline against an uploaded knowledge base (see next slide).</a:t>
            </a:r>
          </a:p>
        </p:txBody>
      </p:sp>
      <p:sp>
        <p:nvSpPr>
          <p:cNvPr id="19" name="Rounded Rectangle 18"/>
          <p:cNvSpPr/>
          <p:nvPr/>
        </p:nvSpPr>
        <p:spPr>
          <a:xfrm>
            <a:off x="502920" y="4023360"/>
            <a:ext cx="11183112" cy="1234440"/>
          </a:xfrm>
          <a:prstGeom prst="roundRect">
            <a:avLst>
              <a:gd name="adj" fmla="val 5500"/>
            </a:avLst>
          </a:prstGeom>
          <a:solidFill>
            <a:srgbClr val="18233B"/>
          </a:solidFill>
          <a:ln w="15875">
            <a:solidFill>
              <a:srgbClr val="EDA1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4160520"/>
            <a:ext cx="10634472" cy="292608"/>
          </a:xfrm>
          <a:prstGeom prst="rect">
            <a:avLst/>
          </a:prstGeom>
          <a:noFill/>
        </p:spPr>
        <p:txBody>
          <a:bodyPr wrap="square" anchor="t" lIns="0" rIns="0" tIns="0" bIns="0">
            <a:noAutofit/>
          </a:bodyPr>
          <a:lstStyle/>
          <a:p>
            <a:pPr algn="l">
              <a:lnSpc>
                <a:spcPct val="100000"/>
              </a:lnSpc>
              <a:spcAft>
                <a:spcPts val="0"/>
              </a:spcAft>
            </a:pPr>
            <a:r>
              <a:rPr sz="1150" b="1" i="0" spc="100">
                <a:solidFill>
                  <a:srgbClr val="EDA100"/>
                </a:solidFill>
                <a:latin typeface="Segoe UI"/>
              </a:rPr>
              <a:t>A STRUCTURAL GUARANTEE, NOT A POLICY</a:t>
            </a:r>
          </a:p>
        </p:txBody>
      </p:sp>
      <p:sp>
        <p:nvSpPr>
          <p:cNvPr id="21" name="TextBox 20"/>
          <p:cNvSpPr txBox="1"/>
          <p:nvPr/>
        </p:nvSpPr>
        <p:spPr>
          <a:xfrm>
            <a:off x="777240" y="4462272"/>
            <a:ext cx="10634472" cy="731520"/>
          </a:xfrm>
          <a:prstGeom prst="rect">
            <a:avLst/>
          </a:prstGeom>
          <a:noFill/>
        </p:spPr>
        <p:txBody>
          <a:bodyPr wrap="square" anchor="t" lIns="0" rIns="0" tIns="0" bIns="0">
            <a:noAutofit/>
          </a:bodyPr>
          <a:lstStyle/>
          <a:p>
            <a:pPr algn="l">
              <a:lnSpc>
                <a:spcPct val="118000"/>
              </a:lnSpc>
              <a:spcAft>
                <a:spcPts val="0"/>
              </a:spcAft>
            </a:pPr>
            <a:r>
              <a:rPr sz="1250" b="0" i="1">
                <a:solidFill>
                  <a:srgbClr val="F5F7FA"/>
                </a:solidFill>
                <a:latin typeface="Segoe UI"/>
              </a:rPr>
              <a:t>“AI never calculates a security score. AI never changes a finding. AI only explains, summarizes, retrieves evidence, and assists a human who is still the one deciding what to do.” The AI service layer only ever reads Finding/ScanJob rows to build a prompt -- none of it commits back to the database, and BRS/Attack-Surface-Exposure scoring runs in a separate code path the AI layer never calls into.</a:t>
            </a:r>
          </a:p>
        </p:txBody>
      </p:sp>
      <p:sp>
        <p:nvSpPr>
          <p:cNvPr id="22" name="Rounded Rectangle 21"/>
          <p:cNvSpPr/>
          <p:nvPr/>
        </p:nvSpPr>
        <p:spPr>
          <a:xfrm>
            <a:off x="502920" y="5394960"/>
            <a:ext cx="3566160" cy="868680"/>
          </a:xfrm>
          <a:prstGeom prst="roundRect">
            <a:avLst>
              <a:gd name="adj" fmla="val 3500"/>
            </a:avLst>
          </a:prstGeom>
          <a:solidFill>
            <a:srgbClr val="131B2E"/>
          </a:solidFill>
          <a:ln w="12700">
            <a:solidFill>
              <a:srgbClr val="3A48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5394960"/>
            <a:ext cx="3566160" cy="274320"/>
          </a:xfrm>
          <a:prstGeom prst="rect">
            <a:avLst/>
          </a:prstGeom>
          <a:solidFill>
            <a:srgbClr val="1E2B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26364" y="5490972"/>
            <a:ext cx="82296" cy="82296"/>
          </a:xfrm>
          <a:prstGeom prst="ellipse">
            <a:avLst/>
          </a:prstGeom>
          <a:solidFill>
            <a:srgbClr val="E349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72668" y="5490972"/>
            <a:ext cx="82296" cy="82296"/>
          </a:xfrm>
          <a:prstGeom prst="ellipse">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8972" y="5490972"/>
            <a:ext cx="82296" cy="82296"/>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51560" y="5440680"/>
            <a:ext cx="2834640" cy="201168"/>
          </a:xfrm>
          <a:prstGeom prst="rect">
            <a:avLst/>
          </a:prstGeom>
          <a:noFill/>
        </p:spPr>
        <p:txBody>
          <a:bodyPr wrap="square" anchor="t" lIns="0" rIns="0" tIns="0" bIns="0">
            <a:noAutofit/>
          </a:bodyPr>
          <a:lstStyle/>
          <a:p>
            <a:pPr algn="l">
              <a:lnSpc>
                <a:spcPct val="100000"/>
              </a:lnSpc>
              <a:spcAft>
                <a:spcPts val="0"/>
              </a:spcAft>
            </a:pPr>
            <a:r>
              <a:rPr sz="850" b="0" i="0">
                <a:solidFill>
                  <a:srgbClr val="64708A"/>
                </a:solidFill>
                <a:latin typeface="Consolas"/>
              </a:rPr>
              <a:t>/executive</a:t>
            </a:r>
          </a:p>
        </p:txBody>
      </p:sp>
      <p:sp>
        <p:nvSpPr>
          <p:cNvPr id="28" name="Rounded Rectangle 27"/>
          <p:cNvSpPr/>
          <p:nvPr/>
        </p:nvSpPr>
        <p:spPr>
          <a:xfrm>
            <a:off x="649224" y="5797296"/>
            <a:ext cx="3273552" cy="320040"/>
          </a:xfrm>
          <a:prstGeom prst="roundRect">
            <a:avLst>
              <a:gd name="adj" fmla="val 4000"/>
            </a:avLst>
          </a:prstGeom>
          <a:noFill/>
          <a:ln w="12700">
            <a:solidFill>
              <a:srgbClr val="6470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9AA7BD"/>
                </a:solidFill>
                <a:latin typeface="Segoe UI"/>
              </a:rPr>
              <a:t>▣  SCREENSHOT PLACEHOLDER</a:t>
            </a:r>
          </a:p>
          <a:p>
            <a:pPr algn="ctr">
              <a:spcBef>
                <a:spcPts val="600"/>
              </a:spcBef>
            </a:pPr>
            <a:r>
              <a:rPr sz="1050">
                <a:solidFill>
                  <a:srgbClr val="FFC64B"/>
                </a:solidFill>
                <a:latin typeface="Segoe UI"/>
              </a:rPr>
              <a:t>Executive Summary</a:t>
            </a:r>
          </a:p>
          <a:p>
            <a:pPr algn="ctr">
              <a:spcBef>
                <a:spcPts val="400"/>
              </a:spcBef>
            </a:pPr>
            <a:r>
              <a:rPr sz="850" i="1">
                <a:solidFill>
                  <a:srgbClr val="64708A"/>
                </a:solidFill>
                <a:latin typeface="Segoe UI"/>
              </a:rPr>
              <a:t>Executive Intelligence panel</a:t>
            </a:r>
          </a:p>
        </p:txBody>
      </p:sp>
      <p:sp>
        <p:nvSpPr>
          <p:cNvPr id="29" name="Rounded Rectangle 28"/>
          <p:cNvSpPr/>
          <p:nvPr/>
        </p:nvSpPr>
        <p:spPr>
          <a:xfrm>
            <a:off x="4206240" y="5394960"/>
            <a:ext cx="3429000" cy="868680"/>
          </a:xfrm>
          <a:prstGeom prst="roundRect">
            <a:avLst>
              <a:gd name="adj" fmla="val 5500"/>
            </a:avLst>
          </a:prstGeom>
          <a:solidFill>
            <a:srgbClr val="13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Connector 29"/>
          <p:cNvCxnSpPr/>
          <p:nvPr/>
        </p:nvCxnSpPr>
        <p:spPr>
          <a:xfrm>
            <a:off x="4224528" y="5522976"/>
            <a:ext cx="0" cy="612648"/>
          </a:xfrm>
          <a:prstGeom prst="line">
            <a:avLst/>
          </a:prstGeom>
          <a:ln w="38100">
            <a:solidFill>
              <a:srgbClr val="2A78D6"/>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4425696" y="5468112"/>
            <a:ext cx="3026664" cy="292608"/>
          </a:xfrm>
          <a:prstGeom prst="rect">
            <a:avLst/>
          </a:prstGeom>
          <a:noFill/>
        </p:spPr>
        <p:txBody>
          <a:bodyPr wrap="square" anchor="t" lIns="0" rIns="0" tIns="0" bIns="0">
            <a:noAutofit/>
          </a:bodyPr>
          <a:lstStyle/>
          <a:p>
            <a:pPr algn="l">
              <a:lnSpc>
                <a:spcPct val="100000"/>
              </a:lnSpc>
              <a:spcAft>
                <a:spcPts val="0"/>
              </a:spcAft>
            </a:pPr>
            <a:r>
              <a:rPr sz="1500" b="1" i="0">
                <a:solidFill>
                  <a:srgbClr val="2A78D6"/>
                </a:solidFill>
                <a:latin typeface="Segoe UI"/>
              </a:rPr>
              <a:t>5 providers</a:t>
            </a:r>
          </a:p>
        </p:txBody>
      </p:sp>
      <p:sp>
        <p:nvSpPr>
          <p:cNvPr id="32" name="TextBox 31"/>
          <p:cNvSpPr txBox="1"/>
          <p:nvPr/>
        </p:nvSpPr>
        <p:spPr>
          <a:xfrm>
            <a:off x="4425696" y="5760720"/>
            <a:ext cx="3026664" cy="429768"/>
          </a:xfrm>
          <a:prstGeom prst="rect">
            <a:avLst/>
          </a:prstGeom>
          <a:noFill/>
        </p:spPr>
        <p:txBody>
          <a:bodyPr wrap="square" anchor="t" lIns="0" rIns="0" tIns="0" bIns="0">
            <a:noAutofit/>
          </a:bodyPr>
          <a:lstStyle/>
          <a:p>
            <a:pPr algn="l">
              <a:lnSpc>
                <a:spcPct val="105000"/>
              </a:lnSpc>
              <a:spcAft>
                <a:spcPts val="0"/>
              </a:spcAft>
            </a:pPr>
            <a:r>
              <a:rPr sz="900" b="0" i="0">
                <a:solidFill>
                  <a:srgbClr val="9AA7BD"/>
                </a:solidFill>
                <a:latin typeface="Segoe UI"/>
              </a:rPr>
              <a:t>Claude · OpenAI · Gemini · Ollama · vLLM, one gateway</a:t>
            </a:r>
          </a:p>
        </p:txBody>
      </p:sp>
      <p:sp>
        <p:nvSpPr>
          <p:cNvPr id="33" name="Rounded Rectangle 32"/>
          <p:cNvSpPr/>
          <p:nvPr/>
        </p:nvSpPr>
        <p:spPr>
          <a:xfrm>
            <a:off x="7772400" y="5394960"/>
            <a:ext cx="3410712" cy="868680"/>
          </a:xfrm>
          <a:prstGeom prst="roundRect">
            <a:avLst>
              <a:gd name="adj" fmla="val 5500"/>
            </a:avLst>
          </a:prstGeom>
          <a:solidFill>
            <a:srgbClr val="13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Connector 33"/>
          <p:cNvCxnSpPr/>
          <p:nvPr/>
        </p:nvCxnSpPr>
        <p:spPr>
          <a:xfrm>
            <a:off x="7790688" y="5522976"/>
            <a:ext cx="0" cy="612648"/>
          </a:xfrm>
          <a:prstGeom prst="line">
            <a:avLst/>
          </a:prstGeom>
          <a:ln w="38100">
            <a:solidFill>
              <a:srgbClr val="1BAF7A"/>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7991856" y="5468112"/>
            <a:ext cx="3008376" cy="292608"/>
          </a:xfrm>
          <a:prstGeom prst="rect">
            <a:avLst/>
          </a:prstGeom>
          <a:noFill/>
        </p:spPr>
        <p:txBody>
          <a:bodyPr wrap="square" anchor="t" lIns="0" rIns="0" tIns="0" bIns="0">
            <a:noAutofit/>
          </a:bodyPr>
          <a:lstStyle/>
          <a:p>
            <a:pPr algn="l">
              <a:lnSpc>
                <a:spcPct val="100000"/>
              </a:lnSpc>
              <a:spcAft>
                <a:spcPts val="0"/>
              </a:spcAft>
            </a:pPr>
            <a:r>
              <a:rPr sz="1500" b="1" i="0">
                <a:solidFill>
                  <a:srgbClr val="1BAF7A"/>
                </a:solidFill>
                <a:latin typeface="Segoe UI"/>
              </a:rPr>
              <a:t>0 hard fails</a:t>
            </a:r>
          </a:p>
        </p:txBody>
      </p:sp>
      <p:sp>
        <p:nvSpPr>
          <p:cNvPr id="36" name="TextBox 35"/>
          <p:cNvSpPr txBox="1"/>
          <p:nvPr/>
        </p:nvSpPr>
        <p:spPr>
          <a:xfrm>
            <a:off x="7991856" y="5760720"/>
            <a:ext cx="3008376" cy="429768"/>
          </a:xfrm>
          <a:prstGeom prst="rect">
            <a:avLst/>
          </a:prstGeom>
          <a:noFill/>
        </p:spPr>
        <p:txBody>
          <a:bodyPr wrap="square" anchor="t" lIns="0" rIns="0" tIns="0" bIns="0">
            <a:noAutofit/>
          </a:bodyPr>
          <a:lstStyle/>
          <a:p>
            <a:pPr algn="l">
              <a:lnSpc>
                <a:spcPct val="105000"/>
              </a:lnSpc>
              <a:spcAft>
                <a:spcPts val="0"/>
              </a:spcAft>
            </a:pPr>
            <a:r>
              <a:rPr sz="900" b="0" i="0">
                <a:solidFill>
                  <a:srgbClr val="9AA7BD"/>
                </a:solidFill>
                <a:latin typeface="Segoe UI"/>
              </a:rPr>
              <a:t>Template fallback -- scans never block on AI reachability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362895" y="-3291840"/>
            <a:ext cx="5852160" cy="5852160"/>
          </a:xfrm>
          <a:prstGeom prst="ellipse">
            <a:avLst/>
          </a:prstGeom>
          <a:noFill/>
          <a:ln w="13970">
            <a:solidFill>
              <a:srgbClr val="EDA100">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502920" y="6473952"/>
            <a:ext cx="11185855" cy="0"/>
          </a:xfrm>
          <a:prstGeom prst="line">
            <a:avLst/>
          </a:prstGeom>
          <a:ln w="9525">
            <a:solidFill>
              <a:srgbClr val="2A3654"/>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28816"/>
            <a:ext cx="4572000" cy="274320"/>
          </a:xfrm>
          <a:prstGeom prst="rect">
            <a:avLst/>
          </a:prstGeom>
          <a:noFill/>
        </p:spPr>
        <p:txBody>
          <a:bodyPr wrap="square" anchor="t" lIns="0" rIns="0" tIns="0" bIns="0">
            <a:noAutofit/>
          </a:bodyPr>
          <a:lstStyle/>
          <a:p>
            <a:pPr algn="l">
              <a:lnSpc>
                <a:spcPct val="100000"/>
              </a:lnSpc>
              <a:spcAft>
                <a:spcPts val="0"/>
              </a:spcAft>
            </a:pPr>
            <a:r>
              <a:rPr sz="900" b="0" i="0">
                <a:solidFill>
                  <a:srgbClr val="64708A"/>
                </a:solidFill>
                <a:latin typeface="Segoe UI"/>
              </a:rPr>
              <a:t>KAVACH  ·  PSB Hackathon 2026</a:t>
            </a:r>
          </a:p>
        </p:txBody>
      </p:sp>
      <p:sp>
        <p:nvSpPr>
          <p:cNvPr id="6" name="TextBox 5"/>
          <p:cNvSpPr txBox="1"/>
          <p:nvPr/>
        </p:nvSpPr>
        <p:spPr>
          <a:xfrm>
            <a:off x="4480560" y="6528816"/>
            <a:ext cx="4572000" cy="274320"/>
          </a:xfrm>
          <a:prstGeom prst="rect">
            <a:avLst/>
          </a:prstGeom>
          <a:noFill/>
        </p:spPr>
        <p:txBody>
          <a:bodyPr wrap="square" anchor="t" lIns="0" rIns="0" tIns="0" bIns="0">
            <a:noAutofit/>
          </a:bodyPr>
          <a:lstStyle/>
          <a:p>
            <a:pPr algn="ctr">
              <a:lnSpc>
                <a:spcPct val="100000"/>
              </a:lnSpc>
              <a:spcAft>
                <a:spcPts val="0"/>
              </a:spcAft>
            </a:pPr>
            <a:r>
              <a:rPr sz="900" b="0" i="0">
                <a:solidFill>
                  <a:srgbClr val="64708A"/>
                </a:solidFill>
                <a:latin typeface="Segoe UI"/>
              </a:rPr>
              <a:t>KNOWLEDGE BASE (RAG)</a:t>
            </a:r>
          </a:p>
        </p:txBody>
      </p:sp>
      <p:sp>
        <p:nvSpPr>
          <p:cNvPr id="7" name="TextBox 6"/>
          <p:cNvSpPr txBox="1"/>
          <p:nvPr/>
        </p:nvSpPr>
        <p:spPr>
          <a:xfrm>
            <a:off x="10820095" y="6528816"/>
            <a:ext cx="914400" cy="274320"/>
          </a:xfrm>
          <a:prstGeom prst="rect">
            <a:avLst/>
          </a:prstGeom>
          <a:noFill/>
        </p:spPr>
        <p:txBody>
          <a:bodyPr wrap="square" anchor="t" lIns="0" rIns="0" tIns="0" bIns="0">
            <a:noAutofit/>
          </a:bodyPr>
          <a:lstStyle/>
          <a:p>
            <a:pPr algn="r">
              <a:lnSpc>
                <a:spcPct val="100000"/>
              </a:lnSpc>
              <a:spcAft>
                <a:spcPts val="0"/>
              </a:spcAft>
            </a:pPr>
            <a:r>
              <a:rPr sz="900" b="0" i="0">
                <a:solidFill>
                  <a:srgbClr val="64708A"/>
                </a:solidFill>
                <a:latin typeface="Segoe UI"/>
              </a:rPr>
              <a:t>13 / 22</a:t>
            </a:r>
          </a:p>
        </p:txBody>
      </p:sp>
      <p:sp>
        <p:nvSpPr>
          <p:cNvPr id="8" name="TextBox 7"/>
          <p:cNvSpPr txBox="1"/>
          <p:nvPr/>
        </p:nvSpPr>
        <p:spPr>
          <a:xfrm>
            <a:off x="502920" y="457200"/>
            <a:ext cx="9601200" cy="292608"/>
          </a:xfrm>
          <a:prstGeom prst="rect">
            <a:avLst/>
          </a:prstGeom>
          <a:noFill/>
        </p:spPr>
        <p:txBody>
          <a:bodyPr wrap="square" anchor="t" lIns="0" rIns="0" tIns="0" bIns="0">
            <a:noAutofit/>
          </a:bodyPr>
          <a:lstStyle/>
          <a:p>
            <a:pPr algn="l">
              <a:lnSpc>
                <a:spcPct val="100000"/>
              </a:lnSpc>
              <a:spcAft>
                <a:spcPts val="0"/>
              </a:spcAft>
            </a:pPr>
            <a:r>
              <a:rPr sz="1250" b="1" i="0" spc="160">
                <a:solidFill>
                  <a:srgbClr val="EDA100"/>
                </a:solidFill>
                <a:latin typeface="Segoe UI"/>
              </a:rPr>
              <a:t>KNOWLEDGE BASE</a:t>
            </a:r>
          </a:p>
        </p:txBody>
      </p:sp>
      <p:sp>
        <p:nvSpPr>
          <p:cNvPr id="9" name="TextBox 8"/>
          <p:cNvSpPr txBox="1"/>
          <p:nvPr/>
        </p:nvSpPr>
        <p:spPr>
          <a:xfrm>
            <a:off x="502920" y="768096"/>
            <a:ext cx="10789920" cy="566928"/>
          </a:xfrm>
          <a:prstGeom prst="rect">
            <a:avLst/>
          </a:prstGeom>
          <a:noFill/>
        </p:spPr>
        <p:txBody>
          <a:bodyPr wrap="square" anchor="t" lIns="0" rIns="0" tIns="0" bIns="0">
            <a:noAutofit/>
          </a:bodyPr>
          <a:lstStyle/>
          <a:p>
            <a:pPr algn="l">
              <a:lnSpc>
                <a:spcPct val="102000"/>
              </a:lnSpc>
              <a:spcAft>
                <a:spcPts val="0"/>
              </a:spcAft>
            </a:pPr>
            <a:r>
              <a:rPr sz="2600" b="1" i="0">
                <a:solidFill>
                  <a:srgbClr val="F5F7FA"/>
                </a:solidFill>
                <a:latin typeface="Segoe UI"/>
              </a:rPr>
              <a:t>Retrieval-Augmented, Confidence-Gated, Always Cited</a:t>
            </a:r>
          </a:p>
        </p:txBody>
      </p:sp>
      <p:cxnSp>
        <p:nvCxnSpPr>
          <p:cNvPr id="10" name="Connector 9"/>
          <p:cNvCxnSpPr/>
          <p:nvPr/>
        </p:nvCxnSpPr>
        <p:spPr>
          <a:xfrm>
            <a:off x="502920" y="1399032"/>
            <a:ext cx="960120" cy="0"/>
          </a:xfrm>
          <a:prstGeom prst="line">
            <a:avLst/>
          </a:prstGeom>
          <a:ln w="28575">
            <a:solidFill>
              <a:srgbClr val="EDA100"/>
            </a:solidFill>
          </a:ln>
          <a:effectLst/>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02920" y="1874519"/>
            <a:ext cx="1269873" cy="868680"/>
          </a:xfrm>
          <a:prstGeom prst="roundRect">
            <a:avLst>
              <a:gd name="adj" fmla="val 14000"/>
            </a:avLst>
          </a:prstGeom>
          <a:solidFill>
            <a:srgbClr val="18233B"/>
          </a:solidFill>
          <a:ln w="1587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969" b="1">
                <a:solidFill>
                  <a:srgbClr val="F5F7FA"/>
                </a:solidFill>
                <a:latin typeface="Segoe UI"/>
              </a:rPr>
              <a:t>Ingest</a:t>
            </a:r>
          </a:p>
        </p:txBody>
      </p:sp>
      <p:sp>
        <p:nvSpPr>
          <p:cNvPr id="12" name="Isosceles Triangle 11"/>
          <p:cNvSpPr/>
          <p:nvPr/>
        </p:nvSpPr>
        <p:spPr>
          <a:xfrm rot="5400000">
            <a:off x="1786509" y="2244851"/>
            <a:ext cx="118872" cy="128016"/>
          </a:xfrm>
          <a:prstGeom prst="triangle">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919097" y="1874519"/>
            <a:ext cx="1269873" cy="868680"/>
          </a:xfrm>
          <a:prstGeom prst="roundRect">
            <a:avLst>
              <a:gd name="adj" fmla="val 14000"/>
            </a:avLst>
          </a:prstGeom>
          <a:solidFill>
            <a:srgbClr val="18233B"/>
          </a:solidFill>
          <a:ln w="15875">
            <a:solidFill>
              <a:srgbClr val="4A3AA7"/>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969" b="1">
                <a:solidFill>
                  <a:srgbClr val="F5F7FA"/>
                </a:solidFill>
                <a:latin typeface="Segoe UI"/>
              </a:rPr>
              <a:t>Embed</a:t>
            </a:r>
          </a:p>
        </p:txBody>
      </p:sp>
      <p:sp>
        <p:nvSpPr>
          <p:cNvPr id="14" name="Isosceles Triangle 13"/>
          <p:cNvSpPr/>
          <p:nvPr/>
        </p:nvSpPr>
        <p:spPr>
          <a:xfrm rot="5400000">
            <a:off x="3202686" y="2244851"/>
            <a:ext cx="118872" cy="128016"/>
          </a:xfrm>
          <a:prstGeom prst="triangle">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335274" y="1874519"/>
            <a:ext cx="1269873" cy="868680"/>
          </a:xfrm>
          <a:prstGeom prst="roundRect">
            <a:avLst>
              <a:gd name="adj" fmla="val 14000"/>
            </a:avLst>
          </a:prstGeom>
          <a:solidFill>
            <a:srgbClr val="18233B"/>
          </a:solidFill>
          <a:ln w="15875">
            <a:solidFill>
              <a:srgbClr val="4A3AA7"/>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969" b="1">
                <a:solidFill>
                  <a:srgbClr val="F5F7FA"/>
                </a:solidFill>
                <a:latin typeface="Segoe UI"/>
              </a:rPr>
              <a:t>Vector DB</a:t>
            </a:r>
          </a:p>
        </p:txBody>
      </p:sp>
      <p:sp>
        <p:nvSpPr>
          <p:cNvPr id="16" name="Isosceles Triangle 15"/>
          <p:cNvSpPr/>
          <p:nvPr/>
        </p:nvSpPr>
        <p:spPr>
          <a:xfrm rot="5400000">
            <a:off x="4618863" y="2244851"/>
            <a:ext cx="118872" cy="128016"/>
          </a:xfrm>
          <a:prstGeom prst="triangle">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751451" y="1874519"/>
            <a:ext cx="1269873" cy="868680"/>
          </a:xfrm>
          <a:prstGeom prst="roundRect">
            <a:avLst>
              <a:gd name="adj" fmla="val 14000"/>
            </a:avLst>
          </a:prstGeom>
          <a:solidFill>
            <a:srgbClr val="18233B"/>
          </a:solidFill>
          <a:ln w="15875">
            <a:solidFill>
              <a:srgbClr val="6CAEF2"/>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969" b="1">
                <a:solidFill>
                  <a:srgbClr val="F5F7FA"/>
                </a:solidFill>
                <a:latin typeface="Segoe UI"/>
              </a:rPr>
              <a:t>Retrieve
(top 20)</a:t>
            </a:r>
          </a:p>
        </p:txBody>
      </p:sp>
      <p:sp>
        <p:nvSpPr>
          <p:cNvPr id="18" name="Isosceles Triangle 17"/>
          <p:cNvSpPr/>
          <p:nvPr/>
        </p:nvSpPr>
        <p:spPr>
          <a:xfrm rot="5400000">
            <a:off x="6035040" y="2244851"/>
            <a:ext cx="118872" cy="128016"/>
          </a:xfrm>
          <a:prstGeom prst="triangle">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167628" y="1874519"/>
            <a:ext cx="1269873" cy="868680"/>
          </a:xfrm>
          <a:prstGeom prst="roundRect">
            <a:avLst>
              <a:gd name="adj" fmla="val 14000"/>
            </a:avLst>
          </a:prstGeom>
          <a:solidFill>
            <a:srgbClr val="18233B"/>
          </a:solidFill>
          <a:ln w="15875">
            <a:solidFill>
              <a:srgbClr val="6CAEF2"/>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969" b="1">
                <a:solidFill>
                  <a:srgbClr val="F5F7FA"/>
                </a:solidFill>
                <a:latin typeface="Segoe UI"/>
              </a:rPr>
              <a:t>Rerank
(top 5)</a:t>
            </a:r>
          </a:p>
        </p:txBody>
      </p:sp>
      <p:sp>
        <p:nvSpPr>
          <p:cNvPr id="20" name="Isosceles Triangle 19"/>
          <p:cNvSpPr/>
          <p:nvPr/>
        </p:nvSpPr>
        <p:spPr>
          <a:xfrm rot="5400000">
            <a:off x="7451217" y="2244851"/>
            <a:ext cx="118872" cy="128016"/>
          </a:xfrm>
          <a:prstGeom prst="triangle">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583805" y="1874519"/>
            <a:ext cx="1269873" cy="868680"/>
          </a:xfrm>
          <a:prstGeom prst="roundRect">
            <a:avLst>
              <a:gd name="adj" fmla="val 14000"/>
            </a:avLst>
          </a:prstGeom>
          <a:solidFill>
            <a:srgbClr val="18233B"/>
          </a:solidFill>
          <a:ln w="15875">
            <a:solidFill>
              <a:srgbClr val="EDA10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969" b="1">
                <a:solidFill>
                  <a:srgbClr val="F5F7FA"/>
                </a:solidFill>
                <a:latin typeface="Segoe UI"/>
              </a:rPr>
              <a:t>Confidence
Gate</a:t>
            </a:r>
          </a:p>
        </p:txBody>
      </p:sp>
      <p:sp>
        <p:nvSpPr>
          <p:cNvPr id="22" name="Isosceles Triangle 21"/>
          <p:cNvSpPr/>
          <p:nvPr/>
        </p:nvSpPr>
        <p:spPr>
          <a:xfrm rot="5400000">
            <a:off x="8867394" y="2244851"/>
            <a:ext cx="118872" cy="128016"/>
          </a:xfrm>
          <a:prstGeom prst="triangle">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999982" y="1874519"/>
            <a:ext cx="1269873" cy="868680"/>
          </a:xfrm>
          <a:prstGeom prst="roundRect">
            <a:avLst>
              <a:gd name="adj" fmla="val 14000"/>
            </a:avLst>
          </a:prstGeom>
          <a:solidFill>
            <a:srgbClr val="18233B"/>
          </a:solidFill>
          <a:ln w="1587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969" b="1">
                <a:solidFill>
                  <a:srgbClr val="F5F7FA"/>
                </a:solidFill>
                <a:latin typeface="Segoe UI"/>
              </a:rPr>
              <a:t>Generate /
Refuse</a:t>
            </a:r>
          </a:p>
        </p:txBody>
      </p:sp>
      <p:sp>
        <p:nvSpPr>
          <p:cNvPr id="24" name="Isosceles Triangle 23"/>
          <p:cNvSpPr/>
          <p:nvPr/>
        </p:nvSpPr>
        <p:spPr>
          <a:xfrm rot="5400000">
            <a:off x="10283571" y="2244851"/>
            <a:ext cx="118872" cy="128016"/>
          </a:xfrm>
          <a:prstGeom prst="triangle">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10416159" y="1874519"/>
            <a:ext cx="1269873" cy="868680"/>
          </a:xfrm>
          <a:prstGeom prst="roundRect">
            <a:avLst>
              <a:gd name="adj" fmla="val 14000"/>
            </a:avLst>
          </a:prstGeom>
          <a:solidFill>
            <a:srgbClr val="18233B"/>
          </a:solidFill>
          <a:ln w="15875">
            <a:solidFill>
              <a:srgbClr val="F5F7F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969" b="1">
                <a:solidFill>
                  <a:srgbClr val="F5F7FA"/>
                </a:solidFill>
                <a:latin typeface="Segoe UI"/>
              </a:rPr>
              <a:t>Cite</a:t>
            </a:r>
          </a:p>
        </p:txBody>
      </p:sp>
      <p:sp>
        <p:nvSpPr>
          <p:cNvPr id="26" name="Rounded Rectangle 25"/>
          <p:cNvSpPr/>
          <p:nvPr/>
        </p:nvSpPr>
        <p:spPr>
          <a:xfrm>
            <a:off x="502920" y="2926080"/>
            <a:ext cx="2686050" cy="1828800"/>
          </a:xfrm>
          <a:prstGeom prst="roundRect">
            <a:avLst>
              <a:gd name="adj" fmla="val 5500"/>
            </a:avLst>
          </a:prstGeom>
          <a:solidFill>
            <a:srgbClr val="13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94944" y="3136392"/>
            <a:ext cx="128016" cy="128016"/>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60120" y="3099816"/>
            <a:ext cx="2045970" cy="292608"/>
          </a:xfrm>
          <a:prstGeom prst="rect">
            <a:avLst/>
          </a:prstGeom>
          <a:noFill/>
        </p:spPr>
        <p:txBody>
          <a:bodyPr wrap="square" anchor="t" lIns="0" rIns="0" tIns="0" bIns="0">
            <a:noAutofit/>
          </a:bodyPr>
          <a:lstStyle/>
          <a:p>
            <a:pPr algn="l">
              <a:lnSpc>
                <a:spcPct val="100000"/>
              </a:lnSpc>
              <a:spcAft>
                <a:spcPts val="0"/>
              </a:spcAft>
            </a:pPr>
            <a:r>
              <a:rPr sz="1150" b="1" i="0">
                <a:solidFill>
                  <a:srgbClr val="F5F7FA"/>
                </a:solidFill>
                <a:latin typeface="Segoe UI"/>
              </a:rPr>
              <a:t>Ingestion</a:t>
            </a:r>
          </a:p>
        </p:txBody>
      </p:sp>
      <p:sp>
        <p:nvSpPr>
          <p:cNvPr id="29" name="TextBox 28"/>
          <p:cNvSpPr txBox="1"/>
          <p:nvPr/>
        </p:nvSpPr>
        <p:spPr>
          <a:xfrm>
            <a:off x="722376" y="3456432"/>
            <a:ext cx="2247138" cy="1143000"/>
          </a:xfrm>
          <a:prstGeom prst="rect">
            <a:avLst/>
          </a:prstGeom>
          <a:noFill/>
        </p:spPr>
        <p:txBody>
          <a:bodyPr wrap="square" anchor="t" lIns="0" rIns="0" tIns="0" bIns="0">
            <a:noAutofit/>
          </a:bodyPr>
          <a:lstStyle/>
          <a:p>
            <a:pPr algn="l">
              <a:lnSpc>
                <a:spcPct val="108000"/>
              </a:lnSpc>
              <a:spcAft>
                <a:spcPts val="0"/>
              </a:spcAft>
            </a:pPr>
            <a:r>
              <a:rPr sz="930" b="0" i="0">
                <a:solidFill>
                  <a:srgbClr val="9AA7BD"/>
                </a:solidFill>
                <a:latin typeface="Segoe UI"/>
              </a:rPr>
              <a:t>PDF / Markdown / text, deduplicated by SHA-256 content hash, version-chained by filename, chunked with heading/section/page-aware splitting (~350 tokens, 50 overlap).</a:t>
            </a:r>
          </a:p>
        </p:txBody>
      </p:sp>
      <p:sp>
        <p:nvSpPr>
          <p:cNvPr id="30" name="Rounded Rectangle 29"/>
          <p:cNvSpPr/>
          <p:nvPr/>
        </p:nvSpPr>
        <p:spPr>
          <a:xfrm>
            <a:off x="3335274" y="2926080"/>
            <a:ext cx="2686050" cy="1828800"/>
          </a:xfrm>
          <a:prstGeom prst="roundRect">
            <a:avLst>
              <a:gd name="adj" fmla="val 5500"/>
            </a:avLst>
          </a:prstGeom>
          <a:solidFill>
            <a:srgbClr val="13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3527298" y="3136392"/>
            <a:ext cx="128016" cy="128016"/>
          </a:xfrm>
          <a:prstGeom prst="ellipse">
            <a:avLst/>
          </a:prstGeom>
          <a:solidFill>
            <a:srgbClr val="4A3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792474" y="3099816"/>
            <a:ext cx="2045970" cy="292608"/>
          </a:xfrm>
          <a:prstGeom prst="rect">
            <a:avLst/>
          </a:prstGeom>
          <a:noFill/>
        </p:spPr>
        <p:txBody>
          <a:bodyPr wrap="square" anchor="t" lIns="0" rIns="0" tIns="0" bIns="0">
            <a:noAutofit/>
          </a:bodyPr>
          <a:lstStyle/>
          <a:p>
            <a:pPr algn="l">
              <a:lnSpc>
                <a:spcPct val="100000"/>
              </a:lnSpc>
              <a:spcAft>
                <a:spcPts val="0"/>
              </a:spcAft>
            </a:pPr>
            <a:r>
              <a:rPr sz="1150" b="1" i="0">
                <a:solidFill>
                  <a:srgbClr val="F5F7FA"/>
                </a:solidFill>
                <a:latin typeface="Segoe UI"/>
              </a:rPr>
              <a:t>Embedding + Retrieval</a:t>
            </a:r>
          </a:p>
        </p:txBody>
      </p:sp>
      <p:sp>
        <p:nvSpPr>
          <p:cNvPr id="33" name="TextBox 32"/>
          <p:cNvSpPr txBox="1"/>
          <p:nvPr/>
        </p:nvSpPr>
        <p:spPr>
          <a:xfrm>
            <a:off x="3554730" y="3456432"/>
            <a:ext cx="2247138" cy="1143000"/>
          </a:xfrm>
          <a:prstGeom prst="rect">
            <a:avLst/>
          </a:prstGeom>
          <a:noFill/>
        </p:spPr>
        <p:txBody>
          <a:bodyPr wrap="square" anchor="t" lIns="0" rIns="0" tIns="0" bIns="0">
            <a:noAutofit/>
          </a:bodyPr>
          <a:lstStyle/>
          <a:p>
            <a:pPr algn="l">
              <a:lnSpc>
                <a:spcPct val="108000"/>
              </a:lnSpc>
              <a:spcAft>
                <a:spcPts val="0"/>
              </a:spcAft>
            </a:pPr>
            <a:r>
              <a:rPr sz="930" b="0" i="0">
                <a:solidFill>
                  <a:srgbClr val="9AA7BD"/>
                </a:solidFill>
                <a:latin typeface="Segoe UI"/>
              </a:rPr>
              <a:t>BAAI/bge-small-en-v1.5 (384-dim, local ONNX, no GPU) into Postgres + pgvector HNSW cosine search -- top 20 candidates retrieved.</a:t>
            </a:r>
          </a:p>
        </p:txBody>
      </p:sp>
      <p:sp>
        <p:nvSpPr>
          <p:cNvPr id="34" name="Rounded Rectangle 33"/>
          <p:cNvSpPr/>
          <p:nvPr/>
        </p:nvSpPr>
        <p:spPr>
          <a:xfrm>
            <a:off x="6167628" y="2926080"/>
            <a:ext cx="2686050" cy="1828800"/>
          </a:xfrm>
          <a:prstGeom prst="roundRect">
            <a:avLst>
              <a:gd name="adj" fmla="val 5500"/>
            </a:avLst>
          </a:prstGeom>
          <a:solidFill>
            <a:srgbClr val="13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6359652" y="3136392"/>
            <a:ext cx="128016" cy="128016"/>
          </a:xfrm>
          <a:prstGeom prst="ellipse">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624828" y="3099816"/>
            <a:ext cx="2045970" cy="292608"/>
          </a:xfrm>
          <a:prstGeom prst="rect">
            <a:avLst/>
          </a:prstGeom>
          <a:noFill/>
        </p:spPr>
        <p:txBody>
          <a:bodyPr wrap="square" anchor="t" lIns="0" rIns="0" tIns="0" bIns="0">
            <a:noAutofit/>
          </a:bodyPr>
          <a:lstStyle/>
          <a:p>
            <a:pPr algn="l">
              <a:lnSpc>
                <a:spcPct val="100000"/>
              </a:lnSpc>
              <a:spcAft>
                <a:spcPts val="0"/>
              </a:spcAft>
            </a:pPr>
            <a:r>
              <a:rPr sz="1150" b="1" i="0">
                <a:solidFill>
                  <a:srgbClr val="F5F7FA"/>
                </a:solidFill>
                <a:latin typeface="Segoe UI"/>
              </a:rPr>
              <a:t>Rerank + Confidence Gate</a:t>
            </a:r>
          </a:p>
        </p:txBody>
      </p:sp>
      <p:sp>
        <p:nvSpPr>
          <p:cNvPr id="37" name="TextBox 36"/>
          <p:cNvSpPr txBox="1"/>
          <p:nvPr/>
        </p:nvSpPr>
        <p:spPr>
          <a:xfrm>
            <a:off x="6387084" y="3456432"/>
            <a:ext cx="2247138" cy="1143000"/>
          </a:xfrm>
          <a:prstGeom prst="rect">
            <a:avLst/>
          </a:prstGeom>
          <a:noFill/>
        </p:spPr>
        <p:txBody>
          <a:bodyPr wrap="square" anchor="t" lIns="0" rIns="0" tIns="0" bIns="0">
            <a:noAutofit/>
          </a:bodyPr>
          <a:lstStyle/>
          <a:p>
            <a:pPr algn="l">
              <a:lnSpc>
                <a:spcPct val="108000"/>
              </a:lnSpc>
              <a:spcAft>
                <a:spcPts val="0"/>
              </a:spcAft>
            </a:pPr>
            <a:r>
              <a:rPr sz="930" b="0" i="0">
                <a:solidFill>
                  <a:srgbClr val="9AA7BD"/>
                </a:solidFill>
                <a:latin typeface="Segoe UI"/>
              </a:rPr>
              <a:t>Xenova/ms-marco-MiniLM-L-6-v2 cross-encoder narrows to top 5; the sigmoid-normalized top score must clear 0.5 or the LLM is never called at all.</a:t>
            </a:r>
          </a:p>
        </p:txBody>
      </p:sp>
      <p:sp>
        <p:nvSpPr>
          <p:cNvPr id="38" name="Rounded Rectangle 37"/>
          <p:cNvSpPr/>
          <p:nvPr/>
        </p:nvSpPr>
        <p:spPr>
          <a:xfrm>
            <a:off x="8999982" y="2926080"/>
            <a:ext cx="2686050" cy="1828800"/>
          </a:xfrm>
          <a:prstGeom prst="roundRect">
            <a:avLst>
              <a:gd name="adj" fmla="val 5500"/>
            </a:avLst>
          </a:prstGeom>
          <a:solidFill>
            <a:srgbClr val="13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9192006" y="3136392"/>
            <a:ext cx="128016" cy="128016"/>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457182" y="3099816"/>
            <a:ext cx="2045970" cy="292608"/>
          </a:xfrm>
          <a:prstGeom prst="rect">
            <a:avLst/>
          </a:prstGeom>
          <a:noFill/>
        </p:spPr>
        <p:txBody>
          <a:bodyPr wrap="square" anchor="t" lIns="0" rIns="0" tIns="0" bIns="0">
            <a:noAutofit/>
          </a:bodyPr>
          <a:lstStyle/>
          <a:p>
            <a:pPr algn="l">
              <a:lnSpc>
                <a:spcPct val="100000"/>
              </a:lnSpc>
              <a:spcAft>
                <a:spcPts val="0"/>
              </a:spcAft>
            </a:pPr>
            <a:r>
              <a:rPr sz="1150" b="1" i="0">
                <a:solidFill>
                  <a:srgbClr val="F5F7FA"/>
                </a:solidFill>
                <a:latin typeface="Segoe UI"/>
              </a:rPr>
              <a:t>Citations</a:t>
            </a:r>
          </a:p>
        </p:txBody>
      </p:sp>
      <p:sp>
        <p:nvSpPr>
          <p:cNvPr id="41" name="TextBox 40"/>
          <p:cNvSpPr txBox="1"/>
          <p:nvPr/>
        </p:nvSpPr>
        <p:spPr>
          <a:xfrm>
            <a:off x="9219438" y="3456432"/>
            <a:ext cx="2247138" cy="1143000"/>
          </a:xfrm>
          <a:prstGeom prst="rect">
            <a:avLst/>
          </a:prstGeom>
          <a:noFill/>
        </p:spPr>
        <p:txBody>
          <a:bodyPr wrap="square" anchor="t" lIns="0" rIns="0" tIns="0" bIns="0">
            <a:noAutofit/>
          </a:bodyPr>
          <a:lstStyle/>
          <a:p>
            <a:pPr algn="l">
              <a:lnSpc>
                <a:spcPct val="108000"/>
              </a:lnSpc>
              <a:spcAft>
                <a:spcPts val="0"/>
              </a:spcAft>
            </a:pPr>
            <a:r>
              <a:rPr sz="930" b="0" i="0">
                <a:solidFill>
                  <a:srgbClr val="9AA7BD"/>
                </a:solidFill>
                <a:latin typeface="Segoe UI"/>
              </a:rPr>
              <a:t>Every answer carries document, section, page, cosine similarity and rerank score -- not a vague “source: internet.”</a:t>
            </a:r>
          </a:p>
        </p:txBody>
      </p:sp>
      <p:sp>
        <p:nvSpPr>
          <p:cNvPr id="42" name="Rounded Rectangle 41"/>
          <p:cNvSpPr/>
          <p:nvPr/>
        </p:nvSpPr>
        <p:spPr>
          <a:xfrm>
            <a:off x="502920" y="4937760"/>
            <a:ext cx="11183112" cy="1188720"/>
          </a:xfrm>
          <a:prstGeom prst="roundRect">
            <a:avLst>
              <a:gd name="adj" fmla="val 5500"/>
            </a:avLst>
          </a:prstGeom>
          <a:solidFill>
            <a:srgbClr val="18233B"/>
          </a:solidFill>
          <a:ln w="13970">
            <a:solidFill>
              <a:srgbClr val="EDA1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77240" y="5056632"/>
            <a:ext cx="10634472" cy="274320"/>
          </a:xfrm>
          <a:prstGeom prst="rect">
            <a:avLst/>
          </a:prstGeom>
          <a:noFill/>
        </p:spPr>
        <p:txBody>
          <a:bodyPr wrap="square" anchor="t" lIns="0" rIns="0" tIns="0" bIns="0">
            <a:noAutofit/>
          </a:bodyPr>
          <a:lstStyle/>
          <a:p>
            <a:pPr algn="l">
              <a:lnSpc>
                <a:spcPct val="100000"/>
              </a:lnSpc>
              <a:spcAft>
                <a:spcPts val="0"/>
              </a:spcAft>
            </a:pPr>
            <a:r>
              <a:rPr sz="1100" b="1" i="0" spc="100">
                <a:solidFill>
                  <a:srgbClr val="EDA100"/>
                </a:solidFill>
                <a:latin typeface="Segoe UI"/>
              </a:rPr>
              <a:t>WHY THIS IS SAFER THAN PLAIN LLM PROMPTING</a:t>
            </a:r>
          </a:p>
        </p:txBody>
      </p:sp>
      <p:sp>
        <p:nvSpPr>
          <p:cNvPr id="44" name="TextBox 43"/>
          <p:cNvSpPr txBox="1"/>
          <p:nvPr/>
        </p:nvSpPr>
        <p:spPr>
          <a:xfrm>
            <a:off x="777240" y="5349240"/>
            <a:ext cx="10634472" cy="713232"/>
          </a:xfrm>
          <a:prstGeom prst="rect">
            <a:avLst/>
          </a:prstGeom>
          <a:noFill/>
        </p:spPr>
        <p:txBody>
          <a:bodyPr wrap="square" anchor="t" lIns="0" rIns="0" tIns="0" bIns="0">
            <a:noAutofit/>
          </a:bodyPr>
          <a:lstStyle/>
          <a:p>
            <a:pPr algn="l">
              <a:lnSpc>
                <a:spcPct val="115000"/>
              </a:lnSpc>
              <a:spcAft>
                <a:spcPts val="0"/>
              </a:spcAft>
            </a:pPr>
            <a:r>
              <a:rPr sz="1100" b="0" i="0">
                <a:solidFill>
                  <a:srgbClr val="9AA7BD"/>
                </a:solidFill>
                <a:latin typeface="Segoe UI"/>
              </a:rPr>
              <a:t>Below the confidence threshold, KAVACH physically never calls the model -- it returns a fixed refusal message deterministically. Above threshold, the LLM sees only the retrieved excerpts (closed-context generation), so it cannot answer from ungrounded general knowledge. Every surface is citation-backed by construction, not by prompt instruction alone.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362895" y="-3291840"/>
            <a:ext cx="5852160" cy="5852160"/>
          </a:xfrm>
          <a:prstGeom prst="ellipse">
            <a:avLst/>
          </a:prstGeom>
          <a:noFill/>
          <a:ln w="13970">
            <a:solidFill>
              <a:srgbClr val="EDA100">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502920" y="6473952"/>
            <a:ext cx="11185855" cy="0"/>
          </a:xfrm>
          <a:prstGeom prst="line">
            <a:avLst/>
          </a:prstGeom>
          <a:ln w="9525">
            <a:solidFill>
              <a:srgbClr val="2A3654"/>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28816"/>
            <a:ext cx="4572000" cy="274320"/>
          </a:xfrm>
          <a:prstGeom prst="rect">
            <a:avLst/>
          </a:prstGeom>
          <a:noFill/>
        </p:spPr>
        <p:txBody>
          <a:bodyPr wrap="square" anchor="t" lIns="0" rIns="0" tIns="0" bIns="0">
            <a:noAutofit/>
          </a:bodyPr>
          <a:lstStyle/>
          <a:p>
            <a:pPr algn="l">
              <a:lnSpc>
                <a:spcPct val="100000"/>
              </a:lnSpc>
              <a:spcAft>
                <a:spcPts val="0"/>
              </a:spcAft>
            </a:pPr>
            <a:r>
              <a:rPr sz="900" b="0" i="0">
                <a:solidFill>
                  <a:srgbClr val="64708A"/>
                </a:solidFill>
                <a:latin typeface="Segoe UI"/>
              </a:rPr>
              <a:t>KAVACH  ·  PSB Hackathon 2026</a:t>
            </a:r>
          </a:p>
        </p:txBody>
      </p:sp>
      <p:sp>
        <p:nvSpPr>
          <p:cNvPr id="6" name="TextBox 5"/>
          <p:cNvSpPr txBox="1"/>
          <p:nvPr/>
        </p:nvSpPr>
        <p:spPr>
          <a:xfrm>
            <a:off x="4480560" y="6528816"/>
            <a:ext cx="4572000" cy="274320"/>
          </a:xfrm>
          <a:prstGeom prst="rect">
            <a:avLst/>
          </a:prstGeom>
          <a:noFill/>
        </p:spPr>
        <p:txBody>
          <a:bodyPr wrap="square" anchor="t" lIns="0" rIns="0" tIns="0" bIns="0">
            <a:noAutofit/>
          </a:bodyPr>
          <a:lstStyle/>
          <a:p>
            <a:pPr algn="ctr">
              <a:lnSpc>
                <a:spcPct val="100000"/>
              </a:lnSpc>
              <a:spcAft>
                <a:spcPts val="0"/>
              </a:spcAft>
            </a:pPr>
            <a:r>
              <a:rPr sz="900" b="0" i="0">
                <a:solidFill>
                  <a:srgbClr val="64708A"/>
                </a:solidFill>
                <a:latin typeface="Segoe UI"/>
              </a:rPr>
              <a:t>COMPLIANCE ENGINE</a:t>
            </a:r>
          </a:p>
        </p:txBody>
      </p:sp>
      <p:sp>
        <p:nvSpPr>
          <p:cNvPr id="7" name="TextBox 6"/>
          <p:cNvSpPr txBox="1"/>
          <p:nvPr/>
        </p:nvSpPr>
        <p:spPr>
          <a:xfrm>
            <a:off x="10820095" y="6528816"/>
            <a:ext cx="914400" cy="274320"/>
          </a:xfrm>
          <a:prstGeom prst="rect">
            <a:avLst/>
          </a:prstGeom>
          <a:noFill/>
        </p:spPr>
        <p:txBody>
          <a:bodyPr wrap="square" anchor="t" lIns="0" rIns="0" tIns="0" bIns="0">
            <a:noAutofit/>
          </a:bodyPr>
          <a:lstStyle/>
          <a:p>
            <a:pPr algn="r">
              <a:lnSpc>
                <a:spcPct val="100000"/>
              </a:lnSpc>
              <a:spcAft>
                <a:spcPts val="0"/>
              </a:spcAft>
            </a:pPr>
            <a:r>
              <a:rPr sz="900" b="0" i="0">
                <a:solidFill>
                  <a:srgbClr val="64708A"/>
                </a:solidFill>
                <a:latin typeface="Segoe UI"/>
              </a:rPr>
              <a:t>14 / 22</a:t>
            </a:r>
          </a:p>
        </p:txBody>
      </p:sp>
      <p:sp>
        <p:nvSpPr>
          <p:cNvPr id="8" name="TextBox 7"/>
          <p:cNvSpPr txBox="1"/>
          <p:nvPr/>
        </p:nvSpPr>
        <p:spPr>
          <a:xfrm>
            <a:off x="502920" y="457200"/>
            <a:ext cx="9601200" cy="292608"/>
          </a:xfrm>
          <a:prstGeom prst="rect">
            <a:avLst/>
          </a:prstGeom>
          <a:noFill/>
        </p:spPr>
        <p:txBody>
          <a:bodyPr wrap="square" anchor="t" lIns="0" rIns="0" tIns="0" bIns="0">
            <a:noAutofit/>
          </a:bodyPr>
          <a:lstStyle/>
          <a:p>
            <a:pPr algn="l">
              <a:lnSpc>
                <a:spcPct val="100000"/>
              </a:lnSpc>
              <a:spcAft>
                <a:spcPts val="0"/>
              </a:spcAft>
            </a:pPr>
            <a:r>
              <a:rPr sz="1250" b="1" i="0" spc="160">
                <a:solidFill>
                  <a:srgbClr val="EDA100"/>
                </a:solidFill>
                <a:latin typeface="Segoe UI"/>
              </a:rPr>
              <a:t>COMPLIANCE ENGINE</a:t>
            </a:r>
          </a:p>
        </p:txBody>
      </p:sp>
      <p:sp>
        <p:nvSpPr>
          <p:cNvPr id="9" name="TextBox 8"/>
          <p:cNvSpPr txBox="1"/>
          <p:nvPr/>
        </p:nvSpPr>
        <p:spPr>
          <a:xfrm>
            <a:off x="502920" y="768096"/>
            <a:ext cx="10789920" cy="566928"/>
          </a:xfrm>
          <a:prstGeom prst="rect">
            <a:avLst/>
          </a:prstGeom>
          <a:noFill/>
        </p:spPr>
        <p:txBody>
          <a:bodyPr wrap="square" anchor="t" lIns="0" rIns="0" tIns="0" bIns="0">
            <a:noAutofit/>
          </a:bodyPr>
          <a:lstStyle/>
          <a:p>
            <a:pPr algn="l">
              <a:lnSpc>
                <a:spcPct val="102000"/>
              </a:lnSpc>
              <a:spcAft>
                <a:spcPts val="0"/>
              </a:spcAft>
            </a:pPr>
            <a:r>
              <a:rPr sz="2500" b="1" i="0">
                <a:solidFill>
                  <a:srgbClr val="F5F7FA"/>
                </a:solidFill>
                <a:latin typeface="Segoe UI"/>
              </a:rPr>
              <a:t>Deterministic, YAML-Driven Mapping -- Live, Not Frozen</a:t>
            </a:r>
          </a:p>
        </p:txBody>
      </p:sp>
      <p:cxnSp>
        <p:nvCxnSpPr>
          <p:cNvPr id="10" name="Connector 9"/>
          <p:cNvCxnSpPr/>
          <p:nvPr/>
        </p:nvCxnSpPr>
        <p:spPr>
          <a:xfrm>
            <a:off x="502920" y="1399032"/>
            <a:ext cx="960120" cy="0"/>
          </a:xfrm>
          <a:prstGeom prst="line">
            <a:avLst/>
          </a:prstGeom>
          <a:ln w="28575">
            <a:solidFill>
              <a:srgbClr val="EDA100"/>
            </a:solidFill>
          </a:ln>
          <a:effectLst/>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02920" y="1874519"/>
            <a:ext cx="3605784" cy="2331720"/>
          </a:xfrm>
          <a:prstGeom prst="roundRect">
            <a:avLst>
              <a:gd name="adj" fmla="val 5500"/>
            </a:avLst>
          </a:prstGeom>
          <a:solidFill>
            <a:srgbClr val="131B2E"/>
          </a:solidFill>
          <a:ln w="1587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4088" y="2011680"/>
            <a:ext cx="3203448" cy="365760"/>
          </a:xfrm>
          <a:prstGeom prst="rect">
            <a:avLst/>
          </a:prstGeom>
          <a:noFill/>
        </p:spPr>
        <p:txBody>
          <a:bodyPr wrap="square" anchor="t" lIns="0" rIns="0" tIns="0" bIns="0">
            <a:noAutofit/>
          </a:bodyPr>
          <a:lstStyle/>
          <a:p>
            <a:pPr algn="l">
              <a:lnSpc>
                <a:spcPct val="100000"/>
              </a:lnSpc>
              <a:spcAft>
                <a:spcPts val="0"/>
              </a:spcAft>
            </a:pPr>
            <a:r>
              <a:rPr sz="1350" b="1" i="0">
                <a:solidFill>
                  <a:srgbClr val="F5F7FA"/>
                </a:solidFill>
                <a:latin typeface="Segoe UI"/>
              </a:rPr>
              <a:t>RBI IT Framework, 2021</a:t>
            </a:r>
          </a:p>
        </p:txBody>
      </p:sp>
      <p:sp>
        <p:nvSpPr>
          <p:cNvPr id="13" name="Oval 12"/>
          <p:cNvSpPr/>
          <p:nvPr/>
        </p:nvSpPr>
        <p:spPr>
          <a:xfrm>
            <a:off x="713232" y="2478024"/>
            <a:ext cx="91440" cy="91440"/>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3544" y="2450592"/>
            <a:ext cx="3011424" cy="365760"/>
          </a:xfrm>
          <a:prstGeom prst="rect">
            <a:avLst/>
          </a:prstGeom>
          <a:noFill/>
        </p:spPr>
        <p:txBody>
          <a:bodyPr wrap="square" anchor="t" lIns="0" rIns="0" tIns="0" bIns="0">
            <a:noAutofit/>
          </a:bodyPr>
          <a:lstStyle/>
          <a:p>
            <a:pPr algn="l">
              <a:lnSpc>
                <a:spcPct val="105000"/>
              </a:lnSpc>
              <a:spcAft>
                <a:spcPts val="0"/>
              </a:spcAft>
            </a:pPr>
            <a:r>
              <a:rPr sz="969" b="0" i="0">
                <a:solidFill>
                  <a:srgbClr val="9AA7BD"/>
                </a:solidFill>
                <a:latin typeface="Segoe UI"/>
              </a:rPr>
              <a:t>4.2 Access Control &amp; Identity Mgmt</a:t>
            </a:r>
          </a:p>
        </p:txBody>
      </p:sp>
      <p:sp>
        <p:nvSpPr>
          <p:cNvPr id="15" name="Oval 14"/>
          <p:cNvSpPr/>
          <p:nvPr/>
        </p:nvSpPr>
        <p:spPr>
          <a:xfrm>
            <a:off x="713232" y="2880360"/>
            <a:ext cx="91440" cy="91440"/>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3544" y="2852928"/>
            <a:ext cx="3011424" cy="365760"/>
          </a:xfrm>
          <a:prstGeom prst="rect">
            <a:avLst/>
          </a:prstGeom>
          <a:noFill/>
        </p:spPr>
        <p:txBody>
          <a:bodyPr wrap="square" anchor="t" lIns="0" rIns="0" tIns="0" bIns="0">
            <a:noAutofit/>
          </a:bodyPr>
          <a:lstStyle/>
          <a:p>
            <a:pPr algn="l">
              <a:lnSpc>
                <a:spcPct val="105000"/>
              </a:lnSpc>
              <a:spcAft>
                <a:spcPts val="0"/>
              </a:spcAft>
            </a:pPr>
            <a:r>
              <a:rPr sz="969" b="0" i="0">
                <a:solidFill>
                  <a:srgbClr val="9AA7BD"/>
                </a:solidFill>
                <a:latin typeface="Segoe UI"/>
              </a:rPr>
              <a:t>5.3 Cryptography Policy</a:t>
            </a:r>
          </a:p>
        </p:txBody>
      </p:sp>
      <p:sp>
        <p:nvSpPr>
          <p:cNvPr id="17" name="Oval 16"/>
          <p:cNvSpPr/>
          <p:nvPr/>
        </p:nvSpPr>
        <p:spPr>
          <a:xfrm>
            <a:off x="713232" y="3282696"/>
            <a:ext cx="91440" cy="91440"/>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3544" y="3255264"/>
            <a:ext cx="3011424" cy="365760"/>
          </a:xfrm>
          <a:prstGeom prst="rect">
            <a:avLst/>
          </a:prstGeom>
          <a:noFill/>
        </p:spPr>
        <p:txBody>
          <a:bodyPr wrap="square" anchor="t" lIns="0" rIns="0" tIns="0" bIns="0">
            <a:noAutofit/>
          </a:bodyPr>
          <a:lstStyle/>
          <a:p>
            <a:pPr algn="l">
              <a:lnSpc>
                <a:spcPct val="105000"/>
              </a:lnSpc>
              <a:spcAft>
                <a:spcPts val="0"/>
              </a:spcAft>
            </a:pPr>
            <a:r>
              <a:rPr sz="969" b="0" i="0">
                <a:solidFill>
                  <a:srgbClr val="9AA7BD"/>
                </a:solidFill>
                <a:latin typeface="Segoe UI"/>
              </a:rPr>
              <a:t>6.4 Secure Coding Standards</a:t>
            </a:r>
          </a:p>
        </p:txBody>
      </p:sp>
      <p:sp>
        <p:nvSpPr>
          <p:cNvPr id="19" name="Oval 18"/>
          <p:cNvSpPr/>
          <p:nvPr/>
        </p:nvSpPr>
        <p:spPr>
          <a:xfrm>
            <a:off x="713232" y="3685032"/>
            <a:ext cx="91440" cy="91440"/>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3544" y="3657600"/>
            <a:ext cx="3011424" cy="365760"/>
          </a:xfrm>
          <a:prstGeom prst="rect">
            <a:avLst/>
          </a:prstGeom>
          <a:noFill/>
        </p:spPr>
        <p:txBody>
          <a:bodyPr wrap="square" anchor="t" lIns="0" rIns="0" tIns="0" bIns="0">
            <a:noAutofit/>
          </a:bodyPr>
          <a:lstStyle/>
          <a:p>
            <a:pPr algn="l">
              <a:lnSpc>
                <a:spcPct val="105000"/>
              </a:lnSpc>
              <a:spcAft>
                <a:spcPts val="0"/>
              </a:spcAft>
            </a:pPr>
            <a:r>
              <a:rPr sz="969" b="0" i="0">
                <a:solidFill>
                  <a:srgbClr val="9AA7BD"/>
                </a:solidFill>
                <a:latin typeface="Segoe UI"/>
              </a:rPr>
              <a:t>6.6 Patch &amp; Vulnerability Mgmt</a:t>
            </a:r>
          </a:p>
        </p:txBody>
      </p:sp>
      <p:sp>
        <p:nvSpPr>
          <p:cNvPr id="21" name="Rounded Rectangle 20"/>
          <p:cNvSpPr/>
          <p:nvPr/>
        </p:nvSpPr>
        <p:spPr>
          <a:xfrm>
            <a:off x="4291584" y="1874519"/>
            <a:ext cx="3605784" cy="2331720"/>
          </a:xfrm>
          <a:prstGeom prst="roundRect">
            <a:avLst>
              <a:gd name="adj" fmla="val 5500"/>
            </a:avLst>
          </a:prstGeom>
          <a:solidFill>
            <a:srgbClr val="131B2E"/>
          </a:solidFill>
          <a:ln w="1587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92752" y="2011680"/>
            <a:ext cx="3203448" cy="365760"/>
          </a:xfrm>
          <a:prstGeom prst="rect">
            <a:avLst/>
          </a:prstGeom>
          <a:noFill/>
        </p:spPr>
        <p:txBody>
          <a:bodyPr wrap="square" anchor="t" lIns="0" rIns="0" tIns="0" bIns="0">
            <a:noAutofit/>
          </a:bodyPr>
          <a:lstStyle/>
          <a:p>
            <a:pPr algn="l">
              <a:lnSpc>
                <a:spcPct val="100000"/>
              </a:lnSpc>
              <a:spcAft>
                <a:spcPts val="0"/>
              </a:spcAft>
            </a:pPr>
            <a:r>
              <a:rPr sz="1350" b="1" i="0">
                <a:solidFill>
                  <a:srgbClr val="F5F7FA"/>
                </a:solidFill>
                <a:latin typeface="Segoe UI"/>
              </a:rPr>
              <a:t>PCI DSS v4.0</a:t>
            </a:r>
          </a:p>
        </p:txBody>
      </p:sp>
      <p:sp>
        <p:nvSpPr>
          <p:cNvPr id="23" name="Oval 22"/>
          <p:cNvSpPr/>
          <p:nvPr/>
        </p:nvSpPr>
        <p:spPr>
          <a:xfrm>
            <a:off x="4501896" y="2478024"/>
            <a:ext cx="91440" cy="9144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12208" y="2450592"/>
            <a:ext cx="3011424" cy="365760"/>
          </a:xfrm>
          <a:prstGeom prst="rect">
            <a:avLst/>
          </a:prstGeom>
          <a:noFill/>
        </p:spPr>
        <p:txBody>
          <a:bodyPr wrap="square" anchor="t" lIns="0" rIns="0" tIns="0" bIns="0">
            <a:noAutofit/>
          </a:bodyPr>
          <a:lstStyle/>
          <a:p>
            <a:pPr algn="l">
              <a:lnSpc>
                <a:spcPct val="105000"/>
              </a:lnSpc>
              <a:spcAft>
                <a:spcPts val="0"/>
              </a:spcAft>
            </a:pPr>
            <a:r>
              <a:rPr sz="969" b="0" i="0">
                <a:solidFill>
                  <a:srgbClr val="9AA7BD"/>
                </a:solidFill>
                <a:latin typeface="Segoe UI"/>
              </a:rPr>
              <a:t>2.2 Secure configurations</a:t>
            </a:r>
          </a:p>
        </p:txBody>
      </p:sp>
      <p:sp>
        <p:nvSpPr>
          <p:cNvPr id="25" name="Oval 24"/>
          <p:cNvSpPr/>
          <p:nvPr/>
        </p:nvSpPr>
        <p:spPr>
          <a:xfrm>
            <a:off x="4501896" y="2880360"/>
            <a:ext cx="91440" cy="9144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712208" y="2852928"/>
            <a:ext cx="3011424" cy="365760"/>
          </a:xfrm>
          <a:prstGeom prst="rect">
            <a:avLst/>
          </a:prstGeom>
          <a:noFill/>
        </p:spPr>
        <p:txBody>
          <a:bodyPr wrap="square" anchor="t" lIns="0" rIns="0" tIns="0" bIns="0">
            <a:noAutofit/>
          </a:bodyPr>
          <a:lstStyle/>
          <a:p>
            <a:pPr algn="l">
              <a:lnSpc>
                <a:spcPct val="105000"/>
              </a:lnSpc>
              <a:spcAft>
                <a:spcPts val="0"/>
              </a:spcAft>
            </a:pPr>
            <a:r>
              <a:rPr sz="969" b="0" i="0">
                <a:solidFill>
                  <a:srgbClr val="9AA7BD"/>
                </a:solidFill>
                <a:latin typeface="Segoe UI"/>
              </a:rPr>
              <a:t>6.2 Bespoke software security</a:t>
            </a:r>
          </a:p>
        </p:txBody>
      </p:sp>
      <p:sp>
        <p:nvSpPr>
          <p:cNvPr id="27" name="Oval 26"/>
          <p:cNvSpPr/>
          <p:nvPr/>
        </p:nvSpPr>
        <p:spPr>
          <a:xfrm>
            <a:off x="4501896" y="3282696"/>
            <a:ext cx="91440" cy="9144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12208" y="3255264"/>
            <a:ext cx="3011424" cy="365760"/>
          </a:xfrm>
          <a:prstGeom prst="rect">
            <a:avLst/>
          </a:prstGeom>
          <a:noFill/>
        </p:spPr>
        <p:txBody>
          <a:bodyPr wrap="square" anchor="t" lIns="0" rIns="0" tIns="0" bIns="0">
            <a:noAutofit/>
          </a:bodyPr>
          <a:lstStyle/>
          <a:p>
            <a:pPr algn="l">
              <a:lnSpc>
                <a:spcPct val="105000"/>
              </a:lnSpc>
              <a:spcAft>
                <a:spcPts val="0"/>
              </a:spcAft>
            </a:pPr>
            <a:r>
              <a:rPr sz="969" b="0" i="0">
                <a:solidFill>
                  <a:srgbClr val="9AA7BD"/>
                </a:solidFill>
                <a:latin typeface="Segoe UI"/>
              </a:rPr>
              <a:t>8.3 Strong authentication</a:t>
            </a:r>
          </a:p>
        </p:txBody>
      </p:sp>
      <p:sp>
        <p:nvSpPr>
          <p:cNvPr id="29" name="Oval 28"/>
          <p:cNvSpPr/>
          <p:nvPr/>
        </p:nvSpPr>
        <p:spPr>
          <a:xfrm>
            <a:off x="4501896" y="3685032"/>
            <a:ext cx="91440" cy="9144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12208" y="3657600"/>
            <a:ext cx="3011424" cy="365760"/>
          </a:xfrm>
          <a:prstGeom prst="rect">
            <a:avLst/>
          </a:prstGeom>
          <a:noFill/>
        </p:spPr>
        <p:txBody>
          <a:bodyPr wrap="square" anchor="t" lIns="0" rIns="0" tIns="0" bIns="0">
            <a:noAutofit/>
          </a:bodyPr>
          <a:lstStyle/>
          <a:p>
            <a:pPr algn="l">
              <a:lnSpc>
                <a:spcPct val="105000"/>
              </a:lnSpc>
              <a:spcAft>
                <a:spcPts val="0"/>
              </a:spcAft>
            </a:pPr>
            <a:r>
              <a:rPr sz="969" b="0" i="0">
                <a:solidFill>
                  <a:srgbClr val="9AA7BD"/>
                </a:solidFill>
                <a:latin typeface="Segoe UI"/>
              </a:rPr>
              <a:t>12.8 Third-party risk</a:t>
            </a:r>
          </a:p>
        </p:txBody>
      </p:sp>
      <p:sp>
        <p:nvSpPr>
          <p:cNvPr id="31" name="Rounded Rectangle 30"/>
          <p:cNvSpPr/>
          <p:nvPr/>
        </p:nvSpPr>
        <p:spPr>
          <a:xfrm>
            <a:off x="8080248" y="1874519"/>
            <a:ext cx="3605784" cy="2331720"/>
          </a:xfrm>
          <a:prstGeom prst="roundRect">
            <a:avLst>
              <a:gd name="adj" fmla="val 5500"/>
            </a:avLst>
          </a:prstGeom>
          <a:solidFill>
            <a:srgbClr val="131B2E"/>
          </a:solidFill>
          <a:ln w="15875">
            <a:solidFill>
              <a:srgbClr val="9B8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81416" y="2011680"/>
            <a:ext cx="3203448" cy="365760"/>
          </a:xfrm>
          <a:prstGeom prst="rect">
            <a:avLst/>
          </a:prstGeom>
          <a:noFill/>
        </p:spPr>
        <p:txBody>
          <a:bodyPr wrap="square" anchor="t" lIns="0" rIns="0" tIns="0" bIns="0">
            <a:noAutofit/>
          </a:bodyPr>
          <a:lstStyle/>
          <a:p>
            <a:pPr algn="l">
              <a:lnSpc>
                <a:spcPct val="100000"/>
              </a:lnSpc>
              <a:spcAft>
                <a:spcPts val="0"/>
              </a:spcAft>
            </a:pPr>
            <a:r>
              <a:rPr sz="1350" b="1" i="0">
                <a:solidFill>
                  <a:srgbClr val="F5F7FA"/>
                </a:solidFill>
                <a:latin typeface="Segoe UI"/>
              </a:rPr>
              <a:t>SWIFT CSP</a:t>
            </a:r>
          </a:p>
        </p:txBody>
      </p:sp>
      <p:sp>
        <p:nvSpPr>
          <p:cNvPr id="33" name="Oval 32"/>
          <p:cNvSpPr/>
          <p:nvPr/>
        </p:nvSpPr>
        <p:spPr>
          <a:xfrm>
            <a:off x="8290560" y="2478024"/>
            <a:ext cx="91440" cy="91440"/>
          </a:xfrm>
          <a:prstGeom prst="ellipse">
            <a:avLst/>
          </a:prstGeom>
          <a:solidFill>
            <a:srgbClr val="9B8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500872" y="2450592"/>
            <a:ext cx="3011424" cy="365760"/>
          </a:xfrm>
          <a:prstGeom prst="rect">
            <a:avLst/>
          </a:prstGeom>
          <a:noFill/>
        </p:spPr>
        <p:txBody>
          <a:bodyPr wrap="square" anchor="t" lIns="0" rIns="0" tIns="0" bIns="0">
            <a:noAutofit/>
          </a:bodyPr>
          <a:lstStyle/>
          <a:p>
            <a:pPr algn="l">
              <a:lnSpc>
                <a:spcPct val="105000"/>
              </a:lnSpc>
              <a:spcAft>
                <a:spcPts val="0"/>
              </a:spcAft>
            </a:pPr>
            <a:r>
              <a:rPr sz="969" b="0" i="0">
                <a:solidFill>
                  <a:srgbClr val="9AA7BD"/>
                </a:solidFill>
                <a:latin typeface="Segoe UI"/>
              </a:rPr>
              <a:t>2.6 Cryptographic Controls</a:t>
            </a:r>
          </a:p>
        </p:txBody>
      </p:sp>
      <p:sp>
        <p:nvSpPr>
          <p:cNvPr id="35" name="Oval 34"/>
          <p:cNvSpPr/>
          <p:nvPr/>
        </p:nvSpPr>
        <p:spPr>
          <a:xfrm>
            <a:off x="8290560" y="2880360"/>
            <a:ext cx="91440" cy="91440"/>
          </a:xfrm>
          <a:prstGeom prst="ellipse">
            <a:avLst/>
          </a:prstGeom>
          <a:solidFill>
            <a:srgbClr val="9B8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500872" y="2852928"/>
            <a:ext cx="3011424" cy="365760"/>
          </a:xfrm>
          <a:prstGeom prst="rect">
            <a:avLst/>
          </a:prstGeom>
          <a:noFill/>
        </p:spPr>
        <p:txBody>
          <a:bodyPr wrap="square" anchor="t" lIns="0" rIns="0" tIns="0" bIns="0">
            <a:noAutofit/>
          </a:bodyPr>
          <a:lstStyle/>
          <a:p>
            <a:pPr algn="l">
              <a:lnSpc>
                <a:spcPct val="105000"/>
              </a:lnSpc>
              <a:spcAft>
                <a:spcPts val="0"/>
              </a:spcAft>
            </a:pPr>
            <a:r>
              <a:rPr sz="969" b="0" i="0">
                <a:solidFill>
                  <a:srgbClr val="9AA7BD"/>
                </a:solidFill>
                <a:latin typeface="Segoe UI"/>
              </a:rPr>
              <a:t>2.7 Vulnerability Scanning</a:t>
            </a:r>
          </a:p>
        </p:txBody>
      </p:sp>
      <p:sp>
        <p:nvSpPr>
          <p:cNvPr id="37" name="Oval 36"/>
          <p:cNvSpPr/>
          <p:nvPr/>
        </p:nvSpPr>
        <p:spPr>
          <a:xfrm>
            <a:off x="8290560" y="3282696"/>
            <a:ext cx="91440" cy="91440"/>
          </a:xfrm>
          <a:prstGeom prst="ellipse">
            <a:avLst/>
          </a:prstGeom>
          <a:solidFill>
            <a:srgbClr val="9B8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00872" y="3255264"/>
            <a:ext cx="3011424" cy="365760"/>
          </a:xfrm>
          <a:prstGeom prst="rect">
            <a:avLst/>
          </a:prstGeom>
          <a:noFill/>
        </p:spPr>
        <p:txBody>
          <a:bodyPr wrap="square" anchor="t" lIns="0" rIns="0" tIns="0" bIns="0">
            <a:noAutofit/>
          </a:bodyPr>
          <a:lstStyle/>
          <a:p>
            <a:pPr algn="l">
              <a:lnSpc>
                <a:spcPct val="105000"/>
              </a:lnSpc>
              <a:spcAft>
                <a:spcPts val="0"/>
              </a:spcAft>
            </a:pPr>
            <a:r>
              <a:rPr sz="969" b="0" i="0">
                <a:solidFill>
                  <a:srgbClr val="9AA7BD"/>
                </a:solidFill>
                <a:latin typeface="Segoe UI"/>
              </a:rPr>
              <a:t>3.1 Software Integrity</a:t>
            </a:r>
          </a:p>
        </p:txBody>
      </p:sp>
      <p:sp>
        <p:nvSpPr>
          <p:cNvPr id="39" name="Oval 38"/>
          <p:cNvSpPr/>
          <p:nvPr/>
        </p:nvSpPr>
        <p:spPr>
          <a:xfrm>
            <a:off x="8290560" y="3685032"/>
            <a:ext cx="91440" cy="91440"/>
          </a:xfrm>
          <a:prstGeom prst="ellipse">
            <a:avLst/>
          </a:prstGeom>
          <a:solidFill>
            <a:srgbClr val="9B8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500872" y="3657600"/>
            <a:ext cx="3011424" cy="365760"/>
          </a:xfrm>
          <a:prstGeom prst="rect">
            <a:avLst/>
          </a:prstGeom>
          <a:noFill/>
        </p:spPr>
        <p:txBody>
          <a:bodyPr wrap="square" anchor="t" lIns="0" rIns="0" tIns="0" bIns="0">
            <a:noAutofit/>
          </a:bodyPr>
          <a:lstStyle/>
          <a:p>
            <a:pPr algn="l">
              <a:lnSpc>
                <a:spcPct val="105000"/>
              </a:lnSpc>
              <a:spcAft>
                <a:spcPts val="0"/>
              </a:spcAft>
            </a:pPr>
            <a:r>
              <a:rPr sz="969" b="0" i="0">
                <a:solidFill>
                  <a:srgbClr val="9AA7BD"/>
                </a:solidFill>
                <a:latin typeface="Segoe UI"/>
              </a:rPr>
              <a:t>6.1 Operator Session Security</a:t>
            </a:r>
          </a:p>
        </p:txBody>
      </p:sp>
      <p:sp>
        <p:nvSpPr>
          <p:cNvPr id="41" name="Rounded Rectangle 40"/>
          <p:cNvSpPr/>
          <p:nvPr/>
        </p:nvSpPr>
        <p:spPr>
          <a:xfrm>
            <a:off x="502920" y="4370832"/>
            <a:ext cx="3611880" cy="1737360"/>
          </a:xfrm>
          <a:prstGeom prst="roundRect">
            <a:avLst>
              <a:gd name="adj" fmla="val 5500"/>
            </a:avLst>
          </a:prstGeom>
          <a:solidFill>
            <a:srgbClr val="13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94944" y="4581144"/>
            <a:ext cx="128016" cy="128016"/>
          </a:xfrm>
          <a:prstGeom prst="ellipse">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60120" y="4544568"/>
            <a:ext cx="2971800" cy="292608"/>
          </a:xfrm>
          <a:prstGeom prst="rect">
            <a:avLst/>
          </a:prstGeom>
          <a:noFill/>
        </p:spPr>
        <p:txBody>
          <a:bodyPr wrap="square" anchor="t" lIns="0" rIns="0" tIns="0" bIns="0">
            <a:noAutofit/>
          </a:bodyPr>
          <a:lstStyle/>
          <a:p>
            <a:pPr algn="l">
              <a:lnSpc>
                <a:spcPct val="100000"/>
              </a:lnSpc>
              <a:spcAft>
                <a:spcPts val="0"/>
              </a:spcAft>
            </a:pPr>
            <a:r>
              <a:rPr sz="1350" b="1" i="0">
                <a:solidFill>
                  <a:srgbClr val="F5F7FA"/>
                </a:solidFill>
                <a:latin typeface="Segoe UI"/>
              </a:rPr>
              <a:t>How It Evaluates</a:t>
            </a:r>
          </a:p>
        </p:txBody>
      </p:sp>
      <p:sp>
        <p:nvSpPr>
          <p:cNvPr id="44" name="TextBox 43"/>
          <p:cNvSpPr txBox="1"/>
          <p:nvPr/>
        </p:nvSpPr>
        <p:spPr>
          <a:xfrm>
            <a:off x="722376" y="4901184"/>
            <a:ext cx="3172968" cy="1051560"/>
          </a:xfrm>
          <a:prstGeom prst="rect">
            <a:avLst/>
          </a:prstGeom>
          <a:noFill/>
        </p:spPr>
        <p:txBody>
          <a:bodyPr wrap="square" anchor="t" lIns="0" rIns="0" tIns="0" bIns="0">
            <a:noAutofit/>
          </a:bodyPr>
          <a:lstStyle/>
          <a:p>
            <a:pPr algn="l">
              <a:lnSpc>
                <a:spcPct val="108000"/>
              </a:lnSpc>
              <a:spcAft>
                <a:spcPts val="0"/>
              </a:spcAft>
            </a:pPr>
            <a:r>
              <a:rPr sz="1000" b="0" i="0">
                <a:solidFill>
                  <a:srgbClr val="9AA7BD"/>
                </a:solidFill>
                <a:latin typeface="Segoe UI"/>
              </a:rPr>
              <a:t>Each YAML control defines a trigger (category + min-severity + source + keywords). Any matching finding fails the control, with full evidence attached -- binary PASS/FAIL, no middle state.</a:t>
            </a:r>
          </a:p>
        </p:txBody>
      </p:sp>
      <p:sp>
        <p:nvSpPr>
          <p:cNvPr id="45" name="Rounded Rectangle 44"/>
          <p:cNvSpPr/>
          <p:nvPr/>
        </p:nvSpPr>
        <p:spPr>
          <a:xfrm>
            <a:off x="3785615" y="4370832"/>
            <a:ext cx="3611880" cy="1737360"/>
          </a:xfrm>
          <a:prstGeom prst="roundRect">
            <a:avLst>
              <a:gd name="adj" fmla="val 5500"/>
            </a:avLst>
          </a:prstGeom>
          <a:solidFill>
            <a:srgbClr val="13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3977639" y="4581144"/>
            <a:ext cx="128016" cy="128016"/>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242815" y="4544568"/>
            <a:ext cx="2971800" cy="292608"/>
          </a:xfrm>
          <a:prstGeom prst="rect">
            <a:avLst/>
          </a:prstGeom>
          <a:noFill/>
        </p:spPr>
        <p:txBody>
          <a:bodyPr wrap="square" anchor="t" lIns="0" rIns="0" tIns="0" bIns="0">
            <a:noAutofit/>
          </a:bodyPr>
          <a:lstStyle/>
          <a:p>
            <a:pPr algn="l">
              <a:lnSpc>
                <a:spcPct val="100000"/>
              </a:lnSpc>
              <a:spcAft>
                <a:spcPts val="0"/>
              </a:spcAft>
            </a:pPr>
            <a:r>
              <a:rPr sz="1350" b="1" i="0">
                <a:solidFill>
                  <a:srgbClr val="F5F7FA"/>
                </a:solidFill>
                <a:latin typeface="Segoe UI"/>
              </a:rPr>
              <a:t>Data-Driven, Not Hardcoded</a:t>
            </a:r>
          </a:p>
        </p:txBody>
      </p:sp>
      <p:sp>
        <p:nvSpPr>
          <p:cNvPr id="48" name="TextBox 47"/>
          <p:cNvSpPr txBox="1"/>
          <p:nvPr/>
        </p:nvSpPr>
        <p:spPr>
          <a:xfrm>
            <a:off x="4005071" y="4901184"/>
            <a:ext cx="3172968" cy="1051560"/>
          </a:xfrm>
          <a:prstGeom prst="rect">
            <a:avLst/>
          </a:prstGeom>
          <a:noFill/>
        </p:spPr>
        <p:txBody>
          <a:bodyPr wrap="square" anchor="t" lIns="0" rIns="0" tIns="0" bIns="0">
            <a:noAutofit/>
          </a:bodyPr>
          <a:lstStyle/>
          <a:p>
            <a:pPr algn="l">
              <a:lnSpc>
                <a:spcPct val="108000"/>
              </a:lnSpc>
              <a:spcAft>
                <a:spcPts val="0"/>
              </a:spcAft>
            </a:pPr>
            <a:r>
              <a:rPr sz="1000" b="0" i="0">
                <a:solidFill>
                  <a:srgbClr val="9AA7BD"/>
                </a:solidFill>
                <a:latin typeface="Segoe UI"/>
              </a:rPr>
              <a:t>Dropping a new .yaml file into app/data/compliance_rules/ is the entire integration step for a new framework -- zero code changes. Recomputed live per scan, on demand.</a:t>
            </a:r>
          </a:p>
        </p:txBody>
      </p:sp>
      <p:sp>
        <p:nvSpPr>
          <p:cNvPr id="49" name="Rounded Rectangle 48"/>
          <p:cNvSpPr/>
          <p:nvPr/>
        </p:nvSpPr>
        <p:spPr>
          <a:xfrm>
            <a:off x="7571231" y="4370832"/>
            <a:ext cx="3611880" cy="1737360"/>
          </a:xfrm>
          <a:prstGeom prst="roundRect">
            <a:avLst>
              <a:gd name="adj" fmla="val 5500"/>
            </a:avLst>
          </a:prstGeom>
          <a:solidFill>
            <a:srgbClr val="13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7763255" y="4581144"/>
            <a:ext cx="128016" cy="128016"/>
          </a:xfrm>
          <a:prstGeom prst="ellipse">
            <a:avLst/>
          </a:prstGeom>
          <a:solidFill>
            <a:srgbClr val="E349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028431" y="4544568"/>
            <a:ext cx="2971800" cy="292608"/>
          </a:xfrm>
          <a:prstGeom prst="rect">
            <a:avLst/>
          </a:prstGeom>
          <a:noFill/>
        </p:spPr>
        <p:txBody>
          <a:bodyPr wrap="square" anchor="t" lIns="0" rIns="0" tIns="0" bIns="0">
            <a:noAutofit/>
          </a:bodyPr>
          <a:lstStyle/>
          <a:p>
            <a:pPr algn="l">
              <a:lnSpc>
                <a:spcPct val="100000"/>
              </a:lnSpc>
              <a:spcAft>
                <a:spcPts val="0"/>
              </a:spcAft>
            </a:pPr>
            <a:r>
              <a:rPr sz="1350" b="1" i="0">
                <a:solidFill>
                  <a:srgbClr val="F5F7FA"/>
                </a:solidFill>
                <a:latin typeface="Segoe UI"/>
              </a:rPr>
              <a:t>Honest Scope</a:t>
            </a:r>
          </a:p>
        </p:txBody>
      </p:sp>
      <p:sp>
        <p:nvSpPr>
          <p:cNvPr id="52" name="TextBox 51"/>
          <p:cNvSpPr txBox="1"/>
          <p:nvPr/>
        </p:nvSpPr>
        <p:spPr>
          <a:xfrm>
            <a:off x="7790687" y="4901184"/>
            <a:ext cx="3172968" cy="1051560"/>
          </a:xfrm>
          <a:prstGeom prst="rect">
            <a:avLst/>
          </a:prstGeom>
          <a:noFill/>
        </p:spPr>
        <p:txBody>
          <a:bodyPr wrap="square" anchor="t" lIns="0" rIns="0" tIns="0" bIns="0">
            <a:noAutofit/>
          </a:bodyPr>
          <a:lstStyle/>
          <a:p>
            <a:pPr algn="l">
              <a:lnSpc>
                <a:spcPct val="108000"/>
              </a:lnSpc>
              <a:spcAft>
                <a:spcPts val="0"/>
              </a:spcAft>
            </a:pPr>
            <a:r>
              <a:rPr sz="1000" b="0" i="0">
                <a:solidFill>
                  <a:srgbClr val="9AA7BD"/>
                </a:solidFill>
                <a:latin typeface="Segoe UI"/>
              </a:rPr>
              <a:t>KAVACH's own illustrative mapping for continuous self-assessment -- not a certified PCI QSA, RBI, or SWIFT CSP attestation. Should not be presented to a regulator as one without independent review.</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362895" y="-3291840"/>
            <a:ext cx="5852160" cy="5852160"/>
          </a:xfrm>
          <a:prstGeom prst="ellipse">
            <a:avLst/>
          </a:prstGeom>
          <a:noFill/>
          <a:ln w="13970">
            <a:solidFill>
              <a:srgbClr val="EDA100">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502920" y="6473952"/>
            <a:ext cx="11185855" cy="0"/>
          </a:xfrm>
          <a:prstGeom prst="line">
            <a:avLst/>
          </a:prstGeom>
          <a:ln w="9525">
            <a:solidFill>
              <a:srgbClr val="2A3654"/>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28816"/>
            <a:ext cx="4572000" cy="274320"/>
          </a:xfrm>
          <a:prstGeom prst="rect">
            <a:avLst/>
          </a:prstGeom>
          <a:noFill/>
        </p:spPr>
        <p:txBody>
          <a:bodyPr wrap="square" anchor="t" lIns="0" rIns="0" tIns="0" bIns="0">
            <a:noAutofit/>
          </a:bodyPr>
          <a:lstStyle/>
          <a:p>
            <a:pPr algn="l">
              <a:lnSpc>
                <a:spcPct val="100000"/>
              </a:lnSpc>
              <a:spcAft>
                <a:spcPts val="0"/>
              </a:spcAft>
            </a:pPr>
            <a:r>
              <a:rPr sz="900" b="0" i="0">
                <a:solidFill>
                  <a:srgbClr val="64708A"/>
                </a:solidFill>
                <a:latin typeface="Segoe UI"/>
              </a:rPr>
              <a:t>KAVACH  ·  PSB Hackathon 2026</a:t>
            </a:r>
          </a:p>
        </p:txBody>
      </p:sp>
      <p:sp>
        <p:nvSpPr>
          <p:cNvPr id="6" name="TextBox 5"/>
          <p:cNvSpPr txBox="1"/>
          <p:nvPr/>
        </p:nvSpPr>
        <p:spPr>
          <a:xfrm>
            <a:off x="4480560" y="6528816"/>
            <a:ext cx="4572000" cy="274320"/>
          </a:xfrm>
          <a:prstGeom prst="rect">
            <a:avLst/>
          </a:prstGeom>
          <a:noFill/>
        </p:spPr>
        <p:txBody>
          <a:bodyPr wrap="square" anchor="t" lIns="0" rIns="0" tIns="0" bIns="0">
            <a:noAutofit/>
          </a:bodyPr>
          <a:lstStyle/>
          <a:p>
            <a:pPr algn="ctr">
              <a:lnSpc>
                <a:spcPct val="100000"/>
              </a:lnSpc>
              <a:spcAft>
                <a:spcPts val="0"/>
              </a:spcAft>
            </a:pPr>
            <a:r>
              <a:rPr sz="900" b="0" i="0">
                <a:solidFill>
                  <a:srgbClr val="64708A"/>
                </a:solidFill>
                <a:latin typeface="Segoe UI"/>
              </a:rPr>
              <a:t>ROLE-BASED ACCESS CONTROL</a:t>
            </a:r>
          </a:p>
        </p:txBody>
      </p:sp>
      <p:sp>
        <p:nvSpPr>
          <p:cNvPr id="7" name="TextBox 6"/>
          <p:cNvSpPr txBox="1"/>
          <p:nvPr/>
        </p:nvSpPr>
        <p:spPr>
          <a:xfrm>
            <a:off x="10820095" y="6528816"/>
            <a:ext cx="914400" cy="274320"/>
          </a:xfrm>
          <a:prstGeom prst="rect">
            <a:avLst/>
          </a:prstGeom>
          <a:noFill/>
        </p:spPr>
        <p:txBody>
          <a:bodyPr wrap="square" anchor="t" lIns="0" rIns="0" tIns="0" bIns="0">
            <a:noAutofit/>
          </a:bodyPr>
          <a:lstStyle/>
          <a:p>
            <a:pPr algn="r">
              <a:lnSpc>
                <a:spcPct val="100000"/>
              </a:lnSpc>
              <a:spcAft>
                <a:spcPts val="0"/>
              </a:spcAft>
            </a:pPr>
            <a:r>
              <a:rPr sz="900" b="0" i="0">
                <a:solidFill>
                  <a:srgbClr val="64708A"/>
                </a:solidFill>
                <a:latin typeface="Segoe UI"/>
              </a:rPr>
              <a:t>15 / 22</a:t>
            </a:r>
          </a:p>
        </p:txBody>
      </p:sp>
      <p:sp>
        <p:nvSpPr>
          <p:cNvPr id="8" name="TextBox 7"/>
          <p:cNvSpPr txBox="1"/>
          <p:nvPr/>
        </p:nvSpPr>
        <p:spPr>
          <a:xfrm>
            <a:off x="502920" y="457200"/>
            <a:ext cx="9601200" cy="292608"/>
          </a:xfrm>
          <a:prstGeom prst="rect">
            <a:avLst/>
          </a:prstGeom>
          <a:noFill/>
        </p:spPr>
        <p:txBody>
          <a:bodyPr wrap="square" anchor="t" lIns="0" rIns="0" tIns="0" bIns="0">
            <a:noAutofit/>
          </a:bodyPr>
          <a:lstStyle/>
          <a:p>
            <a:pPr algn="l">
              <a:lnSpc>
                <a:spcPct val="100000"/>
              </a:lnSpc>
              <a:spcAft>
                <a:spcPts val="0"/>
              </a:spcAft>
            </a:pPr>
            <a:r>
              <a:rPr sz="1250" b="1" i="0" spc="160">
                <a:solidFill>
                  <a:srgbClr val="EDA100"/>
                </a:solidFill>
                <a:latin typeface="Segoe UI"/>
              </a:rPr>
              <a:t>ROLE-BASED ACCESS CONTROL</a:t>
            </a:r>
          </a:p>
        </p:txBody>
      </p:sp>
      <p:sp>
        <p:nvSpPr>
          <p:cNvPr id="9" name="TextBox 8"/>
          <p:cNvSpPr txBox="1"/>
          <p:nvPr/>
        </p:nvSpPr>
        <p:spPr>
          <a:xfrm>
            <a:off x="502920" y="768096"/>
            <a:ext cx="10789920" cy="566928"/>
          </a:xfrm>
          <a:prstGeom prst="rect">
            <a:avLst/>
          </a:prstGeom>
          <a:noFill/>
        </p:spPr>
        <p:txBody>
          <a:bodyPr wrap="square" anchor="t" lIns="0" rIns="0" tIns="0" bIns="0">
            <a:noAutofit/>
          </a:bodyPr>
          <a:lstStyle/>
          <a:p>
            <a:pPr algn="l">
              <a:lnSpc>
                <a:spcPct val="102000"/>
              </a:lnSpc>
              <a:spcAft>
                <a:spcPts val="0"/>
              </a:spcAft>
            </a:pPr>
            <a:r>
              <a:rPr sz="2700" b="1" i="0">
                <a:solidFill>
                  <a:srgbClr val="F5F7FA"/>
                </a:solidFill>
                <a:latin typeface="Segoe UI"/>
              </a:rPr>
              <a:t>5 Backend-Enforced Roles, 13 Permissions</a:t>
            </a:r>
          </a:p>
        </p:txBody>
      </p:sp>
      <p:cxnSp>
        <p:nvCxnSpPr>
          <p:cNvPr id="10" name="Connector 9"/>
          <p:cNvCxnSpPr/>
          <p:nvPr/>
        </p:nvCxnSpPr>
        <p:spPr>
          <a:xfrm>
            <a:off x="502920" y="1399032"/>
            <a:ext cx="960120" cy="0"/>
          </a:xfrm>
          <a:prstGeom prst="line">
            <a:avLst/>
          </a:prstGeom>
          <a:ln w="28575">
            <a:solidFill>
              <a:srgbClr val="EDA100"/>
            </a:solidFill>
          </a:ln>
          <a:effectLst/>
        </p:spPr>
        <p:style>
          <a:lnRef idx="2">
            <a:schemeClr val="accent1"/>
          </a:lnRef>
          <a:fillRef idx="0">
            <a:schemeClr val="accent1"/>
          </a:fillRef>
          <a:effectRef idx="1">
            <a:schemeClr val="accent1"/>
          </a:effectRef>
          <a:fontRef idx="minor">
            <a:schemeClr val="tx1"/>
          </a:fontRef>
        </p:style>
      </p:cxnSp>
      <p:graphicFrame>
        <p:nvGraphicFramePr>
          <p:cNvPr id="11" name="Table 10"/>
          <p:cNvGraphicFramePr>
            <a:graphicFrameLocks noGrp="1"/>
          </p:cNvGraphicFramePr>
          <p:nvPr/>
        </p:nvGraphicFramePr>
        <p:xfrm>
          <a:off x="502920" y="1874519"/>
          <a:ext cx="11183112" cy="2562606"/>
        </p:xfrm>
        <a:graphic>
          <a:graphicData uri="http://schemas.openxmlformats.org/drawingml/2006/table">
            <a:tbl>
              <a:tblPr firstRow="0" bandRow="0"/>
              <a:tblGrid>
                <a:gridCol w="2103120"/>
                <a:gridCol w="2651760"/>
                <a:gridCol w="1188720"/>
                <a:gridCol w="5239512"/>
              </a:tblGrid>
              <a:tr h="390906">
                <a:tc>
                  <a:txBody>
                    <a:bodyPr wrap="square"/>
                    <a:lstStyle/>
                    <a:p>
                      <a:pPr algn="l"/>
                      <a:r>
                        <a:rPr sz="1150" b="1">
                          <a:solidFill>
                            <a:srgbClr val="EDA100"/>
                          </a:solidFill>
                          <a:latin typeface="Segoe UI"/>
                        </a:rPr>
                        <a:t>Role</a:t>
                      </a:r>
                    </a:p>
                  </a:txBody>
                  <a:tcPr marL="101600" marR="101600" marT="50800" marB="50800" anchor="ctr">
                    <a:solidFill>
                      <a:srgbClr val="1E2B47"/>
                    </a:solidFill>
                  </a:tcPr>
                </a:tc>
                <a:tc>
                  <a:txBody>
                    <a:bodyPr wrap="square"/>
                    <a:lstStyle/>
                    <a:p>
                      <a:pPr algn="ctr"/>
                      <a:r>
                        <a:rPr sz="1150" b="1">
                          <a:solidFill>
                            <a:srgbClr val="EDA100"/>
                          </a:solidFill>
                          <a:latin typeface="Segoe UI"/>
                        </a:rPr>
                        <a:t>Display Name</a:t>
                      </a:r>
                    </a:p>
                  </a:txBody>
                  <a:tcPr marL="101600" marR="101600" marT="50800" marB="50800" anchor="ctr">
                    <a:solidFill>
                      <a:srgbClr val="1E2B47"/>
                    </a:solidFill>
                  </a:tcPr>
                </a:tc>
                <a:tc>
                  <a:txBody>
                    <a:bodyPr wrap="square"/>
                    <a:lstStyle/>
                    <a:p>
                      <a:pPr algn="ctr"/>
                      <a:r>
                        <a:rPr sz="1150" b="1">
                          <a:solidFill>
                            <a:srgbClr val="EDA100"/>
                          </a:solidFill>
                          <a:latin typeface="Segoe UI"/>
                        </a:rPr>
                        <a:t>Perms</a:t>
                      </a:r>
                    </a:p>
                  </a:txBody>
                  <a:tcPr marL="101600" marR="101600" marT="50800" marB="50800" anchor="ctr">
                    <a:solidFill>
                      <a:srgbClr val="1E2B47"/>
                    </a:solidFill>
                  </a:tcPr>
                </a:tc>
                <a:tc>
                  <a:txBody>
                    <a:bodyPr wrap="square"/>
                    <a:lstStyle/>
                    <a:p>
                      <a:pPr algn="ctr"/>
                      <a:r>
                        <a:rPr sz="1150" b="1">
                          <a:solidFill>
                            <a:srgbClr val="EDA100"/>
                          </a:solidFill>
                          <a:latin typeface="Segoe UI"/>
                        </a:rPr>
                        <a:t>Typical Use</a:t>
                      </a:r>
                    </a:p>
                  </a:txBody>
                  <a:tcPr marL="101600" marR="101600" marT="50800" marB="50800" anchor="ctr">
                    <a:solidFill>
                      <a:srgbClr val="1E2B47"/>
                    </a:solidFill>
                  </a:tcPr>
                </a:tc>
              </a:tr>
              <a:tr h="434340">
                <a:tc>
                  <a:txBody>
                    <a:bodyPr wrap="square"/>
                    <a:lstStyle/>
                    <a:p>
                      <a:pPr algn="l"/>
                      <a:r>
                        <a:rPr sz="1150" b="1">
                          <a:solidFill>
                            <a:srgbClr val="F5F7FA"/>
                          </a:solidFill>
                          <a:latin typeface="Segoe UI"/>
                        </a:rPr>
                        <a:t>admin</a:t>
                      </a:r>
                    </a:p>
                  </a:txBody>
                  <a:tcPr marL="101600" marR="101600" marT="38100" marB="38100" anchor="ctr">
                    <a:solidFill>
                      <a:srgbClr val="131B2E"/>
                    </a:solidFill>
                  </a:tcPr>
                </a:tc>
                <a:tc>
                  <a:txBody>
                    <a:bodyPr wrap="square"/>
                    <a:lstStyle/>
                    <a:p>
                      <a:pPr algn="ctr"/>
                      <a:r>
                        <a:rPr sz="1150" b="0">
                          <a:solidFill>
                            <a:srgbClr val="9AA7BD"/>
                          </a:solidFill>
                          <a:latin typeface="Segoe UI"/>
                        </a:rPr>
                        <a:t>Administrator</a:t>
                      </a:r>
                    </a:p>
                  </a:txBody>
                  <a:tcPr marL="101600" marR="101600" marT="38100" marB="38100" anchor="ctr">
                    <a:solidFill>
                      <a:srgbClr val="131B2E"/>
                    </a:solidFill>
                  </a:tcPr>
                </a:tc>
                <a:tc>
                  <a:txBody>
                    <a:bodyPr wrap="square"/>
                    <a:lstStyle/>
                    <a:p>
                      <a:pPr algn="ctr"/>
                      <a:r>
                        <a:rPr sz="1150" b="0">
                          <a:solidFill>
                            <a:srgbClr val="9AA7BD"/>
                          </a:solidFill>
                          <a:latin typeface="Segoe UI"/>
                        </a:rPr>
                        <a:t>13 / 13</a:t>
                      </a:r>
                    </a:p>
                  </a:txBody>
                  <a:tcPr marL="101600" marR="101600" marT="38100" marB="38100" anchor="ctr">
                    <a:solidFill>
                      <a:srgbClr val="131B2E"/>
                    </a:solidFill>
                  </a:tcPr>
                </a:tc>
                <a:tc>
                  <a:txBody>
                    <a:bodyPr wrap="square"/>
                    <a:lstStyle/>
                    <a:p>
                      <a:pPr algn="ctr"/>
                      <a:r>
                        <a:rPr sz="1150" b="0">
                          <a:solidFill>
                            <a:srgbClr val="9AA7BD"/>
                          </a:solidFill>
                          <a:latin typeface="Segoe UI"/>
                        </a:rPr>
                        <a:t>User &amp; role mgmt, risk config, full scan &amp; report access</a:t>
                      </a:r>
                    </a:p>
                  </a:txBody>
                  <a:tcPr marL="101600" marR="101600" marT="38100" marB="38100" anchor="ctr">
                    <a:solidFill>
                      <a:srgbClr val="131B2E"/>
                    </a:solidFill>
                  </a:tcPr>
                </a:tc>
              </a:tr>
              <a:tr h="434340">
                <a:tc>
                  <a:txBody>
                    <a:bodyPr wrap="square"/>
                    <a:lstStyle/>
                    <a:p>
                      <a:pPr algn="l"/>
                      <a:r>
                        <a:rPr sz="1150" b="1">
                          <a:solidFill>
                            <a:srgbClr val="F5F7FA"/>
                          </a:solidFill>
                          <a:latin typeface="Segoe UI"/>
                        </a:rPr>
                        <a:t>security_engineer</a:t>
                      </a:r>
                    </a:p>
                  </a:txBody>
                  <a:tcPr marL="101600" marR="101600" marT="38100" marB="38100" anchor="ctr">
                    <a:solidFill>
                      <a:srgbClr val="0D1220"/>
                    </a:solidFill>
                  </a:tcPr>
                </a:tc>
                <a:tc>
                  <a:txBody>
                    <a:bodyPr wrap="square"/>
                    <a:lstStyle/>
                    <a:p>
                      <a:pPr algn="ctr"/>
                      <a:r>
                        <a:rPr sz="1150" b="0">
                          <a:solidFill>
                            <a:srgbClr val="9AA7BD"/>
                          </a:solidFill>
                          <a:latin typeface="Segoe UI"/>
                        </a:rPr>
                        <a:t>Security Manager</a:t>
                      </a:r>
                    </a:p>
                  </a:txBody>
                  <a:tcPr marL="101600" marR="101600" marT="38100" marB="38100" anchor="ctr">
                    <a:solidFill>
                      <a:srgbClr val="0D1220"/>
                    </a:solidFill>
                  </a:tcPr>
                </a:tc>
                <a:tc>
                  <a:txBody>
                    <a:bodyPr wrap="square"/>
                    <a:lstStyle/>
                    <a:p>
                      <a:pPr algn="ctr"/>
                      <a:r>
                        <a:rPr sz="1150" b="0">
                          <a:solidFill>
                            <a:srgbClr val="9AA7BD"/>
                          </a:solidFill>
                          <a:latin typeface="Segoe UI"/>
                        </a:rPr>
                        <a:t>11</a:t>
                      </a:r>
                    </a:p>
                  </a:txBody>
                  <a:tcPr marL="101600" marR="101600" marT="38100" marB="38100" anchor="ctr">
                    <a:solidFill>
                      <a:srgbClr val="0D1220"/>
                    </a:solidFill>
                  </a:tcPr>
                </a:tc>
                <a:tc>
                  <a:txBody>
                    <a:bodyPr wrap="square"/>
                    <a:lstStyle/>
                    <a:p>
                      <a:pPr algn="ctr"/>
                      <a:r>
                        <a:rPr sz="1150" b="0">
                          <a:solidFill>
                            <a:srgbClr val="9AA7BD"/>
                          </a:solidFill>
                          <a:latin typeface="Segoe UI"/>
                        </a:rPr>
                        <a:t>Runs/triages scans, risk config, audit log, team analytics</a:t>
                      </a:r>
                    </a:p>
                  </a:txBody>
                  <a:tcPr marL="101600" marR="101600" marT="38100" marB="38100" anchor="ctr">
                    <a:solidFill>
                      <a:srgbClr val="0D1220"/>
                    </a:solidFill>
                  </a:tcPr>
                </a:tc>
              </a:tr>
              <a:tr h="434340">
                <a:tc>
                  <a:txBody>
                    <a:bodyPr wrap="square"/>
                    <a:lstStyle/>
                    <a:p>
                      <a:pPr algn="l"/>
                      <a:r>
                        <a:rPr sz="1150" b="1">
                          <a:solidFill>
                            <a:srgbClr val="F5F7FA"/>
                          </a:solidFill>
                          <a:latin typeface="Segoe UI"/>
                        </a:rPr>
                        <a:t>developer</a:t>
                      </a:r>
                    </a:p>
                  </a:txBody>
                  <a:tcPr marL="101600" marR="101600" marT="38100" marB="38100" anchor="ctr">
                    <a:solidFill>
                      <a:srgbClr val="131B2E"/>
                    </a:solidFill>
                  </a:tcPr>
                </a:tc>
                <a:tc>
                  <a:txBody>
                    <a:bodyPr wrap="square"/>
                    <a:lstStyle/>
                    <a:p>
                      <a:pPr algn="ctr"/>
                      <a:r>
                        <a:rPr sz="1150" b="0">
                          <a:solidFill>
                            <a:srgbClr val="9AA7BD"/>
                          </a:solidFill>
                          <a:latin typeface="Segoe UI"/>
                        </a:rPr>
                        <a:t>Security Analyst</a:t>
                      </a:r>
                    </a:p>
                  </a:txBody>
                  <a:tcPr marL="101600" marR="101600" marT="38100" marB="38100" anchor="ctr">
                    <a:solidFill>
                      <a:srgbClr val="131B2E"/>
                    </a:solidFill>
                  </a:tcPr>
                </a:tc>
                <a:tc>
                  <a:txBody>
                    <a:bodyPr wrap="square"/>
                    <a:lstStyle/>
                    <a:p>
                      <a:pPr algn="ctr"/>
                      <a:r>
                        <a:rPr sz="1150" b="0">
                          <a:solidFill>
                            <a:srgbClr val="9AA7BD"/>
                          </a:solidFill>
                          <a:latin typeface="Segoe UI"/>
                        </a:rPr>
                        <a:t>9</a:t>
                      </a:r>
                    </a:p>
                  </a:txBody>
                  <a:tcPr marL="101600" marR="101600" marT="38100" marB="38100" anchor="ctr">
                    <a:solidFill>
                      <a:srgbClr val="131B2E"/>
                    </a:solidFill>
                  </a:tcPr>
                </a:tc>
                <a:tc>
                  <a:txBody>
                    <a:bodyPr wrap="square"/>
                    <a:lstStyle/>
                    <a:p>
                      <a:pPr algn="ctr"/>
                      <a:r>
                        <a:rPr sz="1150" b="0">
                          <a:solidFill>
                            <a:srgbClr val="9AA7BD"/>
                          </a:solidFill>
                          <a:latin typeface="Segoe UI"/>
                        </a:rPr>
                        <a:t>Submits scans, findings, compliance, AI Assistant, KB write</a:t>
                      </a:r>
                    </a:p>
                  </a:txBody>
                  <a:tcPr marL="101600" marR="101600" marT="38100" marB="38100" anchor="ctr">
                    <a:solidFill>
                      <a:srgbClr val="131B2E"/>
                    </a:solidFill>
                  </a:tcPr>
                </a:tc>
              </a:tr>
              <a:tr h="434340">
                <a:tc>
                  <a:txBody>
                    <a:bodyPr wrap="square"/>
                    <a:lstStyle/>
                    <a:p>
                      <a:pPr algn="l"/>
                      <a:r>
                        <a:rPr sz="1150" b="1">
                          <a:solidFill>
                            <a:srgbClr val="F5F7FA"/>
                          </a:solidFill>
                          <a:latin typeface="Segoe UI"/>
                        </a:rPr>
                        <a:t>auditor</a:t>
                      </a:r>
                    </a:p>
                  </a:txBody>
                  <a:tcPr marL="101600" marR="101600" marT="38100" marB="38100" anchor="ctr">
                    <a:solidFill>
                      <a:srgbClr val="0D1220"/>
                    </a:solidFill>
                  </a:tcPr>
                </a:tc>
                <a:tc>
                  <a:txBody>
                    <a:bodyPr wrap="square"/>
                    <a:lstStyle/>
                    <a:p>
                      <a:pPr algn="ctr"/>
                      <a:r>
                        <a:rPr sz="1150" b="0">
                          <a:solidFill>
                            <a:srgbClr val="9AA7BD"/>
                          </a:solidFill>
                          <a:latin typeface="Segoe UI"/>
                        </a:rPr>
                        <a:t>Executive / Board Member</a:t>
                      </a:r>
                    </a:p>
                  </a:txBody>
                  <a:tcPr marL="101600" marR="101600" marT="38100" marB="38100" anchor="ctr">
                    <a:solidFill>
                      <a:srgbClr val="0D1220"/>
                    </a:solidFill>
                  </a:tcPr>
                </a:tc>
                <a:tc>
                  <a:txBody>
                    <a:bodyPr wrap="square"/>
                    <a:lstStyle/>
                    <a:p>
                      <a:pPr algn="ctr"/>
                      <a:r>
                        <a:rPr sz="1150" b="0">
                          <a:solidFill>
                            <a:srgbClr val="9AA7BD"/>
                          </a:solidFill>
                          <a:latin typeface="Segoe UI"/>
                        </a:rPr>
                        <a:t>7</a:t>
                      </a:r>
                    </a:p>
                  </a:txBody>
                  <a:tcPr marL="101600" marR="101600" marT="38100" marB="38100" anchor="ctr">
                    <a:solidFill>
                      <a:srgbClr val="0D1220"/>
                    </a:solidFill>
                  </a:tcPr>
                </a:tc>
                <a:tc>
                  <a:txBody>
                    <a:bodyPr wrap="square"/>
                    <a:lstStyle/>
                    <a:p>
                      <a:pPr algn="ctr"/>
                      <a:r>
                        <a:rPr sz="1150" b="0">
                          <a:solidFill>
                            <a:srgbClr val="9AA7BD"/>
                          </a:solidFill>
                          <a:latin typeface="Segoe UI"/>
                        </a:rPr>
                        <a:t>Read-only risk, compliance, executive reporting, audit log</a:t>
                      </a:r>
                    </a:p>
                  </a:txBody>
                  <a:tcPr marL="101600" marR="101600" marT="38100" marB="38100" anchor="ctr">
                    <a:solidFill>
                      <a:srgbClr val="0D1220"/>
                    </a:solidFill>
                  </a:tcPr>
                </a:tc>
              </a:tr>
              <a:tr h="434340">
                <a:tc>
                  <a:txBody>
                    <a:bodyPr wrap="square"/>
                    <a:lstStyle/>
                    <a:p>
                      <a:pPr algn="l"/>
                      <a:r>
                        <a:rPr sz="1150" b="1">
                          <a:solidFill>
                            <a:srgbClr val="F5F7FA"/>
                          </a:solidFill>
                          <a:latin typeface="Segoe UI"/>
                        </a:rPr>
                        <a:t>read_only</a:t>
                      </a:r>
                    </a:p>
                  </a:txBody>
                  <a:tcPr marL="101600" marR="101600" marT="38100" marB="38100" anchor="ctr">
                    <a:solidFill>
                      <a:srgbClr val="131B2E"/>
                    </a:solidFill>
                  </a:tcPr>
                </a:tc>
                <a:tc>
                  <a:txBody>
                    <a:bodyPr wrap="square"/>
                    <a:lstStyle/>
                    <a:p>
                      <a:pPr algn="ctr"/>
                      <a:r>
                        <a:rPr sz="1150" b="0">
                          <a:solidFill>
                            <a:srgbClr val="9AA7BD"/>
                          </a:solidFill>
                          <a:latin typeface="Segoe UI"/>
                        </a:rPr>
                        <a:t>Read Only</a:t>
                      </a:r>
                    </a:p>
                  </a:txBody>
                  <a:tcPr marL="101600" marR="101600" marT="38100" marB="38100" anchor="ctr">
                    <a:solidFill>
                      <a:srgbClr val="131B2E"/>
                    </a:solidFill>
                  </a:tcPr>
                </a:tc>
                <a:tc>
                  <a:txBody>
                    <a:bodyPr wrap="square"/>
                    <a:lstStyle/>
                    <a:p>
                      <a:pPr algn="ctr"/>
                      <a:r>
                        <a:rPr sz="1150" b="0">
                          <a:solidFill>
                            <a:srgbClr val="9AA7BD"/>
                          </a:solidFill>
                          <a:latin typeface="Segoe UI"/>
                        </a:rPr>
                        <a:t>3</a:t>
                      </a:r>
                    </a:p>
                  </a:txBody>
                  <a:tcPr marL="101600" marR="101600" marT="38100" marB="38100" anchor="ctr">
                    <a:solidFill>
                      <a:srgbClr val="131B2E"/>
                    </a:solidFill>
                  </a:tcPr>
                </a:tc>
                <a:tc>
                  <a:txBody>
                    <a:bodyPr wrap="square"/>
                    <a:lstStyle/>
                    <a:p>
                      <a:pPr algn="ctr"/>
                      <a:r>
                        <a:rPr sz="1150" b="0">
                          <a:solidFill>
                            <a:srgbClr val="9AA7BD"/>
                          </a:solidFill>
                          <a:latin typeface="Segoe UI"/>
                        </a:rPr>
                        <a:t>Self-registration default -- scan/report visibility only</a:t>
                      </a:r>
                    </a:p>
                  </a:txBody>
                  <a:tcPr marL="101600" marR="101600" marT="38100" marB="38100" anchor="ctr">
                    <a:solidFill>
                      <a:srgbClr val="131B2E"/>
                    </a:solidFill>
                  </a:tcPr>
                </a:tc>
              </a:tr>
            </a:tbl>
          </a:graphicData>
        </a:graphic>
      </p:graphicFrame>
      <p:sp>
        <p:nvSpPr>
          <p:cNvPr id="12" name="Rounded Rectangle 11"/>
          <p:cNvSpPr/>
          <p:nvPr/>
        </p:nvSpPr>
        <p:spPr>
          <a:xfrm>
            <a:off x="502920" y="4709160"/>
            <a:ext cx="3611880" cy="1417320"/>
          </a:xfrm>
          <a:prstGeom prst="roundRect">
            <a:avLst>
              <a:gd name="adj" fmla="val 5500"/>
            </a:avLst>
          </a:prstGeom>
          <a:solidFill>
            <a:srgbClr val="13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94944" y="4919472"/>
            <a:ext cx="128016" cy="128016"/>
          </a:xfrm>
          <a:prstGeom prst="ellipse">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4882896"/>
            <a:ext cx="2971800" cy="292608"/>
          </a:xfrm>
          <a:prstGeom prst="rect">
            <a:avLst/>
          </a:prstGeom>
          <a:noFill/>
        </p:spPr>
        <p:txBody>
          <a:bodyPr wrap="square" anchor="t" lIns="0" rIns="0" tIns="0" bIns="0">
            <a:noAutofit/>
          </a:bodyPr>
          <a:lstStyle/>
          <a:p>
            <a:pPr algn="l">
              <a:lnSpc>
                <a:spcPct val="100000"/>
              </a:lnSpc>
              <a:spcAft>
                <a:spcPts val="0"/>
              </a:spcAft>
            </a:pPr>
            <a:r>
              <a:rPr sz="1350" b="1" i="0">
                <a:solidFill>
                  <a:srgbClr val="F5F7FA"/>
                </a:solidFill>
                <a:latin typeface="Segoe UI"/>
              </a:rPr>
              <a:t>Enforcement</a:t>
            </a:r>
          </a:p>
        </p:txBody>
      </p:sp>
      <p:sp>
        <p:nvSpPr>
          <p:cNvPr id="15" name="TextBox 14"/>
          <p:cNvSpPr txBox="1"/>
          <p:nvPr/>
        </p:nvSpPr>
        <p:spPr>
          <a:xfrm>
            <a:off x="722376" y="5239512"/>
            <a:ext cx="3172968" cy="731520"/>
          </a:xfrm>
          <a:prstGeom prst="rect">
            <a:avLst/>
          </a:prstGeom>
          <a:noFill/>
        </p:spPr>
        <p:txBody>
          <a:bodyPr wrap="square" anchor="t" lIns="0" rIns="0" tIns="0" bIns="0">
            <a:noAutofit/>
          </a:bodyPr>
          <a:lstStyle/>
          <a:p>
            <a:pPr algn="l">
              <a:lnSpc>
                <a:spcPct val="108000"/>
              </a:lnSpc>
              <a:spcAft>
                <a:spcPts val="0"/>
              </a:spcAft>
            </a:pPr>
            <a:r>
              <a:rPr sz="969" b="0" i="0">
                <a:solidFill>
                  <a:srgbClr val="9AA7BD"/>
                </a:solidFill>
                <a:latin typeface="Segoe UI"/>
              </a:rPr>
              <a:t>Coarse middleware blocks any mutating request (POST/PUT/PATCH/DELETE) from read-only-shaped roles outright; fine-grained per-route Permission checks enforce the rest.</a:t>
            </a:r>
          </a:p>
        </p:txBody>
      </p:sp>
      <p:sp>
        <p:nvSpPr>
          <p:cNvPr id="16" name="Rounded Rectangle 15"/>
          <p:cNvSpPr/>
          <p:nvPr/>
        </p:nvSpPr>
        <p:spPr>
          <a:xfrm>
            <a:off x="3785615" y="4709160"/>
            <a:ext cx="3611880" cy="1417320"/>
          </a:xfrm>
          <a:prstGeom prst="roundRect">
            <a:avLst>
              <a:gd name="adj" fmla="val 5500"/>
            </a:avLst>
          </a:prstGeom>
          <a:solidFill>
            <a:srgbClr val="13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977639" y="4919472"/>
            <a:ext cx="128016" cy="128016"/>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42815" y="4882896"/>
            <a:ext cx="2971800" cy="292608"/>
          </a:xfrm>
          <a:prstGeom prst="rect">
            <a:avLst/>
          </a:prstGeom>
          <a:noFill/>
        </p:spPr>
        <p:txBody>
          <a:bodyPr wrap="square" anchor="t" lIns="0" rIns="0" tIns="0" bIns="0">
            <a:noAutofit/>
          </a:bodyPr>
          <a:lstStyle/>
          <a:p>
            <a:pPr algn="l">
              <a:lnSpc>
                <a:spcPct val="100000"/>
              </a:lnSpc>
              <a:spcAft>
                <a:spcPts val="0"/>
              </a:spcAft>
            </a:pPr>
            <a:r>
              <a:rPr sz="1350" b="1" i="0">
                <a:solidFill>
                  <a:srgbClr val="F5F7FA"/>
                </a:solidFill>
                <a:latin typeface="Segoe UI"/>
              </a:rPr>
              <a:t>Not Just UX Gating</a:t>
            </a:r>
          </a:p>
        </p:txBody>
      </p:sp>
      <p:sp>
        <p:nvSpPr>
          <p:cNvPr id="19" name="TextBox 18"/>
          <p:cNvSpPr txBox="1"/>
          <p:nvPr/>
        </p:nvSpPr>
        <p:spPr>
          <a:xfrm>
            <a:off x="4005071" y="5239512"/>
            <a:ext cx="3172968" cy="731520"/>
          </a:xfrm>
          <a:prstGeom prst="rect">
            <a:avLst/>
          </a:prstGeom>
          <a:noFill/>
        </p:spPr>
        <p:txBody>
          <a:bodyPr wrap="square" anchor="t" lIns="0" rIns="0" tIns="0" bIns="0">
            <a:noAutofit/>
          </a:bodyPr>
          <a:lstStyle/>
          <a:p>
            <a:pPr algn="l">
              <a:lnSpc>
                <a:spcPct val="108000"/>
              </a:lnSpc>
              <a:spcAft>
                <a:spcPts val="0"/>
              </a:spcAft>
            </a:pPr>
            <a:r>
              <a:rPr sz="969" b="0" i="0">
                <a:solidFill>
                  <a:srgbClr val="9AA7BD"/>
                </a:solidFill>
                <a:latin typeface="Segoe UI"/>
              </a:rPr>
              <a:t>Web and mobile clients read the same role table only to hide navigation -- it's a UX convenience. The backend is the real, only security boundary.</a:t>
            </a:r>
          </a:p>
        </p:txBody>
      </p:sp>
      <p:sp>
        <p:nvSpPr>
          <p:cNvPr id="20" name="Rounded Rectangle 19"/>
          <p:cNvSpPr/>
          <p:nvPr/>
        </p:nvSpPr>
        <p:spPr>
          <a:xfrm>
            <a:off x="7571231" y="4709160"/>
            <a:ext cx="3611880" cy="1417320"/>
          </a:xfrm>
          <a:prstGeom prst="roundRect">
            <a:avLst>
              <a:gd name="adj" fmla="val 5500"/>
            </a:avLst>
          </a:prstGeom>
          <a:solidFill>
            <a:srgbClr val="13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763255" y="4919472"/>
            <a:ext cx="128016" cy="128016"/>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28431" y="4882896"/>
            <a:ext cx="2971800" cy="292608"/>
          </a:xfrm>
          <a:prstGeom prst="rect">
            <a:avLst/>
          </a:prstGeom>
          <a:noFill/>
        </p:spPr>
        <p:txBody>
          <a:bodyPr wrap="square" anchor="t" lIns="0" rIns="0" tIns="0" bIns="0">
            <a:noAutofit/>
          </a:bodyPr>
          <a:lstStyle/>
          <a:p>
            <a:pPr algn="l">
              <a:lnSpc>
                <a:spcPct val="100000"/>
              </a:lnSpc>
              <a:spcAft>
                <a:spcPts val="0"/>
              </a:spcAft>
            </a:pPr>
            <a:r>
              <a:rPr sz="1350" b="1" i="0">
                <a:solidFill>
                  <a:srgbClr val="F5F7FA"/>
                </a:solidFill>
                <a:latin typeface="Segoe UI"/>
              </a:rPr>
              <a:t>Auditable</a:t>
            </a:r>
          </a:p>
        </p:txBody>
      </p:sp>
      <p:sp>
        <p:nvSpPr>
          <p:cNvPr id="23" name="TextBox 22"/>
          <p:cNvSpPr txBox="1"/>
          <p:nvPr/>
        </p:nvSpPr>
        <p:spPr>
          <a:xfrm>
            <a:off x="7790687" y="5239512"/>
            <a:ext cx="3172968" cy="731520"/>
          </a:xfrm>
          <a:prstGeom prst="rect">
            <a:avLst/>
          </a:prstGeom>
          <a:noFill/>
        </p:spPr>
        <p:txBody>
          <a:bodyPr wrap="square" anchor="t" lIns="0" rIns="0" tIns="0" bIns="0">
            <a:noAutofit/>
          </a:bodyPr>
          <a:lstStyle/>
          <a:p>
            <a:pPr algn="l">
              <a:lnSpc>
                <a:spcPct val="108000"/>
              </a:lnSpc>
              <a:spcAft>
                <a:spcPts val="0"/>
              </a:spcAft>
            </a:pPr>
            <a:r>
              <a:rPr sz="969" b="0" i="0">
                <a:solidFill>
                  <a:srgbClr val="9AA7BD"/>
                </a:solidFill>
                <a:latin typeface="Segoe UI"/>
              </a:rPr>
              <a:t>Every login attempt, role change, and permission denial is persisted with actor, IP, and outcome -- queryable via a dedicated audit-log endpoint.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362895" y="-3291840"/>
            <a:ext cx="5852160" cy="5852160"/>
          </a:xfrm>
          <a:prstGeom prst="ellipse">
            <a:avLst/>
          </a:prstGeom>
          <a:noFill/>
          <a:ln w="13970">
            <a:solidFill>
              <a:srgbClr val="EDA100">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502920" y="6473952"/>
            <a:ext cx="11185855" cy="0"/>
          </a:xfrm>
          <a:prstGeom prst="line">
            <a:avLst/>
          </a:prstGeom>
          <a:ln w="9525">
            <a:solidFill>
              <a:srgbClr val="2A3654"/>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28816"/>
            <a:ext cx="4572000" cy="274320"/>
          </a:xfrm>
          <a:prstGeom prst="rect">
            <a:avLst/>
          </a:prstGeom>
          <a:noFill/>
        </p:spPr>
        <p:txBody>
          <a:bodyPr wrap="square" anchor="t" lIns="0" rIns="0" tIns="0" bIns="0">
            <a:noAutofit/>
          </a:bodyPr>
          <a:lstStyle/>
          <a:p>
            <a:pPr algn="l">
              <a:lnSpc>
                <a:spcPct val="100000"/>
              </a:lnSpc>
              <a:spcAft>
                <a:spcPts val="0"/>
              </a:spcAft>
            </a:pPr>
            <a:r>
              <a:rPr sz="900" b="0" i="0">
                <a:solidFill>
                  <a:srgbClr val="64708A"/>
                </a:solidFill>
                <a:latin typeface="Segoe UI"/>
              </a:rPr>
              <a:t>KAVACH  ·  PSB Hackathon 2026</a:t>
            </a:r>
          </a:p>
        </p:txBody>
      </p:sp>
      <p:sp>
        <p:nvSpPr>
          <p:cNvPr id="6" name="TextBox 5"/>
          <p:cNvSpPr txBox="1"/>
          <p:nvPr/>
        </p:nvSpPr>
        <p:spPr>
          <a:xfrm>
            <a:off x="4480560" y="6528816"/>
            <a:ext cx="4572000" cy="274320"/>
          </a:xfrm>
          <a:prstGeom prst="rect">
            <a:avLst/>
          </a:prstGeom>
          <a:noFill/>
        </p:spPr>
        <p:txBody>
          <a:bodyPr wrap="square" anchor="t" lIns="0" rIns="0" tIns="0" bIns="0">
            <a:noAutofit/>
          </a:bodyPr>
          <a:lstStyle/>
          <a:p>
            <a:pPr algn="ctr">
              <a:lnSpc>
                <a:spcPct val="100000"/>
              </a:lnSpc>
              <a:spcAft>
                <a:spcPts val="0"/>
              </a:spcAft>
            </a:pPr>
            <a:r>
              <a:rPr sz="900" b="0" i="0">
                <a:solidFill>
                  <a:srgbClr val="64708A"/>
                </a:solidFill>
                <a:latin typeface="Segoe UI"/>
              </a:rPr>
              <a:t>FLUTTER MOBILE APPLICATION</a:t>
            </a:r>
          </a:p>
        </p:txBody>
      </p:sp>
      <p:sp>
        <p:nvSpPr>
          <p:cNvPr id="7" name="TextBox 6"/>
          <p:cNvSpPr txBox="1"/>
          <p:nvPr/>
        </p:nvSpPr>
        <p:spPr>
          <a:xfrm>
            <a:off x="10820095" y="6528816"/>
            <a:ext cx="914400" cy="274320"/>
          </a:xfrm>
          <a:prstGeom prst="rect">
            <a:avLst/>
          </a:prstGeom>
          <a:noFill/>
        </p:spPr>
        <p:txBody>
          <a:bodyPr wrap="square" anchor="t" lIns="0" rIns="0" tIns="0" bIns="0">
            <a:noAutofit/>
          </a:bodyPr>
          <a:lstStyle/>
          <a:p>
            <a:pPr algn="r">
              <a:lnSpc>
                <a:spcPct val="100000"/>
              </a:lnSpc>
              <a:spcAft>
                <a:spcPts val="0"/>
              </a:spcAft>
            </a:pPr>
            <a:r>
              <a:rPr sz="900" b="0" i="0">
                <a:solidFill>
                  <a:srgbClr val="64708A"/>
                </a:solidFill>
                <a:latin typeface="Segoe UI"/>
              </a:rPr>
              <a:t>16 / 22</a:t>
            </a:r>
          </a:p>
        </p:txBody>
      </p:sp>
      <p:sp>
        <p:nvSpPr>
          <p:cNvPr id="8" name="TextBox 7"/>
          <p:cNvSpPr txBox="1"/>
          <p:nvPr/>
        </p:nvSpPr>
        <p:spPr>
          <a:xfrm>
            <a:off x="502920" y="457200"/>
            <a:ext cx="9601200" cy="292608"/>
          </a:xfrm>
          <a:prstGeom prst="rect">
            <a:avLst/>
          </a:prstGeom>
          <a:noFill/>
        </p:spPr>
        <p:txBody>
          <a:bodyPr wrap="square" anchor="t" lIns="0" rIns="0" tIns="0" bIns="0">
            <a:noAutofit/>
          </a:bodyPr>
          <a:lstStyle/>
          <a:p>
            <a:pPr algn="l">
              <a:lnSpc>
                <a:spcPct val="100000"/>
              </a:lnSpc>
              <a:spcAft>
                <a:spcPts val="0"/>
              </a:spcAft>
            </a:pPr>
            <a:r>
              <a:rPr sz="1250" b="1" i="0" spc="160">
                <a:solidFill>
                  <a:srgbClr val="EDA100"/>
                </a:solidFill>
                <a:latin typeface="Segoe UI"/>
              </a:rPr>
              <a:t>FLUTTER MOBILE APPLICATION</a:t>
            </a:r>
          </a:p>
        </p:txBody>
      </p:sp>
      <p:sp>
        <p:nvSpPr>
          <p:cNvPr id="9" name="TextBox 8"/>
          <p:cNvSpPr txBox="1"/>
          <p:nvPr/>
        </p:nvSpPr>
        <p:spPr>
          <a:xfrm>
            <a:off x="502920" y="768096"/>
            <a:ext cx="10789920" cy="566928"/>
          </a:xfrm>
          <a:prstGeom prst="rect">
            <a:avLst/>
          </a:prstGeom>
          <a:noFill/>
        </p:spPr>
        <p:txBody>
          <a:bodyPr wrap="square" anchor="t" lIns="0" rIns="0" tIns="0" bIns="0">
            <a:noAutofit/>
          </a:bodyPr>
          <a:lstStyle/>
          <a:p>
            <a:pPr algn="l">
              <a:lnSpc>
                <a:spcPct val="102000"/>
              </a:lnSpc>
              <a:spcAft>
                <a:spcPts val="0"/>
              </a:spcAft>
            </a:pPr>
            <a:r>
              <a:rPr sz="2600" b="1" i="0">
                <a:solidFill>
                  <a:srgbClr val="F5F7FA"/>
                </a:solidFill>
                <a:latin typeface="Segoe UI"/>
              </a:rPr>
              <a:t>Same Backend, Same RBAC, Native Android/iOS</a:t>
            </a:r>
          </a:p>
        </p:txBody>
      </p:sp>
      <p:cxnSp>
        <p:nvCxnSpPr>
          <p:cNvPr id="10" name="Connector 9"/>
          <p:cNvCxnSpPr/>
          <p:nvPr/>
        </p:nvCxnSpPr>
        <p:spPr>
          <a:xfrm>
            <a:off x="502920" y="1399032"/>
            <a:ext cx="960120" cy="0"/>
          </a:xfrm>
          <a:prstGeom prst="line">
            <a:avLst/>
          </a:prstGeom>
          <a:ln w="28575">
            <a:solidFill>
              <a:srgbClr val="EDA100"/>
            </a:solidFill>
          </a:ln>
          <a:effectLst/>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02920" y="1874519"/>
            <a:ext cx="3657600" cy="1965960"/>
          </a:xfrm>
          <a:prstGeom prst="roundRect">
            <a:avLst>
              <a:gd name="adj" fmla="val 5500"/>
            </a:avLst>
          </a:prstGeom>
          <a:solidFill>
            <a:srgbClr val="13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94944" y="2084831"/>
            <a:ext cx="128016" cy="128016"/>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2048255"/>
            <a:ext cx="3017520" cy="292608"/>
          </a:xfrm>
          <a:prstGeom prst="rect">
            <a:avLst/>
          </a:prstGeom>
          <a:noFill/>
        </p:spPr>
        <p:txBody>
          <a:bodyPr wrap="square" anchor="t" lIns="0" rIns="0" tIns="0" bIns="0">
            <a:noAutofit/>
          </a:bodyPr>
          <a:lstStyle/>
          <a:p>
            <a:pPr algn="l">
              <a:lnSpc>
                <a:spcPct val="100000"/>
              </a:lnSpc>
              <a:spcAft>
                <a:spcPts val="0"/>
              </a:spcAft>
            </a:pPr>
            <a:r>
              <a:rPr sz="1350" b="1" i="0">
                <a:solidFill>
                  <a:srgbClr val="F5F7FA"/>
                </a:solidFill>
                <a:latin typeface="Segoe UI"/>
              </a:rPr>
              <a:t>Architecture</a:t>
            </a:r>
          </a:p>
        </p:txBody>
      </p:sp>
      <p:sp>
        <p:nvSpPr>
          <p:cNvPr id="14" name="TextBox 13"/>
          <p:cNvSpPr txBox="1"/>
          <p:nvPr/>
        </p:nvSpPr>
        <p:spPr>
          <a:xfrm>
            <a:off x="722376" y="2404871"/>
            <a:ext cx="3218688" cy="1280160"/>
          </a:xfrm>
          <a:prstGeom prst="rect">
            <a:avLst/>
          </a:prstGeom>
          <a:noFill/>
        </p:spPr>
        <p:txBody>
          <a:bodyPr wrap="square" anchor="t" lIns="0" rIns="0" tIns="0" bIns="0">
            <a:noAutofit/>
          </a:bodyPr>
          <a:lstStyle/>
          <a:p>
            <a:pPr algn="l">
              <a:lnSpc>
                <a:spcPct val="108000"/>
              </a:lnSpc>
              <a:spcAft>
                <a:spcPts val="0"/>
              </a:spcAft>
            </a:pPr>
            <a:r>
              <a:rPr sz="1030" b="0" i="0">
                <a:solidFill>
                  <a:srgbClr val="9AA7BD"/>
                </a:solidFill>
                <a:latin typeface="Segoe UI"/>
              </a:rPr>
              <a:t>Riverpod state management, Dio + JWT refresh interceptor mirroring the web client, go_router with backend-role-aware redirects, and Freezed/json_serializable models mirroring backend Pydantic schemas field-for-field. Owns no business logic of its own.</a:t>
            </a:r>
          </a:p>
        </p:txBody>
      </p:sp>
      <p:sp>
        <p:nvSpPr>
          <p:cNvPr id="15" name="TextBox 14"/>
          <p:cNvSpPr txBox="1"/>
          <p:nvPr/>
        </p:nvSpPr>
        <p:spPr>
          <a:xfrm>
            <a:off x="502920" y="3977639"/>
            <a:ext cx="3657600" cy="274320"/>
          </a:xfrm>
          <a:prstGeom prst="rect">
            <a:avLst/>
          </a:prstGeom>
          <a:noFill/>
        </p:spPr>
        <p:txBody>
          <a:bodyPr wrap="square" anchor="t" lIns="0" rIns="0" tIns="0" bIns="0">
            <a:noAutofit/>
          </a:bodyPr>
          <a:lstStyle/>
          <a:p>
            <a:pPr algn="l">
              <a:lnSpc>
                <a:spcPct val="100000"/>
              </a:lnSpc>
              <a:spcAft>
                <a:spcPts val="0"/>
              </a:spcAft>
            </a:pPr>
            <a:r>
              <a:rPr sz="1100" b="1" i="0" spc="80">
                <a:solidFill>
                  <a:srgbClr val="1BAF7A"/>
                </a:solidFill>
                <a:latin typeface="Segoe UI"/>
              </a:rPr>
              <a:t>FULLY WIRED, REAL ENDPOINTS</a:t>
            </a:r>
          </a:p>
        </p:txBody>
      </p:sp>
      <p:sp>
        <p:nvSpPr>
          <p:cNvPr id="16" name="TextBox 15"/>
          <p:cNvSpPr txBox="1"/>
          <p:nvPr/>
        </p:nvSpPr>
        <p:spPr>
          <a:xfrm>
            <a:off x="502920" y="4279392"/>
            <a:ext cx="3657600" cy="1920240"/>
          </a:xfrm>
          <a:prstGeom prst="rect">
            <a:avLst/>
          </a:prstGeom>
          <a:noFill/>
        </p:spPr>
        <p:txBody>
          <a:bodyPr wrap="square" lIns="0" rIns="0" tIns="0" bIns="0">
            <a:spAutoFit/>
          </a:bodyPr>
          <a:lstStyle/>
          <a:p>
            <a:pPr>
              <a:lnSpc>
                <a:spcPct val="105000"/>
              </a:lnSpc>
              <a:spcAft>
                <a:spcPts val="648"/>
              </a:spcAft>
            </a:pPr>
            <a:r>
              <a:rPr sz="1030" b="1">
                <a:solidFill>
                  <a:srgbClr val="1BAF7A"/>
                </a:solidFill>
                <a:latin typeface="Segoe UI"/>
              </a:rPr>
              <a:t>›  </a:t>
            </a:r>
            <a:r>
              <a:rPr sz="1030">
                <a:solidFill>
                  <a:srgbClr val="F5F7FA"/>
                </a:solidFill>
                <a:latin typeface="Segoe UI"/>
              </a:rPr>
              <a:t>Login / Signup / Session restore</a:t>
            </a:r>
          </a:p>
          <a:p>
            <a:pPr>
              <a:lnSpc>
                <a:spcPct val="105000"/>
              </a:lnSpc>
              <a:spcAft>
                <a:spcPts val="648"/>
              </a:spcAft>
            </a:pPr>
            <a:r>
              <a:rPr sz="1030" b="1">
                <a:solidFill>
                  <a:srgbClr val="1BAF7A"/>
                </a:solidFill>
                <a:latin typeface="Segoe UI"/>
              </a:rPr>
              <a:t>›  </a:t>
            </a:r>
            <a:r>
              <a:rPr sz="1030">
                <a:solidFill>
                  <a:srgbClr val="F5F7FA"/>
                </a:solidFill>
                <a:latin typeface="Segoe UI"/>
              </a:rPr>
              <a:t>Dashboard -- my-activity analytics, severity breakdown</a:t>
            </a:r>
          </a:p>
          <a:p>
            <a:pPr>
              <a:lnSpc>
                <a:spcPct val="105000"/>
              </a:lnSpc>
              <a:spcAft>
                <a:spcPts val="648"/>
              </a:spcAft>
            </a:pPr>
            <a:r>
              <a:rPr sz="1030" b="1">
                <a:solidFill>
                  <a:srgbClr val="1BAF7A"/>
                </a:solidFill>
                <a:latin typeface="Segoe UI"/>
              </a:rPr>
              <a:t>›  </a:t>
            </a:r>
            <a:r>
              <a:rPr sz="1030">
                <a:solidFill>
                  <a:srgbClr val="F5F7FA"/>
                </a:solidFill>
                <a:latin typeface="Segoe UI"/>
              </a:rPr>
              <a:t>Repositories -- list, scheduled-scan toggle</a:t>
            </a:r>
          </a:p>
          <a:p>
            <a:pPr>
              <a:lnSpc>
                <a:spcPct val="105000"/>
              </a:lnSpc>
              <a:spcAft>
                <a:spcPts val="648"/>
              </a:spcAft>
            </a:pPr>
            <a:r>
              <a:rPr sz="1030" b="1">
                <a:solidFill>
                  <a:srgbClr val="1BAF7A"/>
                </a:solidFill>
                <a:latin typeface="Segoe UI"/>
              </a:rPr>
              <a:t>›  </a:t>
            </a:r>
            <a:r>
              <a:rPr sz="1030">
                <a:solidFill>
                  <a:srgbClr val="F5F7FA"/>
                </a:solidFill>
                <a:latin typeface="Segoe UI"/>
              </a:rPr>
              <a:t>Start Scan -- zip upload or URL, priority selector</a:t>
            </a:r>
          </a:p>
          <a:p>
            <a:pPr>
              <a:lnSpc>
                <a:spcPct val="105000"/>
              </a:lnSpc>
              <a:spcAft>
                <a:spcPts val="648"/>
              </a:spcAft>
            </a:pPr>
            <a:r>
              <a:rPr sz="1030" b="1">
                <a:solidFill>
                  <a:srgbClr val="1BAF7A"/>
                </a:solidFill>
                <a:latin typeface="Segoe UI"/>
              </a:rPr>
              <a:t>›  </a:t>
            </a:r>
            <a:r>
              <a:rPr sz="1030">
                <a:solidFill>
                  <a:srgbClr val="F5F7FA"/>
                </a:solidFill>
                <a:latin typeface="Segoe UI"/>
              </a:rPr>
              <a:t>Scan Queue &amp; Details -- live status, cancel action</a:t>
            </a:r>
          </a:p>
        </p:txBody>
      </p:sp>
      <p:sp>
        <p:nvSpPr>
          <p:cNvPr id="17" name="TextBox 16"/>
          <p:cNvSpPr txBox="1"/>
          <p:nvPr/>
        </p:nvSpPr>
        <p:spPr>
          <a:xfrm>
            <a:off x="3913632" y="1874519"/>
            <a:ext cx="3383280" cy="274320"/>
          </a:xfrm>
          <a:prstGeom prst="rect">
            <a:avLst/>
          </a:prstGeom>
          <a:noFill/>
        </p:spPr>
        <p:txBody>
          <a:bodyPr wrap="square" anchor="t" lIns="0" rIns="0" tIns="0" bIns="0">
            <a:noAutofit/>
          </a:bodyPr>
          <a:lstStyle/>
          <a:p>
            <a:pPr algn="l">
              <a:lnSpc>
                <a:spcPct val="100000"/>
              </a:lnSpc>
              <a:spcAft>
                <a:spcPts val="0"/>
              </a:spcAft>
            </a:pPr>
            <a:r>
              <a:rPr sz="1100" b="1" i="0" spc="80">
                <a:solidFill>
                  <a:srgbClr val="EDA100"/>
                </a:solidFill>
                <a:latin typeface="Segoe UI"/>
              </a:rPr>
              <a:t>HONESTLY-LABELED PLACEHOLDERS</a:t>
            </a:r>
          </a:p>
        </p:txBody>
      </p:sp>
      <p:sp>
        <p:nvSpPr>
          <p:cNvPr id="18" name="TextBox 17"/>
          <p:cNvSpPr txBox="1"/>
          <p:nvPr/>
        </p:nvSpPr>
        <p:spPr>
          <a:xfrm>
            <a:off x="3913632" y="2176272"/>
            <a:ext cx="3383280" cy="2286000"/>
          </a:xfrm>
          <a:prstGeom prst="rect">
            <a:avLst/>
          </a:prstGeom>
          <a:noFill/>
        </p:spPr>
        <p:txBody>
          <a:bodyPr wrap="square" lIns="0" rIns="0" tIns="0" bIns="0">
            <a:spAutoFit/>
          </a:bodyPr>
          <a:lstStyle/>
          <a:p>
            <a:pPr>
              <a:lnSpc>
                <a:spcPct val="105000"/>
              </a:lnSpc>
              <a:spcAft>
                <a:spcPts val="864"/>
              </a:spcAft>
            </a:pPr>
            <a:r>
              <a:rPr sz="1000" b="1">
                <a:solidFill>
                  <a:srgbClr val="EDA100"/>
                </a:solidFill>
                <a:latin typeface="Segoe UI"/>
              </a:rPr>
              <a:t>›  </a:t>
            </a:r>
            <a:r>
              <a:rPr sz="1000" b="1">
                <a:solidFill>
                  <a:srgbClr val="F5F7FA"/>
                </a:solidFill>
                <a:latin typeface="Segoe UI"/>
              </a:rPr>
              <a:t>Risk Dashboard, Finding Explorer, Compliance -- </a:t>
            </a:r>
            <a:r>
              <a:rPr sz="1000">
                <a:solidFill>
                  <a:srgbClr val="F5F7FA"/>
                </a:solidFill>
                <a:latin typeface="Segoe UI"/>
              </a:rPr>
              <a:t>no cross-scan/portfolio rollup endpoint exists yet on the backend.</a:t>
            </a:r>
          </a:p>
          <a:p>
            <a:pPr>
              <a:lnSpc>
                <a:spcPct val="105000"/>
              </a:lnSpc>
              <a:spcAft>
                <a:spcPts val="864"/>
              </a:spcAft>
            </a:pPr>
            <a:r>
              <a:rPr sz="1000" b="1">
                <a:solidFill>
                  <a:srgbClr val="EDA100"/>
                </a:solidFill>
                <a:latin typeface="Segoe UI"/>
              </a:rPr>
              <a:t>›  </a:t>
            </a:r>
            <a:r>
              <a:rPr sz="1000" b="1">
                <a:solidFill>
                  <a:srgbClr val="F5F7FA"/>
                </a:solidFill>
                <a:latin typeface="Segoe UI"/>
              </a:rPr>
              <a:t>Executive Summary -- </a:t>
            </a:r>
            <a:r>
              <a:rPr sz="1000">
                <a:solidFill>
                  <a:srgbClr val="F5F7FA"/>
                </a:solidFill>
                <a:latin typeface="Segoe UI"/>
              </a:rPr>
              <a:t>RAG-based endpoint out of scope for this milestone.</a:t>
            </a:r>
          </a:p>
          <a:p>
            <a:pPr>
              <a:lnSpc>
                <a:spcPct val="105000"/>
              </a:lnSpc>
              <a:spcAft>
                <a:spcPts val="864"/>
              </a:spcAft>
            </a:pPr>
            <a:r>
              <a:rPr sz="1000" b="1">
                <a:solidFill>
                  <a:srgbClr val="EDA100"/>
                </a:solidFill>
                <a:latin typeface="Segoe UI"/>
              </a:rPr>
              <a:t>›  </a:t>
            </a:r>
            <a:r>
              <a:rPr sz="1000" b="1">
                <a:solidFill>
                  <a:srgbClr val="F5F7FA"/>
                </a:solidFill>
                <a:latin typeface="Segoe UI"/>
              </a:rPr>
              <a:t>Notifications, Settings -- </a:t>
            </a:r>
            <a:r>
              <a:rPr sz="1000">
                <a:solidFill>
                  <a:srgbClr val="F5F7FA"/>
                </a:solidFill>
                <a:latin typeface="Segoe UI"/>
              </a:rPr>
              <a:t>no notifications API or self-service profile endpoint exists yet.</a:t>
            </a:r>
          </a:p>
        </p:txBody>
      </p:sp>
      <p:sp>
        <p:nvSpPr>
          <p:cNvPr id="19" name="TextBox 18"/>
          <p:cNvSpPr txBox="1"/>
          <p:nvPr/>
        </p:nvSpPr>
        <p:spPr>
          <a:xfrm>
            <a:off x="3913632" y="4526280"/>
            <a:ext cx="3383280" cy="274320"/>
          </a:xfrm>
          <a:prstGeom prst="rect">
            <a:avLst/>
          </a:prstGeom>
          <a:noFill/>
        </p:spPr>
        <p:txBody>
          <a:bodyPr wrap="square" anchor="t" lIns="0" rIns="0" tIns="0" bIns="0">
            <a:noAutofit/>
          </a:bodyPr>
          <a:lstStyle/>
          <a:p>
            <a:pPr algn="l">
              <a:lnSpc>
                <a:spcPct val="100000"/>
              </a:lnSpc>
              <a:spcAft>
                <a:spcPts val="0"/>
              </a:spcAft>
            </a:pPr>
            <a:r>
              <a:rPr sz="850" b="0" i="1">
                <a:solidFill>
                  <a:srgbClr val="64708A"/>
                </a:solidFill>
                <a:latin typeface="Segoe UI"/>
              </a:rPr>
              <a:t>Disclosed explicitly in mobile/docs/backend_gaps.md -- placeholders by design, not fake data.</a:t>
            </a:r>
          </a:p>
        </p:txBody>
      </p:sp>
      <p:sp>
        <p:nvSpPr>
          <p:cNvPr id="20" name="Rounded Rectangle 19"/>
          <p:cNvSpPr/>
          <p:nvPr/>
        </p:nvSpPr>
        <p:spPr>
          <a:xfrm>
            <a:off x="7589520" y="1874519"/>
            <a:ext cx="3593592" cy="4251960"/>
          </a:xfrm>
          <a:prstGeom prst="roundRect">
            <a:avLst>
              <a:gd name="adj" fmla="val 3500"/>
            </a:avLst>
          </a:prstGeom>
          <a:solidFill>
            <a:srgbClr val="131B2E"/>
          </a:solidFill>
          <a:ln w="12700">
            <a:solidFill>
              <a:srgbClr val="3A48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589520" y="1874519"/>
            <a:ext cx="3593592" cy="274320"/>
          </a:xfrm>
          <a:prstGeom prst="rect">
            <a:avLst/>
          </a:prstGeom>
          <a:solidFill>
            <a:srgbClr val="1E2B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712964" y="1970531"/>
            <a:ext cx="82296" cy="82296"/>
          </a:xfrm>
          <a:prstGeom prst="ellipse">
            <a:avLst/>
          </a:prstGeom>
          <a:solidFill>
            <a:srgbClr val="E349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859268" y="1970531"/>
            <a:ext cx="82296" cy="82296"/>
          </a:xfrm>
          <a:prstGeom prst="ellipse">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005572" y="1970531"/>
            <a:ext cx="82296" cy="82296"/>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38160" y="1920239"/>
            <a:ext cx="2862072" cy="201168"/>
          </a:xfrm>
          <a:prstGeom prst="rect">
            <a:avLst/>
          </a:prstGeom>
          <a:noFill/>
        </p:spPr>
        <p:txBody>
          <a:bodyPr wrap="square" anchor="t" lIns="0" rIns="0" tIns="0" bIns="0">
            <a:noAutofit/>
          </a:bodyPr>
          <a:lstStyle/>
          <a:p>
            <a:pPr algn="l">
              <a:lnSpc>
                <a:spcPct val="100000"/>
              </a:lnSpc>
              <a:spcAft>
                <a:spcPts val="0"/>
              </a:spcAft>
            </a:pPr>
            <a:r>
              <a:rPr sz="850" b="0" i="0">
                <a:solidFill>
                  <a:srgbClr val="64708A"/>
                </a:solidFill>
                <a:latin typeface="Consolas"/>
              </a:rPr>
              <a:t>Dashboard / Repositories / Scans</a:t>
            </a:r>
          </a:p>
        </p:txBody>
      </p:sp>
      <p:sp>
        <p:nvSpPr>
          <p:cNvPr id="26" name="Rounded Rectangle 25"/>
          <p:cNvSpPr/>
          <p:nvPr/>
        </p:nvSpPr>
        <p:spPr>
          <a:xfrm>
            <a:off x="7735824" y="2276855"/>
            <a:ext cx="3300984" cy="3703320"/>
          </a:xfrm>
          <a:prstGeom prst="roundRect">
            <a:avLst>
              <a:gd name="adj" fmla="val 4000"/>
            </a:avLst>
          </a:prstGeom>
          <a:noFill/>
          <a:ln w="12700">
            <a:solidFill>
              <a:srgbClr val="6470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9AA7BD"/>
                </a:solidFill>
                <a:latin typeface="Segoe UI"/>
              </a:rPr>
              <a:t>▣  SCREENSHOT PLACEHOLDER</a:t>
            </a:r>
          </a:p>
          <a:p>
            <a:pPr algn="ctr">
              <a:spcBef>
                <a:spcPts val="600"/>
              </a:spcBef>
            </a:pPr>
            <a:r>
              <a:rPr sz="1050">
                <a:solidFill>
                  <a:srgbClr val="FFC64B"/>
                </a:solidFill>
                <a:latin typeface="Segoe UI"/>
              </a:rPr>
              <a:t>Flutter Mobile App</a:t>
            </a:r>
          </a:p>
          <a:p>
            <a:pPr algn="ctr">
              <a:spcBef>
                <a:spcPts val="400"/>
              </a:spcBef>
            </a:pPr>
            <a:r>
              <a:rPr sz="850" i="1">
                <a:solidFill>
                  <a:srgbClr val="64708A"/>
                </a:solidFill>
                <a:latin typeface="Segoe UI"/>
              </a:rPr>
              <a:t>Android/iOS, shared backend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362895" y="-3291840"/>
            <a:ext cx="5852160" cy="5852160"/>
          </a:xfrm>
          <a:prstGeom prst="ellipse">
            <a:avLst/>
          </a:prstGeom>
          <a:noFill/>
          <a:ln w="13970">
            <a:solidFill>
              <a:srgbClr val="EDA100">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502920" y="6473952"/>
            <a:ext cx="11185855" cy="0"/>
          </a:xfrm>
          <a:prstGeom prst="line">
            <a:avLst/>
          </a:prstGeom>
          <a:ln w="9525">
            <a:solidFill>
              <a:srgbClr val="2A3654"/>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28816"/>
            <a:ext cx="4572000" cy="274320"/>
          </a:xfrm>
          <a:prstGeom prst="rect">
            <a:avLst/>
          </a:prstGeom>
          <a:noFill/>
        </p:spPr>
        <p:txBody>
          <a:bodyPr wrap="square" anchor="t" lIns="0" rIns="0" tIns="0" bIns="0">
            <a:noAutofit/>
          </a:bodyPr>
          <a:lstStyle/>
          <a:p>
            <a:pPr algn="l">
              <a:lnSpc>
                <a:spcPct val="100000"/>
              </a:lnSpc>
              <a:spcAft>
                <a:spcPts val="0"/>
              </a:spcAft>
            </a:pPr>
            <a:r>
              <a:rPr sz="900" b="0" i="0">
                <a:solidFill>
                  <a:srgbClr val="64708A"/>
                </a:solidFill>
                <a:latin typeface="Segoe UI"/>
              </a:rPr>
              <a:t>KAVACH  ·  PSB Hackathon 2026</a:t>
            </a:r>
          </a:p>
        </p:txBody>
      </p:sp>
      <p:sp>
        <p:nvSpPr>
          <p:cNvPr id="6" name="TextBox 5"/>
          <p:cNvSpPr txBox="1"/>
          <p:nvPr/>
        </p:nvSpPr>
        <p:spPr>
          <a:xfrm>
            <a:off x="4480560" y="6528816"/>
            <a:ext cx="4572000" cy="274320"/>
          </a:xfrm>
          <a:prstGeom prst="rect">
            <a:avLst/>
          </a:prstGeom>
          <a:noFill/>
        </p:spPr>
        <p:txBody>
          <a:bodyPr wrap="square" anchor="t" lIns="0" rIns="0" tIns="0" bIns="0">
            <a:noAutofit/>
          </a:bodyPr>
          <a:lstStyle/>
          <a:p>
            <a:pPr algn="ctr">
              <a:lnSpc>
                <a:spcPct val="100000"/>
              </a:lnSpc>
              <a:spcAft>
                <a:spcPts val="0"/>
              </a:spcAft>
            </a:pPr>
            <a:r>
              <a:rPr sz="900" b="0" i="0">
                <a:solidFill>
                  <a:srgbClr val="64708A"/>
                </a:solidFill>
                <a:latin typeface="Segoe UI"/>
              </a:rPr>
              <a:t>FRONTEND EXPERIENCE</a:t>
            </a:r>
          </a:p>
        </p:txBody>
      </p:sp>
      <p:sp>
        <p:nvSpPr>
          <p:cNvPr id="7" name="TextBox 6"/>
          <p:cNvSpPr txBox="1"/>
          <p:nvPr/>
        </p:nvSpPr>
        <p:spPr>
          <a:xfrm>
            <a:off x="10820095" y="6528816"/>
            <a:ext cx="914400" cy="274320"/>
          </a:xfrm>
          <a:prstGeom prst="rect">
            <a:avLst/>
          </a:prstGeom>
          <a:noFill/>
        </p:spPr>
        <p:txBody>
          <a:bodyPr wrap="square" anchor="t" lIns="0" rIns="0" tIns="0" bIns="0">
            <a:noAutofit/>
          </a:bodyPr>
          <a:lstStyle/>
          <a:p>
            <a:pPr algn="r">
              <a:lnSpc>
                <a:spcPct val="100000"/>
              </a:lnSpc>
              <a:spcAft>
                <a:spcPts val="0"/>
              </a:spcAft>
            </a:pPr>
            <a:r>
              <a:rPr sz="900" b="0" i="0">
                <a:solidFill>
                  <a:srgbClr val="64708A"/>
                </a:solidFill>
                <a:latin typeface="Segoe UI"/>
              </a:rPr>
              <a:t>17 / 22</a:t>
            </a:r>
          </a:p>
        </p:txBody>
      </p:sp>
      <p:sp>
        <p:nvSpPr>
          <p:cNvPr id="8" name="TextBox 7"/>
          <p:cNvSpPr txBox="1"/>
          <p:nvPr/>
        </p:nvSpPr>
        <p:spPr>
          <a:xfrm>
            <a:off x="502920" y="457200"/>
            <a:ext cx="9601200" cy="292608"/>
          </a:xfrm>
          <a:prstGeom prst="rect">
            <a:avLst/>
          </a:prstGeom>
          <a:noFill/>
        </p:spPr>
        <p:txBody>
          <a:bodyPr wrap="square" anchor="t" lIns="0" rIns="0" tIns="0" bIns="0">
            <a:noAutofit/>
          </a:bodyPr>
          <a:lstStyle/>
          <a:p>
            <a:pPr algn="l">
              <a:lnSpc>
                <a:spcPct val="100000"/>
              </a:lnSpc>
              <a:spcAft>
                <a:spcPts val="0"/>
              </a:spcAft>
            </a:pPr>
            <a:r>
              <a:rPr sz="1250" b="1" i="0" spc="160">
                <a:solidFill>
                  <a:srgbClr val="EDA100"/>
                </a:solidFill>
                <a:latin typeface="Segoe UI"/>
              </a:rPr>
              <a:t>FRONTEND EXPERIENCE</a:t>
            </a:r>
          </a:p>
        </p:txBody>
      </p:sp>
      <p:sp>
        <p:nvSpPr>
          <p:cNvPr id="9" name="TextBox 8"/>
          <p:cNvSpPr txBox="1"/>
          <p:nvPr/>
        </p:nvSpPr>
        <p:spPr>
          <a:xfrm>
            <a:off x="502920" y="768096"/>
            <a:ext cx="10789920" cy="566928"/>
          </a:xfrm>
          <a:prstGeom prst="rect">
            <a:avLst/>
          </a:prstGeom>
          <a:noFill/>
        </p:spPr>
        <p:txBody>
          <a:bodyPr wrap="square" anchor="t" lIns="0" rIns="0" tIns="0" bIns="0">
            <a:noAutofit/>
          </a:bodyPr>
          <a:lstStyle/>
          <a:p>
            <a:pPr algn="l">
              <a:lnSpc>
                <a:spcPct val="102000"/>
              </a:lnSpc>
              <a:spcAft>
                <a:spcPts val="0"/>
              </a:spcAft>
            </a:pPr>
            <a:r>
              <a:rPr sz="2500" b="1" i="0">
                <a:solidFill>
                  <a:srgbClr val="F5F7FA"/>
                </a:solidFill>
                <a:latin typeface="Segoe UI"/>
              </a:rPr>
              <a:t>React 19 + Tailwind v4 -- A Genuine Two-Palette Dark Mode</a:t>
            </a:r>
          </a:p>
        </p:txBody>
      </p:sp>
      <p:cxnSp>
        <p:nvCxnSpPr>
          <p:cNvPr id="10" name="Connector 9"/>
          <p:cNvCxnSpPr/>
          <p:nvPr/>
        </p:nvCxnSpPr>
        <p:spPr>
          <a:xfrm>
            <a:off x="502920" y="1399032"/>
            <a:ext cx="960120" cy="0"/>
          </a:xfrm>
          <a:prstGeom prst="line">
            <a:avLst/>
          </a:prstGeom>
          <a:ln w="28575">
            <a:solidFill>
              <a:srgbClr val="EDA100"/>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02920" y="1874519"/>
            <a:ext cx="4160520" cy="2834640"/>
          </a:xfrm>
          <a:prstGeom prst="rect">
            <a:avLst/>
          </a:prstGeom>
          <a:noFill/>
        </p:spPr>
        <p:txBody>
          <a:bodyPr wrap="square" lIns="0" rIns="0" tIns="0" bIns="0">
            <a:spAutoFit/>
          </a:bodyPr>
          <a:lstStyle/>
          <a:p>
            <a:pPr>
              <a:lnSpc>
                <a:spcPct val="105000"/>
              </a:lnSpc>
              <a:spcAft>
                <a:spcPts val="1152"/>
              </a:spcAft>
            </a:pPr>
            <a:r>
              <a:rPr sz="1200" b="1">
                <a:solidFill>
                  <a:srgbClr val="EDA100"/>
                </a:solidFill>
                <a:latin typeface="Segoe UI"/>
              </a:rPr>
              <a:t>›  </a:t>
            </a:r>
            <a:r>
              <a:rPr sz="1200" b="1">
                <a:solidFill>
                  <a:srgbClr val="F5F7FA"/>
                </a:solidFill>
                <a:latin typeface="Segoe UI"/>
              </a:rPr>
              <a:t>13+ role-aware pages -- </a:t>
            </a:r>
            <a:r>
              <a:rPr sz="1200">
                <a:solidFill>
                  <a:srgbClr val="F5F7FA"/>
                </a:solidFill>
                <a:latin typeface="Segoe UI"/>
              </a:rPr>
              <a:t>Risk, Compliance, Finding Explorer, Executive, Knowledge Base, AI Assistant, RAG Ops, Admin, and more.</a:t>
            </a:r>
          </a:p>
          <a:p>
            <a:pPr>
              <a:lnSpc>
                <a:spcPct val="105000"/>
              </a:lnSpc>
              <a:spcAft>
                <a:spcPts val="1152"/>
              </a:spcAft>
            </a:pPr>
            <a:r>
              <a:rPr sz="1200" b="1">
                <a:solidFill>
                  <a:srgbClr val="EDA100"/>
                </a:solidFill>
                <a:latin typeface="Segoe UI"/>
              </a:rPr>
              <a:t>›  </a:t>
            </a:r>
            <a:r>
              <a:rPr sz="1200" b="1">
                <a:solidFill>
                  <a:srgbClr val="F5F7FA"/>
                </a:solidFill>
                <a:latin typeface="Segoe UI"/>
              </a:rPr>
              <a:t>Real-time scan lifecycle -- </a:t>
            </a:r>
            <a:r>
              <a:rPr sz="1200">
                <a:solidFill>
                  <a:srgbClr val="F5F7FA"/>
                </a:solidFill>
                <a:latin typeface="Segoe UI"/>
              </a:rPr>
              <a:t>WebSocket-driven live per-scanner progress, not polling.</a:t>
            </a:r>
          </a:p>
          <a:p>
            <a:pPr>
              <a:lnSpc>
                <a:spcPct val="105000"/>
              </a:lnSpc>
              <a:spcAft>
                <a:spcPts val="1152"/>
              </a:spcAft>
            </a:pPr>
            <a:r>
              <a:rPr sz="1200" b="1">
                <a:solidFill>
                  <a:srgbClr val="EDA100"/>
                </a:solidFill>
                <a:latin typeface="Segoe UI"/>
              </a:rPr>
              <a:t>›  </a:t>
            </a:r>
            <a:r>
              <a:rPr sz="1200" b="1">
                <a:solidFill>
                  <a:srgbClr val="F5F7FA"/>
                </a:solidFill>
                <a:latin typeface="Segoe UI"/>
              </a:rPr>
              <a:t>Framer Motion animation </a:t>
            </a:r>
            <a:r>
              <a:rPr sz="1200">
                <a:solidFill>
                  <a:srgbClr val="F5F7FA"/>
                </a:solidFill>
                <a:latin typeface="Segoe UI"/>
              </a:rPr>
              <a:t>throughout; Recharts for BRS trend, severity, and compliance charts.</a:t>
            </a:r>
          </a:p>
          <a:p>
            <a:pPr>
              <a:lnSpc>
                <a:spcPct val="105000"/>
              </a:lnSpc>
              <a:spcAft>
                <a:spcPts val="1152"/>
              </a:spcAft>
            </a:pPr>
            <a:r>
              <a:rPr sz="1200" b="1">
                <a:solidFill>
                  <a:srgbClr val="EDA100"/>
                </a:solidFill>
                <a:latin typeface="Segoe UI"/>
              </a:rPr>
              <a:t>›  </a:t>
            </a:r>
            <a:r>
              <a:rPr sz="1200" b="1">
                <a:solidFill>
                  <a:srgbClr val="F5F7FA"/>
                </a:solidFill>
                <a:latin typeface="Segoe UI"/>
              </a:rPr>
              <a:t>True dual-palette dark mode -- </a:t>
            </a:r>
            <a:r>
              <a:rPr sz="1200">
                <a:solidFill>
                  <a:srgbClr val="F5F7FA"/>
                </a:solidFill>
                <a:latin typeface="Segoe UI"/>
              </a:rPr>
              <a:t>a real ThemeContext driving both Tailwind classes and inline chart colors, not default scaffolding.</a:t>
            </a:r>
          </a:p>
        </p:txBody>
      </p:sp>
      <p:sp>
        <p:nvSpPr>
          <p:cNvPr id="12" name="Rounded Rectangle 11"/>
          <p:cNvSpPr/>
          <p:nvPr/>
        </p:nvSpPr>
        <p:spPr>
          <a:xfrm>
            <a:off x="502920" y="4709160"/>
            <a:ext cx="4160520" cy="1508760"/>
          </a:xfrm>
          <a:prstGeom prst="roundRect">
            <a:avLst>
              <a:gd name="adj" fmla="val 5500"/>
            </a:avLst>
          </a:prstGeom>
          <a:solidFill>
            <a:srgbClr val="13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94944" y="4919472"/>
            <a:ext cx="128016" cy="128016"/>
          </a:xfrm>
          <a:prstGeom prst="ellipse">
            <a:avLst/>
          </a:prstGeom>
          <a:solidFill>
            <a:srgbClr val="9B8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4882896"/>
            <a:ext cx="3520440" cy="292608"/>
          </a:xfrm>
          <a:prstGeom prst="rect">
            <a:avLst/>
          </a:prstGeom>
          <a:noFill/>
        </p:spPr>
        <p:txBody>
          <a:bodyPr wrap="square" anchor="t" lIns="0" rIns="0" tIns="0" bIns="0">
            <a:noAutofit/>
          </a:bodyPr>
          <a:lstStyle/>
          <a:p>
            <a:pPr algn="l">
              <a:lnSpc>
                <a:spcPct val="100000"/>
              </a:lnSpc>
              <a:spcAft>
                <a:spcPts val="0"/>
              </a:spcAft>
            </a:pPr>
            <a:r>
              <a:rPr sz="1350" b="1" i="0">
                <a:solidFill>
                  <a:srgbClr val="F5F7FA"/>
                </a:solidFill>
                <a:latin typeface="Segoe UI"/>
              </a:rPr>
              <a:t>The 3D Architecture Explorer</a:t>
            </a:r>
          </a:p>
        </p:txBody>
      </p:sp>
      <p:sp>
        <p:nvSpPr>
          <p:cNvPr id="15" name="TextBox 14"/>
          <p:cNvSpPr txBox="1"/>
          <p:nvPr/>
        </p:nvSpPr>
        <p:spPr>
          <a:xfrm>
            <a:off x="722376" y="5239512"/>
            <a:ext cx="3721608" cy="822960"/>
          </a:xfrm>
          <a:prstGeom prst="rect">
            <a:avLst/>
          </a:prstGeom>
          <a:noFill/>
        </p:spPr>
        <p:txBody>
          <a:bodyPr wrap="square" anchor="t" lIns="0" rIns="0" tIns="0" bIns="0">
            <a:noAutofit/>
          </a:bodyPr>
          <a:lstStyle/>
          <a:p>
            <a:pPr algn="l">
              <a:lnSpc>
                <a:spcPct val="108000"/>
              </a:lnSpc>
              <a:spcAft>
                <a:spcPts val="0"/>
              </a:spcAft>
            </a:pPr>
            <a:r>
              <a:rPr sz="980" b="0" i="0">
                <a:solidFill>
                  <a:srgbClr val="9AA7BD"/>
                </a:solidFill>
                <a:latin typeface="Segoe UI"/>
              </a:rPr>
              <a:t>React Three Fiber scene: adaptive quality tiers (mobile/tablet/desktop), hover tooltips, click-to-focus glassmorphism side panels, GSAP camera flights, and 13 custom per-node geometries -- available publicly (no login) and inside the authenticated dashboard.</a:t>
            </a:r>
          </a:p>
        </p:txBody>
      </p:sp>
      <p:sp>
        <p:nvSpPr>
          <p:cNvPr id="16" name="Rounded Rectangle 15"/>
          <p:cNvSpPr/>
          <p:nvPr/>
        </p:nvSpPr>
        <p:spPr>
          <a:xfrm>
            <a:off x="4434840" y="1874519"/>
            <a:ext cx="3364992" cy="4343400"/>
          </a:xfrm>
          <a:prstGeom prst="roundRect">
            <a:avLst>
              <a:gd name="adj" fmla="val 3500"/>
            </a:avLst>
          </a:prstGeom>
          <a:solidFill>
            <a:srgbClr val="131B2E"/>
          </a:solidFill>
          <a:ln w="12700">
            <a:solidFill>
              <a:srgbClr val="3A48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34840" y="1874519"/>
            <a:ext cx="3364992" cy="274320"/>
          </a:xfrm>
          <a:prstGeom prst="rect">
            <a:avLst/>
          </a:prstGeom>
          <a:solidFill>
            <a:srgbClr val="1E2B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558284" y="1970531"/>
            <a:ext cx="82296" cy="82296"/>
          </a:xfrm>
          <a:prstGeom prst="ellipse">
            <a:avLst/>
          </a:prstGeom>
          <a:solidFill>
            <a:srgbClr val="E349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704588" y="1970531"/>
            <a:ext cx="82296" cy="82296"/>
          </a:xfrm>
          <a:prstGeom prst="ellipse">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4850892" y="1970531"/>
            <a:ext cx="82296" cy="82296"/>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983480" y="1920239"/>
            <a:ext cx="2633472" cy="201168"/>
          </a:xfrm>
          <a:prstGeom prst="rect">
            <a:avLst/>
          </a:prstGeom>
          <a:noFill/>
        </p:spPr>
        <p:txBody>
          <a:bodyPr wrap="square" anchor="t" lIns="0" rIns="0" tIns="0" bIns="0">
            <a:noAutofit/>
          </a:bodyPr>
          <a:lstStyle/>
          <a:p>
            <a:pPr algn="l">
              <a:lnSpc>
                <a:spcPct val="100000"/>
              </a:lnSpc>
              <a:spcAft>
                <a:spcPts val="0"/>
              </a:spcAft>
            </a:pPr>
            <a:r>
              <a:rPr sz="850" b="0" i="0">
                <a:solidFill>
                  <a:srgbClr val="64708A"/>
                </a:solidFill>
                <a:latin typeface="Consolas"/>
              </a:rPr>
              <a:t>/architecture (public) or /dashboard/architecture</a:t>
            </a:r>
          </a:p>
        </p:txBody>
      </p:sp>
      <p:sp>
        <p:nvSpPr>
          <p:cNvPr id="22" name="Rounded Rectangle 21"/>
          <p:cNvSpPr/>
          <p:nvPr/>
        </p:nvSpPr>
        <p:spPr>
          <a:xfrm>
            <a:off x="4581144" y="2276855"/>
            <a:ext cx="3072384" cy="3794760"/>
          </a:xfrm>
          <a:prstGeom prst="roundRect">
            <a:avLst>
              <a:gd name="adj" fmla="val 4000"/>
            </a:avLst>
          </a:prstGeom>
          <a:noFill/>
          <a:ln w="12700">
            <a:solidFill>
              <a:srgbClr val="6470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9AA7BD"/>
                </a:solidFill>
                <a:latin typeface="Segoe UI"/>
              </a:rPr>
              <a:t>▣  SCREENSHOT PLACEHOLDER</a:t>
            </a:r>
          </a:p>
          <a:p>
            <a:pPr algn="ctr">
              <a:spcBef>
                <a:spcPts val="600"/>
              </a:spcBef>
            </a:pPr>
            <a:r>
              <a:rPr sz="1050">
                <a:solidFill>
                  <a:srgbClr val="FFC64B"/>
                </a:solidFill>
                <a:latin typeface="Segoe UI"/>
              </a:rPr>
              <a:t>Architecture Explorer</a:t>
            </a:r>
          </a:p>
          <a:p>
            <a:pPr algn="ctr">
              <a:spcBef>
                <a:spcPts val="400"/>
              </a:spcBef>
            </a:pPr>
            <a:r>
              <a:rPr sz="850" i="1">
                <a:solidFill>
                  <a:srgbClr val="64708A"/>
                </a:solidFill>
                <a:latin typeface="Segoe UI"/>
              </a:rPr>
              <a:t>3D, interactive, click any node</a:t>
            </a:r>
          </a:p>
        </p:txBody>
      </p:sp>
      <p:sp>
        <p:nvSpPr>
          <p:cNvPr id="23" name="Rounded Rectangle 22"/>
          <p:cNvSpPr/>
          <p:nvPr/>
        </p:nvSpPr>
        <p:spPr>
          <a:xfrm>
            <a:off x="7936992" y="1874519"/>
            <a:ext cx="3246120" cy="4343400"/>
          </a:xfrm>
          <a:prstGeom prst="roundRect">
            <a:avLst>
              <a:gd name="adj" fmla="val 3500"/>
            </a:avLst>
          </a:prstGeom>
          <a:solidFill>
            <a:srgbClr val="131B2E"/>
          </a:solidFill>
          <a:ln w="12700">
            <a:solidFill>
              <a:srgbClr val="3A48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936992" y="1874519"/>
            <a:ext cx="3246120" cy="274320"/>
          </a:xfrm>
          <a:prstGeom prst="rect">
            <a:avLst/>
          </a:prstGeom>
          <a:solidFill>
            <a:srgbClr val="1E2B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060436" y="1970531"/>
            <a:ext cx="82296" cy="82296"/>
          </a:xfrm>
          <a:prstGeom prst="ellipse">
            <a:avLst/>
          </a:prstGeom>
          <a:solidFill>
            <a:srgbClr val="E349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206740" y="1970531"/>
            <a:ext cx="82296" cy="82296"/>
          </a:xfrm>
          <a:prstGeom prst="ellipse">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353044" y="1970531"/>
            <a:ext cx="82296" cy="82296"/>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485632" y="1920239"/>
            <a:ext cx="2514600" cy="201168"/>
          </a:xfrm>
          <a:prstGeom prst="rect">
            <a:avLst/>
          </a:prstGeom>
          <a:noFill/>
        </p:spPr>
        <p:txBody>
          <a:bodyPr wrap="square" anchor="t" lIns="0" rIns="0" tIns="0" bIns="0">
            <a:noAutofit/>
          </a:bodyPr>
          <a:lstStyle/>
          <a:p>
            <a:pPr algn="l">
              <a:lnSpc>
                <a:spcPct val="100000"/>
              </a:lnSpc>
              <a:spcAft>
                <a:spcPts val="0"/>
              </a:spcAft>
            </a:pPr>
            <a:r>
              <a:rPr sz="850" b="0" i="0">
                <a:solidFill>
                  <a:srgbClr val="64708A"/>
                </a:solidFill>
                <a:latin typeface="Consolas"/>
              </a:rPr>
              <a:t>/scans/:scanJobId</a:t>
            </a:r>
          </a:p>
        </p:txBody>
      </p:sp>
      <p:sp>
        <p:nvSpPr>
          <p:cNvPr id="29" name="Rounded Rectangle 28"/>
          <p:cNvSpPr/>
          <p:nvPr/>
        </p:nvSpPr>
        <p:spPr>
          <a:xfrm>
            <a:off x="8083296" y="2276855"/>
            <a:ext cx="2953512" cy="3794760"/>
          </a:xfrm>
          <a:prstGeom prst="roundRect">
            <a:avLst>
              <a:gd name="adj" fmla="val 4000"/>
            </a:avLst>
          </a:prstGeom>
          <a:noFill/>
          <a:ln w="12700">
            <a:solidFill>
              <a:srgbClr val="6470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9AA7BD"/>
                </a:solidFill>
                <a:latin typeface="Segoe UI"/>
              </a:rPr>
              <a:t>▣  SCREENSHOT PLACEHOLDER</a:t>
            </a:r>
          </a:p>
          <a:p>
            <a:pPr algn="ctr">
              <a:spcBef>
                <a:spcPts val="600"/>
              </a:spcBef>
            </a:pPr>
            <a:r>
              <a:rPr sz="1050">
                <a:solidFill>
                  <a:srgbClr val="FFC64B"/>
                </a:solidFill>
                <a:latin typeface="Segoe UI"/>
              </a:rPr>
              <a:t>Scan Results</a:t>
            </a:r>
          </a:p>
          <a:p>
            <a:pPr algn="ctr">
              <a:spcBef>
                <a:spcPts val="400"/>
              </a:spcBef>
            </a:pPr>
            <a:r>
              <a:rPr sz="850" i="1">
                <a:solidFill>
                  <a:srgbClr val="64708A"/>
                </a:solidFill>
                <a:latin typeface="Segoe UI"/>
              </a:rPr>
              <a:t>Live status + finding detail modal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362895" y="-3291840"/>
            <a:ext cx="5852160" cy="5852160"/>
          </a:xfrm>
          <a:prstGeom prst="ellipse">
            <a:avLst/>
          </a:prstGeom>
          <a:noFill/>
          <a:ln w="13970">
            <a:solidFill>
              <a:srgbClr val="EDA100">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502920" y="6473952"/>
            <a:ext cx="11185855" cy="0"/>
          </a:xfrm>
          <a:prstGeom prst="line">
            <a:avLst/>
          </a:prstGeom>
          <a:ln w="9525">
            <a:solidFill>
              <a:srgbClr val="2A3654"/>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28816"/>
            <a:ext cx="4572000" cy="274320"/>
          </a:xfrm>
          <a:prstGeom prst="rect">
            <a:avLst/>
          </a:prstGeom>
          <a:noFill/>
        </p:spPr>
        <p:txBody>
          <a:bodyPr wrap="square" anchor="t" lIns="0" rIns="0" tIns="0" bIns="0">
            <a:noAutofit/>
          </a:bodyPr>
          <a:lstStyle/>
          <a:p>
            <a:pPr algn="l">
              <a:lnSpc>
                <a:spcPct val="100000"/>
              </a:lnSpc>
              <a:spcAft>
                <a:spcPts val="0"/>
              </a:spcAft>
            </a:pPr>
            <a:r>
              <a:rPr sz="900" b="0" i="0">
                <a:solidFill>
                  <a:srgbClr val="64708A"/>
                </a:solidFill>
                <a:latin typeface="Segoe UI"/>
              </a:rPr>
              <a:t>KAVACH  ·  PSB Hackathon 2026</a:t>
            </a:r>
          </a:p>
        </p:txBody>
      </p:sp>
      <p:sp>
        <p:nvSpPr>
          <p:cNvPr id="6" name="TextBox 5"/>
          <p:cNvSpPr txBox="1"/>
          <p:nvPr/>
        </p:nvSpPr>
        <p:spPr>
          <a:xfrm>
            <a:off x="4480560" y="6528816"/>
            <a:ext cx="4572000" cy="274320"/>
          </a:xfrm>
          <a:prstGeom prst="rect">
            <a:avLst/>
          </a:prstGeom>
          <a:noFill/>
        </p:spPr>
        <p:txBody>
          <a:bodyPr wrap="square" anchor="t" lIns="0" rIns="0" tIns="0" bIns="0">
            <a:noAutofit/>
          </a:bodyPr>
          <a:lstStyle/>
          <a:p>
            <a:pPr algn="ctr">
              <a:lnSpc>
                <a:spcPct val="100000"/>
              </a:lnSpc>
              <a:spcAft>
                <a:spcPts val="0"/>
              </a:spcAft>
            </a:pPr>
            <a:r>
              <a:rPr sz="900" b="0" i="0">
                <a:solidFill>
                  <a:srgbClr val="64708A"/>
                </a:solidFill>
                <a:latin typeface="Segoe UI"/>
              </a:rPr>
              <a:t>CI/CD INTEGRATION</a:t>
            </a:r>
          </a:p>
        </p:txBody>
      </p:sp>
      <p:sp>
        <p:nvSpPr>
          <p:cNvPr id="7" name="TextBox 6"/>
          <p:cNvSpPr txBox="1"/>
          <p:nvPr/>
        </p:nvSpPr>
        <p:spPr>
          <a:xfrm>
            <a:off x="10820095" y="6528816"/>
            <a:ext cx="914400" cy="274320"/>
          </a:xfrm>
          <a:prstGeom prst="rect">
            <a:avLst/>
          </a:prstGeom>
          <a:noFill/>
        </p:spPr>
        <p:txBody>
          <a:bodyPr wrap="square" anchor="t" lIns="0" rIns="0" tIns="0" bIns="0">
            <a:noAutofit/>
          </a:bodyPr>
          <a:lstStyle/>
          <a:p>
            <a:pPr algn="r">
              <a:lnSpc>
                <a:spcPct val="100000"/>
              </a:lnSpc>
              <a:spcAft>
                <a:spcPts val="0"/>
              </a:spcAft>
            </a:pPr>
            <a:r>
              <a:rPr sz="900" b="0" i="0">
                <a:solidFill>
                  <a:srgbClr val="64708A"/>
                </a:solidFill>
                <a:latin typeface="Segoe UI"/>
              </a:rPr>
              <a:t>18 / 22</a:t>
            </a:r>
          </a:p>
        </p:txBody>
      </p:sp>
      <p:sp>
        <p:nvSpPr>
          <p:cNvPr id="8" name="TextBox 7"/>
          <p:cNvSpPr txBox="1"/>
          <p:nvPr/>
        </p:nvSpPr>
        <p:spPr>
          <a:xfrm>
            <a:off x="502920" y="457200"/>
            <a:ext cx="9601200" cy="292608"/>
          </a:xfrm>
          <a:prstGeom prst="rect">
            <a:avLst/>
          </a:prstGeom>
          <a:noFill/>
        </p:spPr>
        <p:txBody>
          <a:bodyPr wrap="square" anchor="t" lIns="0" rIns="0" tIns="0" bIns="0">
            <a:noAutofit/>
          </a:bodyPr>
          <a:lstStyle/>
          <a:p>
            <a:pPr algn="l">
              <a:lnSpc>
                <a:spcPct val="100000"/>
              </a:lnSpc>
              <a:spcAft>
                <a:spcPts val="0"/>
              </a:spcAft>
            </a:pPr>
            <a:r>
              <a:rPr sz="1250" b="1" i="0" spc="160">
                <a:solidFill>
                  <a:srgbClr val="EDA100"/>
                </a:solidFill>
                <a:latin typeface="Segoe UI"/>
              </a:rPr>
              <a:t>CI/CD INTEGRATION</a:t>
            </a:r>
          </a:p>
        </p:txBody>
      </p:sp>
      <p:sp>
        <p:nvSpPr>
          <p:cNvPr id="9" name="TextBox 8"/>
          <p:cNvSpPr txBox="1"/>
          <p:nvPr/>
        </p:nvSpPr>
        <p:spPr>
          <a:xfrm>
            <a:off x="502920" y="768096"/>
            <a:ext cx="10789920" cy="566928"/>
          </a:xfrm>
          <a:prstGeom prst="rect">
            <a:avLst/>
          </a:prstGeom>
          <a:noFill/>
        </p:spPr>
        <p:txBody>
          <a:bodyPr wrap="square" anchor="t" lIns="0" rIns="0" tIns="0" bIns="0">
            <a:noAutofit/>
          </a:bodyPr>
          <a:lstStyle/>
          <a:p>
            <a:pPr algn="l">
              <a:lnSpc>
                <a:spcPct val="102000"/>
              </a:lnSpc>
              <a:spcAft>
                <a:spcPts val="0"/>
              </a:spcAft>
            </a:pPr>
            <a:r>
              <a:rPr sz="2500" b="1" i="0">
                <a:solidFill>
                  <a:srgbClr val="F5F7FA"/>
                </a:solidFill>
                <a:latin typeface="Segoe UI"/>
              </a:rPr>
              <a:t>Webhook-Triggered Scanning, Straight Into Existing Tooling</a:t>
            </a:r>
          </a:p>
        </p:txBody>
      </p:sp>
      <p:cxnSp>
        <p:nvCxnSpPr>
          <p:cNvPr id="10" name="Connector 9"/>
          <p:cNvCxnSpPr/>
          <p:nvPr/>
        </p:nvCxnSpPr>
        <p:spPr>
          <a:xfrm>
            <a:off x="502920" y="1399032"/>
            <a:ext cx="960120" cy="0"/>
          </a:xfrm>
          <a:prstGeom prst="line">
            <a:avLst/>
          </a:prstGeom>
          <a:ln w="28575">
            <a:solidFill>
              <a:srgbClr val="EDA100"/>
            </a:solidFill>
          </a:ln>
          <a:effectLst/>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02920" y="1965960"/>
            <a:ext cx="1741932" cy="868680"/>
          </a:xfrm>
          <a:prstGeom prst="roundRect">
            <a:avLst>
              <a:gd name="adj" fmla="val 14000"/>
            </a:avLst>
          </a:prstGeom>
          <a:solidFill>
            <a:srgbClr val="18233B"/>
          </a:solidFill>
          <a:ln w="1587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150" b="1">
                <a:solidFill>
                  <a:srgbClr val="F5F7FA"/>
                </a:solidFill>
                <a:latin typeface="Segoe UI"/>
              </a:rPr>
              <a:t>Git Push</a:t>
            </a:r>
          </a:p>
        </p:txBody>
      </p:sp>
      <p:sp>
        <p:nvSpPr>
          <p:cNvPr id="12" name="Isosceles Triangle 11"/>
          <p:cNvSpPr/>
          <p:nvPr/>
        </p:nvSpPr>
        <p:spPr>
          <a:xfrm rot="5400000">
            <a:off x="2258568" y="2336292"/>
            <a:ext cx="118872" cy="128016"/>
          </a:xfrm>
          <a:prstGeom prst="triangle">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391156" y="1965960"/>
            <a:ext cx="1741932" cy="868680"/>
          </a:xfrm>
          <a:prstGeom prst="roundRect">
            <a:avLst>
              <a:gd name="adj" fmla="val 14000"/>
            </a:avLst>
          </a:prstGeom>
          <a:solidFill>
            <a:srgbClr val="18233B"/>
          </a:solidFill>
          <a:ln w="1587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150" b="1">
                <a:solidFill>
                  <a:srgbClr val="F5F7FA"/>
                </a:solidFill>
                <a:latin typeface="Segoe UI"/>
              </a:rPr>
              <a:t>Webhook</a:t>
            </a:r>
          </a:p>
        </p:txBody>
      </p:sp>
      <p:sp>
        <p:nvSpPr>
          <p:cNvPr id="14" name="Isosceles Triangle 13"/>
          <p:cNvSpPr/>
          <p:nvPr/>
        </p:nvSpPr>
        <p:spPr>
          <a:xfrm rot="5400000">
            <a:off x="4146804" y="2336292"/>
            <a:ext cx="118872" cy="128016"/>
          </a:xfrm>
          <a:prstGeom prst="triangle">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279392" y="1965960"/>
            <a:ext cx="1741932" cy="868680"/>
          </a:xfrm>
          <a:prstGeom prst="roundRect">
            <a:avLst>
              <a:gd name="adj" fmla="val 14000"/>
            </a:avLst>
          </a:prstGeom>
          <a:solidFill>
            <a:srgbClr val="18233B"/>
          </a:solidFill>
          <a:ln w="15875">
            <a:solidFill>
              <a:srgbClr val="E34948"/>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150" b="1">
                <a:solidFill>
                  <a:srgbClr val="F5F7FA"/>
                </a:solidFill>
                <a:latin typeface="Segoe UI"/>
              </a:rPr>
              <a:t>Pipeline</a:t>
            </a:r>
          </a:p>
        </p:txBody>
      </p:sp>
      <p:sp>
        <p:nvSpPr>
          <p:cNvPr id="16" name="Isosceles Triangle 15"/>
          <p:cNvSpPr/>
          <p:nvPr/>
        </p:nvSpPr>
        <p:spPr>
          <a:xfrm rot="5400000">
            <a:off x="6035040" y="2336292"/>
            <a:ext cx="118872" cy="128016"/>
          </a:xfrm>
          <a:prstGeom prst="triangle">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167628" y="1965960"/>
            <a:ext cx="1741932" cy="868680"/>
          </a:xfrm>
          <a:prstGeom prst="roundRect">
            <a:avLst>
              <a:gd name="adj" fmla="val 14000"/>
            </a:avLst>
          </a:prstGeom>
          <a:solidFill>
            <a:srgbClr val="18233B"/>
          </a:solidFill>
          <a:ln w="15875">
            <a:solidFill>
              <a:srgbClr val="6CAEF2"/>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150" b="1">
                <a:solidFill>
                  <a:srgbClr val="F5F7FA"/>
                </a:solidFill>
                <a:latin typeface="Segoe UI"/>
              </a:rPr>
              <a:t>Analysis</a:t>
            </a:r>
          </a:p>
        </p:txBody>
      </p:sp>
      <p:sp>
        <p:nvSpPr>
          <p:cNvPr id="18" name="Isosceles Triangle 17"/>
          <p:cNvSpPr/>
          <p:nvPr/>
        </p:nvSpPr>
        <p:spPr>
          <a:xfrm rot="5400000">
            <a:off x="7923276" y="2336292"/>
            <a:ext cx="118872" cy="128016"/>
          </a:xfrm>
          <a:prstGeom prst="triangle">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055864" y="1965960"/>
            <a:ext cx="1741932" cy="868680"/>
          </a:xfrm>
          <a:prstGeom prst="roundRect">
            <a:avLst>
              <a:gd name="adj" fmla="val 14000"/>
            </a:avLst>
          </a:prstGeom>
          <a:solidFill>
            <a:srgbClr val="18233B"/>
          </a:solidFill>
          <a:ln w="15875">
            <a:solidFill>
              <a:srgbClr val="EDA10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150" b="1">
                <a:solidFill>
                  <a:srgbClr val="F5F7FA"/>
                </a:solidFill>
                <a:latin typeface="Segoe UI"/>
              </a:rPr>
              <a:t>Reports</a:t>
            </a:r>
          </a:p>
        </p:txBody>
      </p:sp>
      <p:sp>
        <p:nvSpPr>
          <p:cNvPr id="20" name="Isosceles Triangle 19"/>
          <p:cNvSpPr/>
          <p:nvPr/>
        </p:nvSpPr>
        <p:spPr>
          <a:xfrm rot="5400000">
            <a:off x="9811512" y="2336292"/>
            <a:ext cx="118872" cy="128016"/>
          </a:xfrm>
          <a:prstGeom prst="triangle">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944100" y="1965960"/>
            <a:ext cx="1741932" cy="868680"/>
          </a:xfrm>
          <a:prstGeom prst="roundRect">
            <a:avLst>
              <a:gd name="adj" fmla="val 14000"/>
            </a:avLst>
          </a:prstGeom>
          <a:solidFill>
            <a:srgbClr val="18233B"/>
          </a:solidFill>
          <a:ln w="1587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150" b="1">
                <a:solidFill>
                  <a:srgbClr val="F5F7FA"/>
                </a:solidFill>
                <a:latin typeface="Segoe UI"/>
              </a:rPr>
              <a:t>Developer
Feedback</a:t>
            </a:r>
          </a:p>
        </p:txBody>
      </p:sp>
      <p:sp>
        <p:nvSpPr>
          <p:cNvPr id="22" name="Rounded Rectangle 21"/>
          <p:cNvSpPr/>
          <p:nvPr/>
        </p:nvSpPr>
        <p:spPr>
          <a:xfrm>
            <a:off x="502920" y="3154680"/>
            <a:ext cx="3611880" cy="2011680"/>
          </a:xfrm>
          <a:prstGeom prst="roundRect">
            <a:avLst>
              <a:gd name="adj" fmla="val 5500"/>
            </a:avLst>
          </a:prstGeom>
          <a:solidFill>
            <a:srgbClr val="13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94944" y="3364992"/>
            <a:ext cx="128016" cy="128016"/>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0120" y="3328416"/>
            <a:ext cx="2971800" cy="292608"/>
          </a:xfrm>
          <a:prstGeom prst="rect">
            <a:avLst/>
          </a:prstGeom>
          <a:noFill/>
        </p:spPr>
        <p:txBody>
          <a:bodyPr wrap="square" anchor="t" lIns="0" rIns="0" tIns="0" bIns="0">
            <a:noAutofit/>
          </a:bodyPr>
          <a:lstStyle/>
          <a:p>
            <a:pPr algn="l">
              <a:lnSpc>
                <a:spcPct val="100000"/>
              </a:lnSpc>
              <a:spcAft>
                <a:spcPts val="0"/>
              </a:spcAft>
            </a:pPr>
            <a:r>
              <a:rPr sz="1350" b="1" i="0">
                <a:solidFill>
                  <a:srgbClr val="F5F7FA"/>
                </a:solidFill>
                <a:latin typeface="Segoe UI"/>
              </a:rPr>
              <a:t>KAVACH's Own Pipeline</a:t>
            </a:r>
          </a:p>
        </p:txBody>
      </p:sp>
      <p:sp>
        <p:nvSpPr>
          <p:cNvPr id="25" name="TextBox 24"/>
          <p:cNvSpPr txBox="1"/>
          <p:nvPr/>
        </p:nvSpPr>
        <p:spPr>
          <a:xfrm>
            <a:off x="722376" y="3685032"/>
            <a:ext cx="3172968" cy="1325880"/>
          </a:xfrm>
          <a:prstGeom prst="rect">
            <a:avLst/>
          </a:prstGeom>
          <a:noFill/>
        </p:spPr>
        <p:txBody>
          <a:bodyPr wrap="square" anchor="t" lIns="0" rIns="0" tIns="0" bIns="0">
            <a:noAutofit/>
          </a:bodyPr>
          <a:lstStyle/>
          <a:p>
            <a:pPr algn="l">
              <a:lnSpc>
                <a:spcPct val="108000"/>
              </a:lnSpc>
              <a:spcAft>
                <a:spcPts val="0"/>
              </a:spcAft>
            </a:pPr>
            <a:r>
              <a:rPr sz="1000" b="0" i="0">
                <a:solidFill>
                  <a:srgbClr val="9AA7BD"/>
                </a:solidFill>
                <a:latin typeface="Segoe UI"/>
              </a:rPr>
              <a:t>GitHub Actions: backend-test (pytest) → helm-validate (lint + template) → build-backend / build-frontend (Docker to GHCR, PR-safe -- no push) → deploy (gated to main, helm upgrade + helm test smoke check).</a:t>
            </a:r>
          </a:p>
        </p:txBody>
      </p:sp>
      <p:sp>
        <p:nvSpPr>
          <p:cNvPr id="26" name="Rounded Rectangle 25"/>
          <p:cNvSpPr/>
          <p:nvPr/>
        </p:nvSpPr>
        <p:spPr>
          <a:xfrm>
            <a:off x="3785615" y="3154680"/>
            <a:ext cx="3611880" cy="2011680"/>
          </a:xfrm>
          <a:prstGeom prst="roundRect">
            <a:avLst>
              <a:gd name="adj" fmla="val 5500"/>
            </a:avLst>
          </a:prstGeom>
          <a:solidFill>
            <a:srgbClr val="13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3977639" y="3364992"/>
            <a:ext cx="128016" cy="128016"/>
          </a:xfrm>
          <a:prstGeom prst="ellipse">
            <a:avLst/>
          </a:prstGeom>
          <a:solidFill>
            <a:srgbClr val="E349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242815" y="3328416"/>
            <a:ext cx="2971800" cy="292608"/>
          </a:xfrm>
          <a:prstGeom prst="rect">
            <a:avLst/>
          </a:prstGeom>
          <a:noFill/>
        </p:spPr>
        <p:txBody>
          <a:bodyPr wrap="square" anchor="t" lIns="0" rIns="0" tIns="0" bIns="0">
            <a:noAutofit/>
          </a:bodyPr>
          <a:lstStyle/>
          <a:p>
            <a:pPr algn="l">
              <a:lnSpc>
                <a:spcPct val="100000"/>
              </a:lnSpc>
              <a:spcAft>
                <a:spcPts val="0"/>
              </a:spcAft>
            </a:pPr>
            <a:r>
              <a:rPr sz="1350" b="1" i="0">
                <a:solidFill>
                  <a:srgbClr val="F5F7FA"/>
                </a:solidFill>
                <a:latin typeface="Segoe UI"/>
              </a:rPr>
              <a:t>Webhook Intake</a:t>
            </a:r>
          </a:p>
        </p:txBody>
      </p:sp>
      <p:sp>
        <p:nvSpPr>
          <p:cNvPr id="29" name="TextBox 28"/>
          <p:cNvSpPr txBox="1"/>
          <p:nvPr/>
        </p:nvSpPr>
        <p:spPr>
          <a:xfrm>
            <a:off x="4005071" y="3685032"/>
            <a:ext cx="3172968" cy="1325880"/>
          </a:xfrm>
          <a:prstGeom prst="rect">
            <a:avLst/>
          </a:prstGeom>
          <a:noFill/>
        </p:spPr>
        <p:txBody>
          <a:bodyPr wrap="square" anchor="t" lIns="0" rIns="0" tIns="0" bIns="0">
            <a:noAutofit/>
          </a:bodyPr>
          <a:lstStyle/>
          <a:p>
            <a:pPr algn="l">
              <a:lnSpc>
                <a:spcPct val="108000"/>
              </a:lnSpc>
              <a:spcAft>
                <a:spcPts val="0"/>
              </a:spcAft>
            </a:pPr>
            <a:r>
              <a:rPr sz="1000" b="0" i="0">
                <a:solidFill>
                  <a:srgbClr val="9AA7BD"/>
                </a:solidFill>
                <a:latin typeface="Segoe UI"/>
              </a:rPr>
              <a:t>GitHub push events verified via HMAC (X-Hub-Signature-256) automatically enqueue a scan -- no manual trigger required for a connected repository.</a:t>
            </a:r>
          </a:p>
        </p:txBody>
      </p:sp>
      <p:sp>
        <p:nvSpPr>
          <p:cNvPr id="30" name="Rounded Rectangle 29"/>
          <p:cNvSpPr/>
          <p:nvPr/>
        </p:nvSpPr>
        <p:spPr>
          <a:xfrm>
            <a:off x="7571231" y="3154680"/>
            <a:ext cx="3611880" cy="2011680"/>
          </a:xfrm>
          <a:prstGeom prst="roundRect">
            <a:avLst>
              <a:gd name="adj" fmla="val 5500"/>
            </a:avLst>
          </a:prstGeom>
          <a:solidFill>
            <a:srgbClr val="13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763255" y="3364992"/>
            <a:ext cx="128016" cy="128016"/>
          </a:xfrm>
          <a:prstGeom prst="ellipse">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028431" y="3328416"/>
            <a:ext cx="2971800" cy="292608"/>
          </a:xfrm>
          <a:prstGeom prst="rect">
            <a:avLst/>
          </a:prstGeom>
          <a:noFill/>
        </p:spPr>
        <p:txBody>
          <a:bodyPr wrap="square" anchor="t" lIns="0" rIns="0" tIns="0" bIns="0">
            <a:noAutofit/>
          </a:bodyPr>
          <a:lstStyle/>
          <a:p>
            <a:pPr algn="l">
              <a:lnSpc>
                <a:spcPct val="100000"/>
              </a:lnSpc>
              <a:spcAft>
                <a:spcPts val="0"/>
              </a:spcAft>
            </a:pPr>
            <a:r>
              <a:rPr sz="1350" b="1" i="0">
                <a:solidFill>
                  <a:srgbClr val="F5F7FA"/>
                </a:solidFill>
                <a:latin typeface="Segoe UI"/>
              </a:rPr>
              <a:t>Feeds Existing Tooling</a:t>
            </a:r>
          </a:p>
        </p:txBody>
      </p:sp>
      <p:sp>
        <p:nvSpPr>
          <p:cNvPr id="33" name="TextBox 32"/>
          <p:cNvSpPr txBox="1"/>
          <p:nvPr/>
        </p:nvSpPr>
        <p:spPr>
          <a:xfrm>
            <a:off x="7790687" y="3685032"/>
            <a:ext cx="3172968" cy="1325880"/>
          </a:xfrm>
          <a:prstGeom prst="rect">
            <a:avLst/>
          </a:prstGeom>
          <a:noFill/>
        </p:spPr>
        <p:txBody>
          <a:bodyPr wrap="square" anchor="t" lIns="0" rIns="0" tIns="0" bIns="0">
            <a:noAutofit/>
          </a:bodyPr>
          <a:lstStyle/>
          <a:p>
            <a:pPr algn="l">
              <a:lnSpc>
                <a:spcPct val="108000"/>
              </a:lnSpc>
              <a:spcAft>
                <a:spcPts val="0"/>
              </a:spcAft>
            </a:pPr>
            <a:r>
              <a:rPr sz="1000" b="0" i="0">
                <a:solidFill>
                  <a:srgbClr val="9AA7BD"/>
                </a:solidFill>
                <a:latin typeface="Segoe UI"/>
              </a:rPr>
              <a:t>SARIF export is directly consumable by GitHub/GitLab code-scanning tabs; Slack, email, and webhook notifications fire on scan completion or failure.</a:t>
            </a:r>
          </a:p>
        </p:txBody>
      </p:sp>
      <p:sp>
        <p:nvSpPr>
          <p:cNvPr id="34" name="TextBox 33"/>
          <p:cNvSpPr txBox="1"/>
          <p:nvPr/>
        </p:nvSpPr>
        <p:spPr>
          <a:xfrm>
            <a:off x="502920" y="5349240"/>
            <a:ext cx="11183112" cy="274320"/>
          </a:xfrm>
          <a:prstGeom prst="rect">
            <a:avLst/>
          </a:prstGeom>
          <a:noFill/>
        </p:spPr>
        <p:txBody>
          <a:bodyPr wrap="square" anchor="t" lIns="0" rIns="0" tIns="0" bIns="0">
            <a:noAutofit/>
          </a:bodyPr>
          <a:lstStyle/>
          <a:p>
            <a:pPr algn="l">
              <a:lnSpc>
                <a:spcPct val="100000"/>
              </a:lnSpc>
              <a:spcAft>
                <a:spcPts val="0"/>
              </a:spcAft>
            </a:pPr>
            <a:r>
              <a:rPr sz="850" b="0" i="1">
                <a:solidFill>
                  <a:srgbClr val="64708A"/>
                </a:solidFill>
                <a:latin typeface="Segoe UI"/>
              </a:rPr>
              <a:t>Today, KAVACH triggers a scan automatically on push and exports SARIF for existing code-scanning UIs; a native branch-protection “block the merge” gate is not yet a shipped feature -- see Future Scope.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362895" y="-3291840"/>
            <a:ext cx="5852160" cy="5852160"/>
          </a:xfrm>
          <a:prstGeom prst="ellipse">
            <a:avLst/>
          </a:prstGeom>
          <a:noFill/>
          <a:ln w="13970">
            <a:solidFill>
              <a:srgbClr val="EDA100">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502920" y="6473952"/>
            <a:ext cx="11185855" cy="0"/>
          </a:xfrm>
          <a:prstGeom prst="line">
            <a:avLst/>
          </a:prstGeom>
          <a:ln w="9525">
            <a:solidFill>
              <a:srgbClr val="2A3654"/>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28816"/>
            <a:ext cx="4572000" cy="274320"/>
          </a:xfrm>
          <a:prstGeom prst="rect">
            <a:avLst/>
          </a:prstGeom>
          <a:noFill/>
        </p:spPr>
        <p:txBody>
          <a:bodyPr wrap="square" anchor="t" lIns="0" rIns="0" tIns="0" bIns="0">
            <a:noAutofit/>
          </a:bodyPr>
          <a:lstStyle/>
          <a:p>
            <a:pPr algn="l">
              <a:lnSpc>
                <a:spcPct val="100000"/>
              </a:lnSpc>
              <a:spcAft>
                <a:spcPts val="0"/>
              </a:spcAft>
            </a:pPr>
            <a:r>
              <a:rPr sz="900" b="0" i="0">
                <a:solidFill>
                  <a:srgbClr val="64708A"/>
                </a:solidFill>
                <a:latin typeface="Segoe UI"/>
              </a:rPr>
              <a:t>KAVACH  ·  PSB Hackathon 2026</a:t>
            </a:r>
          </a:p>
        </p:txBody>
      </p:sp>
      <p:sp>
        <p:nvSpPr>
          <p:cNvPr id="6" name="TextBox 5"/>
          <p:cNvSpPr txBox="1"/>
          <p:nvPr/>
        </p:nvSpPr>
        <p:spPr>
          <a:xfrm>
            <a:off x="4480560" y="6528816"/>
            <a:ext cx="4572000" cy="274320"/>
          </a:xfrm>
          <a:prstGeom prst="rect">
            <a:avLst/>
          </a:prstGeom>
          <a:noFill/>
        </p:spPr>
        <p:txBody>
          <a:bodyPr wrap="square" anchor="t" lIns="0" rIns="0" tIns="0" bIns="0">
            <a:noAutofit/>
          </a:bodyPr>
          <a:lstStyle/>
          <a:p>
            <a:pPr algn="ctr">
              <a:lnSpc>
                <a:spcPct val="100000"/>
              </a:lnSpc>
              <a:spcAft>
                <a:spcPts val="0"/>
              </a:spcAft>
            </a:pPr>
            <a:r>
              <a:rPr sz="900" b="0" i="0">
                <a:solidFill>
                  <a:srgbClr val="64708A"/>
                </a:solidFill>
                <a:latin typeface="Segoe UI"/>
              </a:rPr>
              <a:t>LIVE DEMONSTRATION FLOW</a:t>
            </a:r>
          </a:p>
        </p:txBody>
      </p:sp>
      <p:sp>
        <p:nvSpPr>
          <p:cNvPr id="7" name="TextBox 6"/>
          <p:cNvSpPr txBox="1"/>
          <p:nvPr/>
        </p:nvSpPr>
        <p:spPr>
          <a:xfrm>
            <a:off x="10820095" y="6528816"/>
            <a:ext cx="914400" cy="274320"/>
          </a:xfrm>
          <a:prstGeom prst="rect">
            <a:avLst/>
          </a:prstGeom>
          <a:noFill/>
        </p:spPr>
        <p:txBody>
          <a:bodyPr wrap="square" anchor="t" lIns="0" rIns="0" tIns="0" bIns="0">
            <a:noAutofit/>
          </a:bodyPr>
          <a:lstStyle/>
          <a:p>
            <a:pPr algn="r">
              <a:lnSpc>
                <a:spcPct val="100000"/>
              </a:lnSpc>
              <a:spcAft>
                <a:spcPts val="0"/>
              </a:spcAft>
            </a:pPr>
            <a:r>
              <a:rPr sz="900" b="0" i="0">
                <a:solidFill>
                  <a:srgbClr val="64708A"/>
                </a:solidFill>
                <a:latin typeface="Segoe UI"/>
              </a:rPr>
              <a:t>19 / 22</a:t>
            </a:r>
          </a:p>
        </p:txBody>
      </p:sp>
      <p:sp>
        <p:nvSpPr>
          <p:cNvPr id="8" name="TextBox 7"/>
          <p:cNvSpPr txBox="1"/>
          <p:nvPr/>
        </p:nvSpPr>
        <p:spPr>
          <a:xfrm>
            <a:off x="502920" y="457200"/>
            <a:ext cx="9601200" cy="292608"/>
          </a:xfrm>
          <a:prstGeom prst="rect">
            <a:avLst/>
          </a:prstGeom>
          <a:noFill/>
        </p:spPr>
        <p:txBody>
          <a:bodyPr wrap="square" anchor="t" lIns="0" rIns="0" tIns="0" bIns="0">
            <a:noAutofit/>
          </a:bodyPr>
          <a:lstStyle/>
          <a:p>
            <a:pPr algn="l">
              <a:lnSpc>
                <a:spcPct val="100000"/>
              </a:lnSpc>
              <a:spcAft>
                <a:spcPts val="0"/>
              </a:spcAft>
            </a:pPr>
            <a:r>
              <a:rPr sz="1250" b="1" i="0" spc="160">
                <a:solidFill>
                  <a:srgbClr val="EDA100"/>
                </a:solidFill>
                <a:latin typeface="Segoe UI"/>
              </a:rPr>
              <a:t>LIVE DEMONSTRATION FLOW</a:t>
            </a:r>
          </a:p>
        </p:txBody>
      </p:sp>
      <p:sp>
        <p:nvSpPr>
          <p:cNvPr id="9" name="TextBox 8"/>
          <p:cNvSpPr txBox="1"/>
          <p:nvPr/>
        </p:nvSpPr>
        <p:spPr>
          <a:xfrm>
            <a:off x="502920" y="768096"/>
            <a:ext cx="10789920" cy="566928"/>
          </a:xfrm>
          <a:prstGeom prst="rect">
            <a:avLst/>
          </a:prstGeom>
          <a:noFill/>
        </p:spPr>
        <p:txBody>
          <a:bodyPr wrap="square" anchor="t" lIns="0" rIns="0" tIns="0" bIns="0">
            <a:noAutofit/>
          </a:bodyPr>
          <a:lstStyle/>
          <a:p>
            <a:pPr algn="l">
              <a:lnSpc>
                <a:spcPct val="102000"/>
              </a:lnSpc>
              <a:spcAft>
                <a:spcPts val="0"/>
              </a:spcAft>
            </a:pPr>
            <a:r>
              <a:rPr sz="3000" b="1" i="0">
                <a:solidFill>
                  <a:srgbClr val="F5F7FA"/>
                </a:solidFill>
                <a:latin typeface="Segoe UI"/>
              </a:rPr>
              <a:t>What We'll Show, Step by Step</a:t>
            </a:r>
          </a:p>
        </p:txBody>
      </p:sp>
      <p:cxnSp>
        <p:nvCxnSpPr>
          <p:cNvPr id="10" name="Connector 9"/>
          <p:cNvCxnSpPr/>
          <p:nvPr/>
        </p:nvCxnSpPr>
        <p:spPr>
          <a:xfrm>
            <a:off x="502920" y="1399032"/>
            <a:ext cx="960120" cy="0"/>
          </a:xfrm>
          <a:prstGeom prst="line">
            <a:avLst/>
          </a:prstGeom>
          <a:ln w="28575">
            <a:solidFill>
              <a:srgbClr val="EDA100"/>
            </a:solidFill>
          </a:ln>
          <a:effectLst/>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02920" y="1874519"/>
            <a:ext cx="2699766" cy="1554480"/>
          </a:xfrm>
          <a:prstGeom prst="roundRect">
            <a:avLst>
              <a:gd name="adj" fmla="val 5500"/>
            </a:avLst>
          </a:prstGeom>
          <a:solidFill>
            <a:srgbClr val="13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85800" y="2057399"/>
            <a:ext cx="384048" cy="384048"/>
          </a:xfrm>
          <a:prstGeom prst="ellipse">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b="1">
                <a:solidFill>
                  <a:srgbClr val="0A0E1A"/>
                </a:solidFill>
                <a:latin typeface="Segoe UI"/>
              </a:rPr>
              <a:t>1</a:t>
            </a:r>
          </a:p>
        </p:txBody>
      </p:sp>
      <p:sp>
        <p:nvSpPr>
          <p:cNvPr id="13" name="TextBox 12"/>
          <p:cNvSpPr txBox="1"/>
          <p:nvPr/>
        </p:nvSpPr>
        <p:spPr>
          <a:xfrm>
            <a:off x="1197864" y="2093975"/>
            <a:ext cx="1831086" cy="365760"/>
          </a:xfrm>
          <a:prstGeom prst="rect">
            <a:avLst/>
          </a:prstGeom>
          <a:noFill/>
        </p:spPr>
        <p:txBody>
          <a:bodyPr wrap="square" anchor="t" lIns="0" rIns="0" tIns="0" bIns="0">
            <a:noAutofit/>
          </a:bodyPr>
          <a:lstStyle/>
          <a:p>
            <a:pPr algn="l">
              <a:lnSpc>
                <a:spcPct val="100000"/>
              </a:lnSpc>
              <a:spcAft>
                <a:spcPts val="0"/>
              </a:spcAft>
            </a:pPr>
            <a:r>
              <a:rPr sz="1300" b="1" i="0">
                <a:solidFill>
                  <a:srgbClr val="F5F7FA"/>
                </a:solidFill>
                <a:latin typeface="Segoe UI"/>
              </a:rPr>
              <a:t>Repository Upload</a:t>
            </a:r>
          </a:p>
        </p:txBody>
      </p:sp>
      <p:sp>
        <p:nvSpPr>
          <p:cNvPr id="14" name="TextBox 13"/>
          <p:cNvSpPr txBox="1"/>
          <p:nvPr/>
        </p:nvSpPr>
        <p:spPr>
          <a:xfrm>
            <a:off x="704088" y="2560319"/>
            <a:ext cx="2315718" cy="731520"/>
          </a:xfrm>
          <a:prstGeom prst="rect">
            <a:avLst/>
          </a:prstGeom>
          <a:noFill/>
        </p:spPr>
        <p:txBody>
          <a:bodyPr wrap="square" anchor="t" lIns="0" rIns="0" tIns="0" bIns="0">
            <a:noAutofit/>
          </a:bodyPr>
          <a:lstStyle/>
          <a:p>
            <a:pPr algn="l">
              <a:lnSpc>
                <a:spcPct val="108000"/>
              </a:lnSpc>
              <a:spcAft>
                <a:spcPts val="0"/>
              </a:spcAft>
            </a:pPr>
            <a:r>
              <a:rPr sz="950" b="0" i="0">
                <a:solidFill>
                  <a:srgbClr val="9AA7BD"/>
                </a:solidFill>
                <a:latin typeface="Segoe UI"/>
              </a:rPr>
              <a:t>Submit a sandbox payload (low/medium/high risk) or a real repo URL</a:t>
            </a:r>
          </a:p>
        </p:txBody>
      </p:sp>
      <p:cxnSp>
        <p:nvCxnSpPr>
          <p:cNvPr id="15" name="Connector 14"/>
          <p:cNvCxnSpPr/>
          <p:nvPr/>
        </p:nvCxnSpPr>
        <p:spPr>
          <a:xfrm>
            <a:off x="3220974" y="2651760"/>
            <a:ext cx="91440" cy="0"/>
          </a:xfrm>
          <a:prstGeom prst="line">
            <a:avLst/>
          </a:prstGeom>
          <a:ln w="19050">
            <a:solidFill>
              <a:srgbClr val="EDA1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330702" y="1874519"/>
            <a:ext cx="2699766" cy="1554480"/>
          </a:xfrm>
          <a:prstGeom prst="roundRect">
            <a:avLst>
              <a:gd name="adj" fmla="val 5500"/>
            </a:avLst>
          </a:prstGeom>
          <a:solidFill>
            <a:srgbClr val="13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513582" y="2057399"/>
            <a:ext cx="384048" cy="384048"/>
          </a:xfrm>
          <a:prstGeom prst="ellipse">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b="1">
                <a:solidFill>
                  <a:srgbClr val="0A0E1A"/>
                </a:solidFill>
                <a:latin typeface="Segoe UI"/>
              </a:rPr>
              <a:t>2</a:t>
            </a:r>
          </a:p>
        </p:txBody>
      </p:sp>
      <p:sp>
        <p:nvSpPr>
          <p:cNvPr id="18" name="TextBox 17"/>
          <p:cNvSpPr txBox="1"/>
          <p:nvPr/>
        </p:nvSpPr>
        <p:spPr>
          <a:xfrm>
            <a:off x="4025646" y="2093975"/>
            <a:ext cx="1831086" cy="365760"/>
          </a:xfrm>
          <a:prstGeom prst="rect">
            <a:avLst/>
          </a:prstGeom>
          <a:noFill/>
        </p:spPr>
        <p:txBody>
          <a:bodyPr wrap="square" anchor="t" lIns="0" rIns="0" tIns="0" bIns="0">
            <a:noAutofit/>
          </a:bodyPr>
          <a:lstStyle/>
          <a:p>
            <a:pPr algn="l">
              <a:lnSpc>
                <a:spcPct val="100000"/>
              </a:lnSpc>
              <a:spcAft>
                <a:spcPts val="0"/>
              </a:spcAft>
            </a:pPr>
            <a:r>
              <a:rPr sz="1300" b="1" i="0">
                <a:solidFill>
                  <a:srgbClr val="F5F7FA"/>
                </a:solidFill>
                <a:latin typeface="Segoe UI"/>
              </a:rPr>
              <a:t>Scan</a:t>
            </a:r>
          </a:p>
        </p:txBody>
      </p:sp>
      <p:sp>
        <p:nvSpPr>
          <p:cNvPr id="19" name="TextBox 18"/>
          <p:cNvSpPr txBox="1"/>
          <p:nvPr/>
        </p:nvSpPr>
        <p:spPr>
          <a:xfrm>
            <a:off x="3531870" y="2560319"/>
            <a:ext cx="2315718" cy="731520"/>
          </a:xfrm>
          <a:prstGeom prst="rect">
            <a:avLst/>
          </a:prstGeom>
          <a:noFill/>
        </p:spPr>
        <p:txBody>
          <a:bodyPr wrap="square" anchor="t" lIns="0" rIns="0" tIns="0" bIns="0">
            <a:noAutofit/>
          </a:bodyPr>
          <a:lstStyle/>
          <a:p>
            <a:pPr algn="l">
              <a:lnSpc>
                <a:spcPct val="108000"/>
              </a:lnSpc>
              <a:spcAft>
                <a:spcPts val="0"/>
              </a:spcAft>
            </a:pPr>
            <a:r>
              <a:rPr sz="950" b="0" i="0">
                <a:solidFill>
                  <a:srgbClr val="9AA7BD"/>
                </a:solidFill>
                <a:latin typeface="Segoe UI"/>
              </a:rPr>
              <a:t>Watch all 9 scanners run in parallel with live WebSocket progress</a:t>
            </a:r>
          </a:p>
        </p:txBody>
      </p:sp>
      <p:cxnSp>
        <p:nvCxnSpPr>
          <p:cNvPr id="20" name="Connector 19"/>
          <p:cNvCxnSpPr/>
          <p:nvPr/>
        </p:nvCxnSpPr>
        <p:spPr>
          <a:xfrm>
            <a:off x="6048756" y="2651760"/>
            <a:ext cx="91440" cy="0"/>
          </a:xfrm>
          <a:prstGeom prst="line">
            <a:avLst/>
          </a:prstGeom>
          <a:ln w="19050">
            <a:solidFill>
              <a:srgbClr val="EDA1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158484" y="1874519"/>
            <a:ext cx="2699766" cy="1554480"/>
          </a:xfrm>
          <a:prstGeom prst="roundRect">
            <a:avLst>
              <a:gd name="adj" fmla="val 5500"/>
            </a:avLst>
          </a:prstGeom>
          <a:solidFill>
            <a:srgbClr val="13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341364" y="2057399"/>
            <a:ext cx="384048" cy="384048"/>
          </a:xfrm>
          <a:prstGeom prst="ellipse">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b="1">
                <a:solidFill>
                  <a:srgbClr val="0A0E1A"/>
                </a:solidFill>
                <a:latin typeface="Segoe UI"/>
              </a:rPr>
              <a:t>3</a:t>
            </a:r>
          </a:p>
        </p:txBody>
      </p:sp>
      <p:sp>
        <p:nvSpPr>
          <p:cNvPr id="23" name="TextBox 22"/>
          <p:cNvSpPr txBox="1"/>
          <p:nvPr/>
        </p:nvSpPr>
        <p:spPr>
          <a:xfrm>
            <a:off x="6853428" y="2093975"/>
            <a:ext cx="1831086" cy="365760"/>
          </a:xfrm>
          <a:prstGeom prst="rect">
            <a:avLst/>
          </a:prstGeom>
          <a:noFill/>
        </p:spPr>
        <p:txBody>
          <a:bodyPr wrap="square" anchor="t" lIns="0" rIns="0" tIns="0" bIns="0">
            <a:noAutofit/>
          </a:bodyPr>
          <a:lstStyle/>
          <a:p>
            <a:pPr algn="l">
              <a:lnSpc>
                <a:spcPct val="100000"/>
              </a:lnSpc>
              <a:spcAft>
                <a:spcPts val="0"/>
              </a:spcAft>
            </a:pPr>
            <a:r>
              <a:rPr sz="1300" b="1" i="0">
                <a:solidFill>
                  <a:srgbClr val="F5F7FA"/>
                </a:solidFill>
                <a:latin typeface="Segoe UI"/>
              </a:rPr>
              <a:t>Risk Score</a:t>
            </a:r>
          </a:p>
        </p:txBody>
      </p:sp>
      <p:sp>
        <p:nvSpPr>
          <p:cNvPr id="24" name="TextBox 23"/>
          <p:cNvSpPr txBox="1"/>
          <p:nvPr/>
        </p:nvSpPr>
        <p:spPr>
          <a:xfrm>
            <a:off x="6359652" y="2560319"/>
            <a:ext cx="2315718" cy="731520"/>
          </a:xfrm>
          <a:prstGeom prst="rect">
            <a:avLst/>
          </a:prstGeom>
          <a:noFill/>
        </p:spPr>
        <p:txBody>
          <a:bodyPr wrap="square" anchor="t" lIns="0" rIns="0" tIns="0" bIns="0">
            <a:noAutofit/>
          </a:bodyPr>
          <a:lstStyle/>
          <a:p>
            <a:pPr algn="l">
              <a:lnSpc>
                <a:spcPct val="108000"/>
              </a:lnSpc>
              <a:spcAft>
                <a:spcPts val="0"/>
              </a:spcAft>
            </a:pPr>
            <a:r>
              <a:rPr sz="950" b="0" i="0">
                <a:solidFill>
                  <a:srgbClr val="9AA7BD"/>
                </a:solidFill>
                <a:latin typeface="Segoe UI"/>
              </a:rPr>
              <a:t>Findings roll up into a Banking Risk Score with risk band</a:t>
            </a:r>
          </a:p>
        </p:txBody>
      </p:sp>
      <p:cxnSp>
        <p:nvCxnSpPr>
          <p:cNvPr id="25" name="Connector 24"/>
          <p:cNvCxnSpPr/>
          <p:nvPr/>
        </p:nvCxnSpPr>
        <p:spPr>
          <a:xfrm>
            <a:off x="8876538" y="2651760"/>
            <a:ext cx="91440" cy="0"/>
          </a:xfrm>
          <a:prstGeom prst="line">
            <a:avLst/>
          </a:prstGeom>
          <a:ln w="19050">
            <a:solidFill>
              <a:srgbClr val="EDA1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8986266" y="1874519"/>
            <a:ext cx="2699766" cy="1554480"/>
          </a:xfrm>
          <a:prstGeom prst="roundRect">
            <a:avLst>
              <a:gd name="adj" fmla="val 5500"/>
            </a:avLst>
          </a:prstGeom>
          <a:solidFill>
            <a:srgbClr val="13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69146" y="2057399"/>
            <a:ext cx="384048" cy="384048"/>
          </a:xfrm>
          <a:prstGeom prst="ellipse">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b="1">
                <a:solidFill>
                  <a:srgbClr val="0A0E1A"/>
                </a:solidFill>
                <a:latin typeface="Segoe UI"/>
              </a:rPr>
              <a:t>4</a:t>
            </a:r>
          </a:p>
        </p:txBody>
      </p:sp>
      <p:sp>
        <p:nvSpPr>
          <p:cNvPr id="28" name="TextBox 27"/>
          <p:cNvSpPr txBox="1"/>
          <p:nvPr/>
        </p:nvSpPr>
        <p:spPr>
          <a:xfrm>
            <a:off x="9681210" y="2093975"/>
            <a:ext cx="1831086" cy="365760"/>
          </a:xfrm>
          <a:prstGeom prst="rect">
            <a:avLst/>
          </a:prstGeom>
          <a:noFill/>
        </p:spPr>
        <p:txBody>
          <a:bodyPr wrap="square" anchor="t" lIns="0" rIns="0" tIns="0" bIns="0">
            <a:noAutofit/>
          </a:bodyPr>
          <a:lstStyle/>
          <a:p>
            <a:pPr algn="l">
              <a:lnSpc>
                <a:spcPct val="100000"/>
              </a:lnSpc>
              <a:spcAft>
                <a:spcPts val="0"/>
              </a:spcAft>
            </a:pPr>
            <a:r>
              <a:rPr sz="1300" b="1" i="0">
                <a:solidFill>
                  <a:srgbClr val="F5F7FA"/>
                </a:solidFill>
                <a:latin typeface="Segoe UI"/>
              </a:rPr>
              <a:t>AI</a:t>
            </a:r>
          </a:p>
        </p:txBody>
      </p:sp>
      <p:sp>
        <p:nvSpPr>
          <p:cNvPr id="29" name="TextBox 28"/>
          <p:cNvSpPr txBox="1"/>
          <p:nvPr/>
        </p:nvSpPr>
        <p:spPr>
          <a:xfrm>
            <a:off x="9187434" y="2560319"/>
            <a:ext cx="2315718" cy="731520"/>
          </a:xfrm>
          <a:prstGeom prst="rect">
            <a:avLst/>
          </a:prstGeom>
          <a:noFill/>
        </p:spPr>
        <p:txBody>
          <a:bodyPr wrap="square" anchor="t" lIns="0" rIns="0" tIns="0" bIns="0">
            <a:noAutofit/>
          </a:bodyPr>
          <a:lstStyle/>
          <a:p>
            <a:pPr algn="l">
              <a:lnSpc>
                <a:spcPct val="108000"/>
              </a:lnSpc>
              <a:spcAft>
                <a:spcPts val="0"/>
              </a:spcAft>
            </a:pPr>
            <a:r>
              <a:rPr sz="950" b="0" i="0">
                <a:solidFill>
                  <a:srgbClr val="9AA7BD"/>
                </a:solidFill>
                <a:latin typeface="Segoe UI"/>
              </a:rPr>
              <a:t>Open a finding -- automated explanation + AI Assistant grounded Q&amp;A</a:t>
            </a:r>
          </a:p>
        </p:txBody>
      </p:sp>
      <p:sp>
        <p:nvSpPr>
          <p:cNvPr id="30" name="Rounded Rectangle 29"/>
          <p:cNvSpPr/>
          <p:nvPr/>
        </p:nvSpPr>
        <p:spPr>
          <a:xfrm>
            <a:off x="502920" y="3566160"/>
            <a:ext cx="2699766" cy="1554480"/>
          </a:xfrm>
          <a:prstGeom prst="roundRect">
            <a:avLst>
              <a:gd name="adj" fmla="val 5500"/>
            </a:avLst>
          </a:prstGeom>
          <a:solidFill>
            <a:srgbClr val="13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85800" y="3749040"/>
            <a:ext cx="384048" cy="384048"/>
          </a:xfrm>
          <a:prstGeom prst="ellipse">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b="1">
                <a:solidFill>
                  <a:srgbClr val="0A0E1A"/>
                </a:solidFill>
                <a:latin typeface="Segoe UI"/>
              </a:rPr>
              <a:t>5</a:t>
            </a:r>
          </a:p>
        </p:txBody>
      </p:sp>
      <p:sp>
        <p:nvSpPr>
          <p:cNvPr id="32" name="TextBox 31"/>
          <p:cNvSpPr txBox="1"/>
          <p:nvPr/>
        </p:nvSpPr>
        <p:spPr>
          <a:xfrm>
            <a:off x="1197864" y="3785616"/>
            <a:ext cx="1831086" cy="365760"/>
          </a:xfrm>
          <a:prstGeom prst="rect">
            <a:avLst/>
          </a:prstGeom>
          <a:noFill/>
        </p:spPr>
        <p:txBody>
          <a:bodyPr wrap="square" anchor="t" lIns="0" rIns="0" tIns="0" bIns="0">
            <a:noAutofit/>
          </a:bodyPr>
          <a:lstStyle/>
          <a:p>
            <a:pPr algn="l">
              <a:lnSpc>
                <a:spcPct val="100000"/>
              </a:lnSpc>
              <a:spcAft>
                <a:spcPts val="0"/>
              </a:spcAft>
            </a:pPr>
            <a:r>
              <a:rPr sz="1300" b="1" i="0">
                <a:solidFill>
                  <a:srgbClr val="F5F7FA"/>
                </a:solidFill>
                <a:latin typeface="Segoe UI"/>
              </a:rPr>
              <a:t>Compliance</a:t>
            </a:r>
          </a:p>
        </p:txBody>
      </p:sp>
      <p:sp>
        <p:nvSpPr>
          <p:cNvPr id="33" name="TextBox 32"/>
          <p:cNvSpPr txBox="1"/>
          <p:nvPr/>
        </p:nvSpPr>
        <p:spPr>
          <a:xfrm>
            <a:off x="704088" y="4251960"/>
            <a:ext cx="2315718" cy="731520"/>
          </a:xfrm>
          <a:prstGeom prst="rect">
            <a:avLst/>
          </a:prstGeom>
          <a:noFill/>
        </p:spPr>
        <p:txBody>
          <a:bodyPr wrap="square" anchor="t" lIns="0" rIns="0" tIns="0" bIns="0">
            <a:noAutofit/>
          </a:bodyPr>
          <a:lstStyle/>
          <a:p>
            <a:pPr algn="l">
              <a:lnSpc>
                <a:spcPct val="108000"/>
              </a:lnSpc>
              <a:spcAft>
                <a:spcPts val="0"/>
              </a:spcAft>
            </a:pPr>
            <a:r>
              <a:rPr sz="950" b="0" i="0">
                <a:solidFill>
                  <a:srgbClr val="9AA7BD"/>
                </a:solidFill>
                <a:latin typeface="Segoe UI"/>
              </a:rPr>
              <a:t>Live RBI / PCI DSS / SWIFT CSP PASS/FAIL, with evidence</a:t>
            </a:r>
          </a:p>
        </p:txBody>
      </p:sp>
      <p:cxnSp>
        <p:nvCxnSpPr>
          <p:cNvPr id="34" name="Connector 33"/>
          <p:cNvCxnSpPr/>
          <p:nvPr/>
        </p:nvCxnSpPr>
        <p:spPr>
          <a:xfrm>
            <a:off x="3220974" y="4343400"/>
            <a:ext cx="91440" cy="0"/>
          </a:xfrm>
          <a:prstGeom prst="line">
            <a:avLst/>
          </a:prstGeom>
          <a:ln w="19050">
            <a:solidFill>
              <a:srgbClr val="EDA1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3330702" y="3566160"/>
            <a:ext cx="2699766" cy="1554480"/>
          </a:xfrm>
          <a:prstGeom prst="roundRect">
            <a:avLst>
              <a:gd name="adj" fmla="val 5500"/>
            </a:avLst>
          </a:prstGeom>
          <a:solidFill>
            <a:srgbClr val="13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3513582" y="3749040"/>
            <a:ext cx="384048" cy="384048"/>
          </a:xfrm>
          <a:prstGeom prst="ellipse">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b="1">
                <a:solidFill>
                  <a:srgbClr val="0A0E1A"/>
                </a:solidFill>
                <a:latin typeface="Segoe UI"/>
              </a:rPr>
              <a:t>6</a:t>
            </a:r>
          </a:p>
        </p:txBody>
      </p:sp>
      <p:sp>
        <p:nvSpPr>
          <p:cNvPr id="37" name="TextBox 36"/>
          <p:cNvSpPr txBox="1"/>
          <p:nvPr/>
        </p:nvSpPr>
        <p:spPr>
          <a:xfrm>
            <a:off x="4025646" y="3785616"/>
            <a:ext cx="1831086" cy="365760"/>
          </a:xfrm>
          <a:prstGeom prst="rect">
            <a:avLst/>
          </a:prstGeom>
          <a:noFill/>
        </p:spPr>
        <p:txBody>
          <a:bodyPr wrap="square" anchor="t" lIns="0" rIns="0" tIns="0" bIns="0">
            <a:noAutofit/>
          </a:bodyPr>
          <a:lstStyle/>
          <a:p>
            <a:pPr algn="l">
              <a:lnSpc>
                <a:spcPct val="100000"/>
              </a:lnSpc>
              <a:spcAft>
                <a:spcPts val="0"/>
              </a:spcAft>
            </a:pPr>
            <a:r>
              <a:rPr sz="1300" b="1" i="0">
                <a:solidFill>
                  <a:srgbClr val="F5F7FA"/>
                </a:solidFill>
                <a:latin typeface="Segoe UI"/>
              </a:rPr>
              <a:t>Executive PDF</a:t>
            </a:r>
          </a:p>
        </p:txBody>
      </p:sp>
      <p:sp>
        <p:nvSpPr>
          <p:cNvPr id="38" name="TextBox 37"/>
          <p:cNvSpPr txBox="1"/>
          <p:nvPr/>
        </p:nvSpPr>
        <p:spPr>
          <a:xfrm>
            <a:off x="3531870" y="4251960"/>
            <a:ext cx="2315718" cy="731520"/>
          </a:xfrm>
          <a:prstGeom prst="rect">
            <a:avLst/>
          </a:prstGeom>
          <a:noFill/>
        </p:spPr>
        <p:txBody>
          <a:bodyPr wrap="square" anchor="t" lIns="0" rIns="0" tIns="0" bIns="0">
            <a:noAutofit/>
          </a:bodyPr>
          <a:lstStyle/>
          <a:p>
            <a:pPr algn="l">
              <a:lnSpc>
                <a:spcPct val="108000"/>
              </a:lnSpc>
              <a:spcAft>
                <a:spcPts val="0"/>
              </a:spcAft>
            </a:pPr>
            <a:r>
              <a:rPr sz="950" b="0" i="0">
                <a:solidFill>
                  <a:srgbClr val="9AA7BD"/>
                </a:solidFill>
                <a:latin typeface="Segoe UI"/>
              </a:rPr>
              <a:t>Generate the board-facing report on demand</a:t>
            </a:r>
          </a:p>
        </p:txBody>
      </p:sp>
      <p:cxnSp>
        <p:nvCxnSpPr>
          <p:cNvPr id="39" name="Connector 38"/>
          <p:cNvCxnSpPr/>
          <p:nvPr/>
        </p:nvCxnSpPr>
        <p:spPr>
          <a:xfrm>
            <a:off x="6048756" y="4343400"/>
            <a:ext cx="91440" cy="0"/>
          </a:xfrm>
          <a:prstGeom prst="line">
            <a:avLst/>
          </a:prstGeom>
          <a:ln w="19050">
            <a:solidFill>
              <a:srgbClr val="EDA1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6158484" y="3566160"/>
            <a:ext cx="2699766" cy="1554480"/>
          </a:xfrm>
          <a:prstGeom prst="roundRect">
            <a:avLst>
              <a:gd name="adj" fmla="val 5500"/>
            </a:avLst>
          </a:prstGeom>
          <a:solidFill>
            <a:srgbClr val="13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6341364" y="3749040"/>
            <a:ext cx="384048" cy="384048"/>
          </a:xfrm>
          <a:prstGeom prst="ellipse">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b="1">
                <a:solidFill>
                  <a:srgbClr val="0A0E1A"/>
                </a:solidFill>
                <a:latin typeface="Segoe UI"/>
              </a:rPr>
              <a:t>7</a:t>
            </a:r>
          </a:p>
        </p:txBody>
      </p:sp>
      <p:sp>
        <p:nvSpPr>
          <p:cNvPr id="42" name="TextBox 41"/>
          <p:cNvSpPr txBox="1"/>
          <p:nvPr/>
        </p:nvSpPr>
        <p:spPr>
          <a:xfrm>
            <a:off x="6853428" y="3785616"/>
            <a:ext cx="1831086" cy="365760"/>
          </a:xfrm>
          <a:prstGeom prst="rect">
            <a:avLst/>
          </a:prstGeom>
          <a:noFill/>
        </p:spPr>
        <p:txBody>
          <a:bodyPr wrap="square" anchor="t" lIns="0" rIns="0" tIns="0" bIns="0">
            <a:noAutofit/>
          </a:bodyPr>
          <a:lstStyle/>
          <a:p>
            <a:pPr algn="l">
              <a:lnSpc>
                <a:spcPct val="100000"/>
              </a:lnSpc>
              <a:spcAft>
                <a:spcPts val="0"/>
              </a:spcAft>
            </a:pPr>
            <a:r>
              <a:rPr sz="1300" b="1" i="0">
                <a:solidFill>
                  <a:srgbClr val="F5F7FA"/>
                </a:solidFill>
                <a:latin typeface="Segoe UI"/>
              </a:rPr>
              <a:t>Dashboard</a:t>
            </a:r>
          </a:p>
        </p:txBody>
      </p:sp>
      <p:sp>
        <p:nvSpPr>
          <p:cNvPr id="43" name="TextBox 42"/>
          <p:cNvSpPr txBox="1"/>
          <p:nvPr/>
        </p:nvSpPr>
        <p:spPr>
          <a:xfrm>
            <a:off x="6359652" y="4251960"/>
            <a:ext cx="2315718" cy="731520"/>
          </a:xfrm>
          <a:prstGeom prst="rect">
            <a:avLst/>
          </a:prstGeom>
          <a:noFill/>
        </p:spPr>
        <p:txBody>
          <a:bodyPr wrap="square" anchor="t" lIns="0" rIns="0" tIns="0" bIns="0">
            <a:noAutofit/>
          </a:bodyPr>
          <a:lstStyle/>
          <a:p>
            <a:pPr algn="l">
              <a:lnSpc>
                <a:spcPct val="108000"/>
              </a:lnSpc>
              <a:spcAft>
                <a:spcPts val="0"/>
              </a:spcAft>
            </a:pPr>
            <a:r>
              <a:rPr sz="950" b="0" i="0">
                <a:solidFill>
                  <a:srgbClr val="9AA7BD"/>
                </a:solidFill>
                <a:latin typeface="Segoe UI"/>
              </a:rPr>
              <a:t>Risk trend, severity distribution, compliance posture</a:t>
            </a:r>
          </a:p>
        </p:txBody>
      </p:sp>
      <p:cxnSp>
        <p:nvCxnSpPr>
          <p:cNvPr id="44" name="Connector 43"/>
          <p:cNvCxnSpPr/>
          <p:nvPr/>
        </p:nvCxnSpPr>
        <p:spPr>
          <a:xfrm>
            <a:off x="8876538" y="4343400"/>
            <a:ext cx="91440" cy="0"/>
          </a:xfrm>
          <a:prstGeom prst="line">
            <a:avLst/>
          </a:prstGeom>
          <a:ln w="19050">
            <a:solidFill>
              <a:srgbClr val="EDA1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8986266" y="3566160"/>
            <a:ext cx="2699766" cy="1554480"/>
          </a:xfrm>
          <a:prstGeom prst="roundRect">
            <a:avLst>
              <a:gd name="adj" fmla="val 5500"/>
            </a:avLst>
          </a:prstGeom>
          <a:solidFill>
            <a:srgbClr val="13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9169146" y="3749040"/>
            <a:ext cx="384048" cy="384048"/>
          </a:xfrm>
          <a:prstGeom prst="ellipse">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b="1">
                <a:solidFill>
                  <a:srgbClr val="0A0E1A"/>
                </a:solidFill>
                <a:latin typeface="Segoe UI"/>
              </a:rPr>
              <a:t>8</a:t>
            </a:r>
          </a:p>
        </p:txBody>
      </p:sp>
      <p:sp>
        <p:nvSpPr>
          <p:cNvPr id="47" name="TextBox 46"/>
          <p:cNvSpPr txBox="1"/>
          <p:nvPr/>
        </p:nvSpPr>
        <p:spPr>
          <a:xfrm>
            <a:off x="9681210" y="3785616"/>
            <a:ext cx="1831086" cy="365760"/>
          </a:xfrm>
          <a:prstGeom prst="rect">
            <a:avLst/>
          </a:prstGeom>
          <a:noFill/>
        </p:spPr>
        <p:txBody>
          <a:bodyPr wrap="square" anchor="t" lIns="0" rIns="0" tIns="0" bIns="0">
            <a:noAutofit/>
          </a:bodyPr>
          <a:lstStyle/>
          <a:p>
            <a:pPr algn="l">
              <a:lnSpc>
                <a:spcPct val="100000"/>
              </a:lnSpc>
              <a:spcAft>
                <a:spcPts val="0"/>
              </a:spcAft>
            </a:pPr>
            <a:r>
              <a:rPr sz="1300" b="1" i="0">
                <a:solidFill>
                  <a:srgbClr val="F5F7FA"/>
                </a:solidFill>
                <a:latin typeface="Segoe UI"/>
              </a:rPr>
              <a:t>Mobile App</a:t>
            </a:r>
          </a:p>
        </p:txBody>
      </p:sp>
      <p:sp>
        <p:nvSpPr>
          <p:cNvPr id="48" name="TextBox 47"/>
          <p:cNvSpPr txBox="1"/>
          <p:nvPr/>
        </p:nvSpPr>
        <p:spPr>
          <a:xfrm>
            <a:off x="9187434" y="4251960"/>
            <a:ext cx="2315718" cy="731520"/>
          </a:xfrm>
          <a:prstGeom prst="rect">
            <a:avLst/>
          </a:prstGeom>
          <a:noFill/>
        </p:spPr>
        <p:txBody>
          <a:bodyPr wrap="square" anchor="t" lIns="0" rIns="0" tIns="0" bIns="0">
            <a:noAutofit/>
          </a:bodyPr>
          <a:lstStyle/>
          <a:p>
            <a:pPr algn="l">
              <a:lnSpc>
                <a:spcPct val="108000"/>
              </a:lnSpc>
              <a:spcAft>
                <a:spcPts val="0"/>
              </a:spcAft>
            </a:pPr>
            <a:r>
              <a:rPr sz="950" b="0" i="0">
                <a:solidFill>
                  <a:srgbClr val="9AA7BD"/>
                </a:solidFill>
                <a:latin typeface="Segoe UI"/>
              </a:rPr>
              <a:t>The same scan's status, checked from the Flutter app</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362895" y="-3291840"/>
            <a:ext cx="5852160" cy="5852160"/>
          </a:xfrm>
          <a:prstGeom prst="ellipse">
            <a:avLst/>
          </a:prstGeom>
          <a:noFill/>
          <a:ln w="13970">
            <a:solidFill>
              <a:srgbClr val="EDA100">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502920" y="6473952"/>
            <a:ext cx="11185855" cy="0"/>
          </a:xfrm>
          <a:prstGeom prst="line">
            <a:avLst/>
          </a:prstGeom>
          <a:ln w="9525">
            <a:solidFill>
              <a:srgbClr val="2A3654"/>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28816"/>
            <a:ext cx="4572000" cy="274320"/>
          </a:xfrm>
          <a:prstGeom prst="rect">
            <a:avLst/>
          </a:prstGeom>
          <a:noFill/>
        </p:spPr>
        <p:txBody>
          <a:bodyPr wrap="square" anchor="t" lIns="0" rIns="0" tIns="0" bIns="0">
            <a:noAutofit/>
          </a:bodyPr>
          <a:lstStyle/>
          <a:p>
            <a:pPr algn="l">
              <a:lnSpc>
                <a:spcPct val="100000"/>
              </a:lnSpc>
              <a:spcAft>
                <a:spcPts val="0"/>
              </a:spcAft>
            </a:pPr>
            <a:r>
              <a:rPr sz="900" b="0" i="0">
                <a:solidFill>
                  <a:srgbClr val="64708A"/>
                </a:solidFill>
                <a:latin typeface="Segoe UI"/>
              </a:rPr>
              <a:t>KAVACH  ·  PSB Hackathon 2026</a:t>
            </a:r>
          </a:p>
        </p:txBody>
      </p:sp>
      <p:sp>
        <p:nvSpPr>
          <p:cNvPr id="6" name="TextBox 5"/>
          <p:cNvSpPr txBox="1"/>
          <p:nvPr/>
        </p:nvSpPr>
        <p:spPr>
          <a:xfrm>
            <a:off x="4480560" y="6528816"/>
            <a:ext cx="4572000" cy="274320"/>
          </a:xfrm>
          <a:prstGeom prst="rect">
            <a:avLst/>
          </a:prstGeom>
          <a:noFill/>
        </p:spPr>
        <p:txBody>
          <a:bodyPr wrap="square" anchor="t" lIns="0" rIns="0" tIns="0" bIns="0">
            <a:noAutofit/>
          </a:bodyPr>
          <a:lstStyle/>
          <a:p>
            <a:pPr algn="ctr">
              <a:lnSpc>
                <a:spcPct val="100000"/>
              </a:lnSpc>
              <a:spcAft>
                <a:spcPts val="0"/>
              </a:spcAft>
            </a:pPr>
            <a:r>
              <a:rPr sz="900" b="0" i="0">
                <a:solidFill>
                  <a:srgbClr val="64708A"/>
                </a:solidFill>
                <a:latin typeface="Segoe UI"/>
              </a:rPr>
              <a:t>RESULTS</a:t>
            </a:r>
          </a:p>
        </p:txBody>
      </p:sp>
      <p:sp>
        <p:nvSpPr>
          <p:cNvPr id="7" name="TextBox 6"/>
          <p:cNvSpPr txBox="1"/>
          <p:nvPr/>
        </p:nvSpPr>
        <p:spPr>
          <a:xfrm>
            <a:off x="10820095" y="6528816"/>
            <a:ext cx="914400" cy="274320"/>
          </a:xfrm>
          <a:prstGeom prst="rect">
            <a:avLst/>
          </a:prstGeom>
          <a:noFill/>
        </p:spPr>
        <p:txBody>
          <a:bodyPr wrap="square" anchor="t" lIns="0" rIns="0" tIns="0" bIns="0">
            <a:noAutofit/>
          </a:bodyPr>
          <a:lstStyle/>
          <a:p>
            <a:pPr algn="r">
              <a:lnSpc>
                <a:spcPct val="100000"/>
              </a:lnSpc>
              <a:spcAft>
                <a:spcPts val="0"/>
              </a:spcAft>
            </a:pPr>
            <a:r>
              <a:rPr sz="900" b="0" i="0">
                <a:solidFill>
                  <a:srgbClr val="64708A"/>
                </a:solidFill>
                <a:latin typeface="Segoe UI"/>
              </a:rPr>
              <a:t>20 / 22</a:t>
            </a:r>
          </a:p>
        </p:txBody>
      </p:sp>
      <p:sp>
        <p:nvSpPr>
          <p:cNvPr id="8" name="TextBox 7"/>
          <p:cNvSpPr txBox="1"/>
          <p:nvPr/>
        </p:nvSpPr>
        <p:spPr>
          <a:xfrm>
            <a:off x="502920" y="457200"/>
            <a:ext cx="9601200" cy="292608"/>
          </a:xfrm>
          <a:prstGeom prst="rect">
            <a:avLst/>
          </a:prstGeom>
          <a:noFill/>
        </p:spPr>
        <p:txBody>
          <a:bodyPr wrap="square" anchor="t" lIns="0" rIns="0" tIns="0" bIns="0">
            <a:noAutofit/>
          </a:bodyPr>
          <a:lstStyle/>
          <a:p>
            <a:pPr algn="l">
              <a:lnSpc>
                <a:spcPct val="100000"/>
              </a:lnSpc>
              <a:spcAft>
                <a:spcPts val="0"/>
              </a:spcAft>
            </a:pPr>
            <a:r>
              <a:rPr sz="1250" b="1" i="0" spc="160">
                <a:solidFill>
                  <a:srgbClr val="EDA100"/>
                </a:solidFill>
                <a:latin typeface="Segoe UI"/>
              </a:rPr>
              <a:t>RESULTS</a:t>
            </a:r>
          </a:p>
        </p:txBody>
      </p:sp>
      <p:sp>
        <p:nvSpPr>
          <p:cNvPr id="9" name="TextBox 8"/>
          <p:cNvSpPr txBox="1"/>
          <p:nvPr/>
        </p:nvSpPr>
        <p:spPr>
          <a:xfrm>
            <a:off x="502920" y="768096"/>
            <a:ext cx="10789920" cy="566928"/>
          </a:xfrm>
          <a:prstGeom prst="rect">
            <a:avLst/>
          </a:prstGeom>
          <a:noFill/>
        </p:spPr>
        <p:txBody>
          <a:bodyPr wrap="square" anchor="t" lIns="0" rIns="0" tIns="0" bIns="0">
            <a:noAutofit/>
          </a:bodyPr>
          <a:lstStyle/>
          <a:p>
            <a:pPr algn="l">
              <a:lnSpc>
                <a:spcPct val="102000"/>
              </a:lnSpc>
              <a:spcAft>
                <a:spcPts val="0"/>
              </a:spcAft>
            </a:pPr>
            <a:r>
              <a:rPr sz="3000" b="1" i="0">
                <a:solidFill>
                  <a:srgbClr val="F5F7FA"/>
                </a:solidFill>
                <a:latin typeface="Segoe UI"/>
              </a:rPr>
              <a:t>What The Platform Demonstrably Does</a:t>
            </a:r>
          </a:p>
        </p:txBody>
      </p:sp>
      <p:cxnSp>
        <p:nvCxnSpPr>
          <p:cNvPr id="10" name="Connector 9"/>
          <p:cNvCxnSpPr/>
          <p:nvPr/>
        </p:nvCxnSpPr>
        <p:spPr>
          <a:xfrm>
            <a:off x="502920" y="1399032"/>
            <a:ext cx="960120" cy="0"/>
          </a:xfrm>
          <a:prstGeom prst="line">
            <a:avLst/>
          </a:prstGeom>
          <a:ln w="28575">
            <a:solidFill>
              <a:srgbClr val="EDA100"/>
            </a:solidFill>
          </a:ln>
          <a:effectLst/>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02920" y="1920240"/>
            <a:ext cx="2672334" cy="2514600"/>
          </a:xfrm>
          <a:prstGeom prst="roundRect">
            <a:avLst>
              <a:gd name="adj" fmla="val 5500"/>
            </a:avLst>
          </a:prstGeom>
          <a:solidFill>
            <a:srgbClr val="13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a:off x="667512" y="2066544"/>
            <a:ext cx="310896" cy="0"/>
          </a:xfrm>
          <a:prstGeom prst="line">
            <a:avLst/>
          </a:prstGeom>
          <a:ln w="31750">
            <a:solidFill>
              <a:srgbClr val="2A78D6"/>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67512" y="2157984"/>
            <a:ext cx="2343150" cy="512064"/>
          </a:xfrm>
          <a:prstGeom prst="rect">
            <a:avLst/>
          </a:prstGeom>
          <a:noFill/>
        </p:spPr>
        <p:txBody>
          <a:bodyPr wrap="square" anchor="t" lIns="0" rIns="0" tIns="0" bIns="0">
            <a:noAutofit/>
          </a:bodyPr>
          <a:lstStyle/>
          <a:p>
            <a:pPr algn="l">
              <a:lnSpc>
                <a:spcPct val="100000"/>
              </a:lnSpc>
              <a:spcAft>
                <a:spcPts val="0"/>
              </a:spcAft>
            </a:pPr>
            <a:r>
              <a:rPr sz="2700" b="1" i="0">
                <a:solidFill>
                  <a:srgbClr val="F5F7FA"/>
                </a:solidFill>
                <a:latin typeface="Segoe UI"/>
              </a:rPr>
              <a:t>9 → 1</a:t>
            </a:r>
          </a:p>
        </p:txBody>
      </p:sp>
      <p:sp>
        <p:nvSpPr>
          <p:cNvPr id="14" name="TextBox 13"/>
          <p:cNvSpPr txBox="1"/>
          <p:nvPr/>
        </p:nvSpPr>
        <p:spPr>
          <a:xfrm>
            <a:off x="667512" y="2743200"/>
            <a:ext cx="2343150" cy="1563624"/>
          </a:xfrm>
          <a:prstGeom prst="rect">
            <a:avLst/>
          </a:prstGeom>
          <a:noFill/>
        </p:spPr>
        <p:txBody>
          <a:bodyPr wrap="square" anchor="t" lIns="0" rIns="0" tIns="0" bIns="0">
            <a:noAutofit/>
          </a:bodyPr>
          <a:lstStyle/>
          <a:p>
            <a:pPr algn="l">
              <a:lnSpc>
                <a:spcPct val="118000"/>
              </a:lnSpc>
              <a:spcAft>
                <a:spcPts val="0"/>
              </a:spcAft>
            </a:pPr>
            <a:r>
              <a:rPr sz="1050" b="0" i="0">
                <a:solidFill>
                  <a:srgbClr val="9AA7BD"/>
                </a:solidFill>
                <a:latin typeface="Segoe UI"/>
              </a:rPr>
              <a:t>Nine scanners' raw findings deduplicated into one correlated, enriched UnifiedFinding set per scan -- CVE+package, then file+line+category matching.</a:t>
            </a:r>
          </a:p>
        </p:txBody>
      </p:sp>
      <p:sp>
        <p:nvSpPr>
          <p:cNvPr id="15" name="Rounded Rectangle 14"/>
          <p:cNvSpPr/>
          <p:nvPr/>
        </p:nvSpPr>
        <p:spPr>
          <a:xfrm>
            <a:off x="3339846" y="1920240"/>
            <a:ext cx="2672334" cy="2514600"/>
          </a:xfrm>
          <a:prstGeom prst="roundRect">
            <a:avLst>
              <a:gd name="adj" fmla="val 5500"/>
            </a:avLst>
          </a:prstGeom>
          <a:solidFill>
            <a:srgbClr val="13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3504438" y="2066544"/>
            <a:ext cx="310896" cy="0"/>
          </a:xfrm>
          <a:prstGeom prst="line">
            <a:avLst/>
          </a:prstGeom>
          <a:ln w="31750">
            <a:solidFill>
              <a:srgbClr val="9B8BEA"/>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504438" y="2157984"/>
            <a:ext cx="2343150" cy="512064"/>
          </a:xfrm>
          <a:prstGeom prst="rect">
            <a:avLst/>
          </a:prstGeom>
          <a:noFill/>
        </p:spPr>
        <p:txBody>
          <a:bodyPr wrap="square" anchor="t" lIns="0" rIns="0" tIns="0" bIns="0">
            <a:noAutofit/>
          </a:bodyPr>
          <a:lstStyle/>
          <a:p>
            <a:pPr algn="l">
              <a:lnSpc>
                <a:spcPct val="100000"/>
              </a:lnSpc>
              <a:spcAft>
                <a:spcPts val="0"/>
              </a:spcAft>
            </a:pPr>
            <a:r>
              <a:rPr sz="2700" b="1" i="0">
                <a:solidFill>
                  <a:srgbClr val="F5F7FA"/>
                </a:solidFill>
                <a:latin typeface="Segoe UI"/>
              </a:rPr>
              <a:t>~100-200ms</a:t>
            </a:r>
          </a:p>
        </p:txBody>
      </p:sp>
      <p:sp>
        <p:nvSpPr>
          <p:cNvPr id="18" name="TextBox 17"/>
          <p:cNvSpPr txBox="1"/>
          <p:nvPr/>
        </p:nvSpPr>
        <p:spPr>
          <a:xfrm>
            <a:off x="3504438" y="2743200"/>
            <a:ext cx="2343150" cy="1563624"/>
          </a:xfrm>
          <a:prstGeom prst="rect">
            <a:avLst/>
          </a:prstGeom>
          <a:noFill/>
        </p:spPr>
        <p:txBody>
          <a:bodyPr wrap="square" anchor="t" lIns="0" rIns="0" tIns="0" bIns="0">
            <a:noAutofit/>
          </a:bodyPr>
          <a:lstStyle/>
          <a:p>
            <a:pPr algn="l">
              <a:lnSpc>
                <a:spcPct val="118000"/>
              </a:lnSpc>
              <a:spcAft>
                <a:spcPts val="0"/>
              </a:spcAft>
            </a:pPr>
            <a:r>
              <a:rPr sz="1050" b="0" i="0">
                <a:solidFill>
                  <a:srgbClr val="9AA7BD"/>
                </a:solidFill>
                <a:latin typeface="Segoe UI"/>
              </a:rPr>
              <a:t>RAG p50 end-to-end retrieval latency with no LLM call -- embedding ~9ms, vector search ~11ms, rerank 15-55ms (measured, see docs/production_hardening.md).</a:t>
            </a:r>
          </a:p>
        </p:txBody>
      </p:sp>
      <p:sp>
        <p:nvSpPr>
          <p:cNvPr id="19" name="Rounded Rectangle 18"/>
          <p:cNvSpPr/>
          <p:nvPr/>
        </p:nvSpPr>
        <p:spPr>
          <a:xfrm>
            <a:off x="6176772" y="1920240"/>
            <a:ext cx="2672334" cy="2514600"/>
          </a:xfrm>
          <a:prstGeom prst="roundRect">
            <a:avLst>
              <a:gd name="adj" fmla="val 5500"/>
            </a:avLst>
          </a:prstGeom>
          <a:solidFill>
            <a:srgbClr val="13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6341364" y="2066544"/>
            <a:ext cx="310896" cy="0"/>
          </a:xfrm>
          <a:prstGeom prst="line">
            <a:avLst/>
          </a:prstGeom>
          <a:ln w="31750">
            <a:solidFill>
              <a:srgbClr val="EDA100"/>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341364" y="2157984"/>
            <a:ext cx="2343150" cy="512064"/>
          </a:xfrm>
          <a:prstGeom prst="rect">
            <a:avLst/>
          </a:prstGeom>
          <a:noFill/>
        </p:spPr>
        <p:txBody>
          <a:bodyPr wrap="square" anchor="t" lIns="0" rIns="0" tIns="0" bIns="0">
            <a:noAutofit/>
          </a:bodyPr>
          <a:lstStyle/>
          <a:p>
            <a:pPr algn="l">
              <a:lnSpc>
                <a:spcPct val="100000"/>
              </a:lnSpc>
              <a:spcAft>
                <a:spcPts val="0"/>
              </a:spcAft>
            </a:pPr>
            <a:r>
              <a:rPr sz="2700" b="1" i="0">
                <a:solidFill>
                  <a:srgbClr val="F5F7FA"/>
                </a:solidFill>
                <a:latin typeface="Segoe UI"/>
              </a:rPr>
              <a:t>7 formats</a:t>
            </a:r>
          </a:p>
        </p:txBody>
      </p:sp>
      <p:sp>
        <p:nvSpPr>
          <p:cNvPr id="22" name="TextBox 21"/>
          <p:cNvSpPr txBox="1"/>
          <p:nvPr/>
        </p:nvSpPr>
        <p:spPr>
          <a:xfrm>
            <a:off x="6341364" y="2743200"/>
            <a:ext cx="2343150" cy="1563624"/>
          </a:xfrm>
          <a:prstGeom prst="rect">
            <a:avLst/>
          </a:prstGeom>
          <a:noFill/>
        </p:spPr>
        <p:txBody>
          <a:bodyPr wrap="square" anchor="t" lIns="0" rIns="0" tIns="0" bIns="0">
            <a:noAutofit/>
          </a:bodyPr>
          <a:lstStyle/>
          <a:p>
            <a:pPr algn="l">
              <a:lnSpc>
                <a:spcPct val="118000"/>
              </a:lnSpc>
              <a:spcAft>
                <a:spcPts val="0"/>
              </a:spcAft>
            </a:pPr>
            <a:r>
              <a:rPr sz="1050" b="0" i="0">
                <a:solidFill>
                  <a:srgbClr val="9AA7BD"/>
                </a:solidFill>
                <a:latin typeface="Segoe UI"/>
              </a:rPr>
              <a:t>Executive PDF, Technical PDF, SARIF, CycloneDX SBOM, unified JSON, compliance JSON, CSV -- generated automatically per completed scan.</a:t>
            </a:r>
          </a:p>
        </p:txBody>
      </p:sp>
      <p:sp>
        <p:nvSpPr>
          <p:cNvPr id="23" name="Rounded Rectangle 22"/>
          <p:cNvSpPr/>
          <p:nvPr/>
        </p:nvSpPr>
        <p:spPr>
          <a:xfrm>
            <a:off x="9013698" y="1920240"/>
            <a:ext cx="2672334" cy="2514600"/>
          </a:xfrm>
          <a:prstGeom prst="roundRect">
            <a:avLst>
              <a:gd name="adj" fmla="val 5500"/>
            </a:avLst>
          </a:prstGeom>
          <a:solidFill>
            <a:srgbClr val="13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Connector 23"/>
          <p:cNvCxnSpPr/>
          <p:nvPr/>
        </p:nvCxnSpPr>
        <p:spPr>
          <a:xfrm>
            <a:off x="9178290" y="2066544"/>
            <a:ext cx="310896" cy="0"/>
          </a:xfrm>
          <a:prstGeom prst="line">
            <a:avLst/>
          </a:prstGeom>
          <a:ln w="31750">
            <a:solidFill>
              <a:srgbClr val="1BAF7A"/>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9178290" y="2157984"/>
            <a:ext cx="2343150" cy="512064"/>
          </a:xfrm>
          <a:prstGeom prst="rect">
            <a:avLst/>
          </a:prstGeom>
          <a:noFill/>
        </p:spPr>
        <p:txBody>
          <a:bodyPr wrap="square" anchor="t" lIns="0" rIns="0" tIns="0" bIns="0">
            <a:noAutofit/>
          </a:bodyPr>
          <a:lstStyle/>
          <a:p>
            <a:pPr algn="l">
              <a:lnSpc>
                <a:spcPct val="100000"/>
              </a:lnSpc>
              <a:spcAft>
                <a:spcPts val="0"/>
              </a:spcAft>
            </a:pPr>
            <a:r>
              <a:rPr sz="2700" b="1" i="0">
                <a:solidFill>
                  <a:srgbClr val="F5F7FA"/>
                </a:solidFill>
                <a:latin typeface="Segoe UI"/>
              </a:rPr>
              <a:t>46.6 req/s</a:t>
            </a:r>
          </a:p>
        </p:txBody>
      </p:sp>
      <p:sp>
        <p:nvSpPr>
          <p:cNvPr id="26" name="TextBox 25"/>
          <p:cNvSpPr txBox="1"/>
          <p:nvPr/>
        </p:nvSpPr>
        <p:spPr>
          <a:xfrm>
            <a:off x="9178290" y="2743200"/>
            <a:ext cx="2343150" cy="1563624"/>
          </a:xfrm>
          <a:prstGeom prst="rect">
            <a:avLst/>
          </a:prstGeom>
          <a:noFill/>
        </p:spPr>
        <p:txBody>
          <a:bodyPr wrap="square" anchor="t" lIns="0" rIns="0" tIns="0" bIns="0">
            <a:noAutofit/>
          </a:bodyPr>
          <a:lstStyle/>
          <a:p>
            <a:pPr algn="l">
              <a:lnSpc>
                <a:spcPct val="118000"/>
              </a:lnSpc>
              <a:spcAft>
                <a:spcPts val="0"/>
              </a:spcAft>
            </a:pPr>
            <a:r>
              <a:rPr sz="1050" b="0" i="0">
                <a:solidFill>
                  <a:srgbClr val="9AA7BD"/>
                </a:solidFill>
                <a:latin typeface="Segoe UI"/>
              </a:rPr>
              <a:t>Sustained RAG throughput under a 100-request/3-account load test -- p50 175ms, p95 640ms (measured, see docs/production_hardening.md).</a:t>
            </a:r>
          </a:p>
        </p:txBody>
      </p:sp>
      <p:sp>
        <p:nvSpPr>
          <p:cNvPr id="27" name="TextBox 26"/>
          <p:cNvSpPr txBox="1"/>
          <p:nvPr/>
        </p:nvSpPr>
        <p:spPr>
          <a:xfrm>
            <a:off x="502920" y="4709160"/>
            <a:ext cx="11183112" cy="1508760"/>
          </a:xfrm>
          <a:prstGeom prst="rect">
            <a:avLst/>
          </a:prstGeom>
          <a:noFill/>
        </p:spPr>
        <p:txBody>
          <a:bodyPr wrap="square" lIns="0" rIns="0" tIns="0" bIns="0">
            <a:spAutoFit/>
          </a:bodyPr>
          <a:lstStyle/>
          <a:p>
            <a:pPr>
              <a:lnSpc>
                <a:spcPct val="105000"/>
              </a:lnSpc>
              <a:spcAft>
                <a:spcPts val="720"/>
              </a:spcAft>
            </a:pPr>
            <a:r>
              <a:rPr sz="1200" b="1">
                <a:solidFill>
                  <a:srgbClr val="EDA100"/>
                </a:solidFill>
                <a:latin typeface="Segoe UI"/>
              </a:rPr>
              <a:t>›  </a:t>
            </a:r>
            <a:r>
              <a:rPr sz="1200" b="1">
                <a:solidFill>
                  <a:srgbClr val="F5F7FA"/>
                </a:solidFill>
                <a:latin typeface="Segoe UI"/>
              </a:rPr>
              <a:t>Better prioritization: </a:t>
            </a:r>
            <a:r>
              <a:rPr sz="1200">
                <a:solidFill>
                  <a:srgbClr val="F5F7FA"/>
                </a:solidFill>
                <a:latin typeface="Segoe UI"/>
              </a:rPr>
              <a:t>a 7-factor Banking Risk Score replaces flat CVSS triage.</a:t>
            </a:r>
          </a:p>
          <a:p>
            <a:pPr>
              <a:lnSpc>
                <a:spcPct val="105000"/>
              </a:lnSpc>
              <a:spcAft>
                <a:spcPts val="720"/>
              </a:spcAft>
            </a:pPr>
            <a:r>
              <a:rPr sz="1200" b="1">
                <a:solidFill>
                  <a:srgbClr val="EDA100"/>
                </a:solidFill>
                <a:latin typeface="Segoe UI"/>
              </a:rPr>
              <a:t>›  </a:t>
            </a:r>
            <a:r>
              <a:rPr sz="1200" b="1">
                <a:solidFill>
                  <a:srgbClr val="F5F7FA"/>
                </a:solidFill>
                <a:latin typeface="Segoe UI"/>
              </a:rPr>
              <a:t>Compliance visibility: </a:t>
            </a:r>
            <a:r>
              <a:rPr sz="1200">
                <a:solidFill>
                  <a:srgbClr val="F5F7FA"/>
                </a:solidFill>
                <a:latin typeface="Segoe UI"/>
              </a:rPr>
              <a:t>live PASS/FAIL against RBI/PCI DSS/SWIFT CSP with evidence, not a quarterly spreadsheet exercise.</a:t>
            </a:r>
          </a:p>
          <a:p>
            <a:pPr>
              <a:lnSpc>
                <a:spcPct val="105000"/>
              </a:lnSpc>
              <a:spcAft>
                <a:spcPts val="720"/>
              </a:spcAft>
            </a:pPr>
            <a:r>
              <a:rPr sz="1200" b="1">
                <a:solidFill>
                  <a:srgbClr val="EDA100"/>
                </a:solidFill>
                <a:latin typeface="Segoe UI"/>
              </a:rPr>
              <a:t>›  </a:t>
            </a:r>
            <a:r>
              <a:rPr sz="1200" b="1">
                <a:solidFill>
                  <a:srgbClr val="F5F7FA"/>
                </a:solidFill>
                <a:latin typeface="Segoe UI"/>
              </a:rPr>
              <a:t>Developer productivity: </a:t>
            </a:r>
            <a:r>
              <a:rPr sz="1200">
                <a:solidFill>
                  <a:srgbClr val="F5F7FA"/>
                </a:solidFill>
                <a:latin typeface="Segoe UI"/>
              </a:rPr>
              <a:t>one scan produces every report format a security, compliance, or engineering stakeholder needs -- no separate tools to reconcile.</a:t>
            </a:r>
          </a:p>
        </p:txBody>
      </p:sp>
      <p:sp>
        <p:nvSpPr>
          <p:cNvPr id="28" name="TextBox 27"/>
          <p:cNvSpPr txBox="1"/>
          <p:nvPr/>
        </p:nvSpPr>
        <p:spPr>
          <a:xfrm>
            <a:off x="502920" y="6263640"/>
            <a:ext cx="11183112" cy="274320"/>
          </a:xfrm>
          <a:prstGeom prst="rect">
            <a:avLst/>
          </a:prstGeom>
          <a:noFill/>
        </p:spPr>
        <p:txBody>
          <a:bodyPr wrap="square" anchor="t" lIns="0" rIns="0" tIns="0" bIns="0">
            <a:noAutofit/>
          </a:bodyPr>
          <a:lstStyle/>
          <a:p>
            <a:pPr algn="l">
              <a:lnSpc>
                <a:spcPct val="100000"/>
              </a:lnSpc>
              <a:spcAft>
                <a:spcPts val="0"/>
              </a:spcAft>
            </a:pPr>
            <a:r>
              <a:rPr sz="850" b="0" i="1">
                <a:solidFill>
                  <a:srgbClr val="64708A"/>
                </a:solidFill>
                <a:latin typeface="Segoe UI"/>
              </a:rPr>
              <a:t>We report only measured figures from the repository's own benchmark/audit docs -- no invented percentage improvements.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362895" y="-3291840"/>
            <a:ext cx="5852160" cy="5852160"/>
          </a:xfrm>
          <a:prstGeom prst="ellipse">
            <a:avLst/>
          </a:prstGeom>
          <a:noFill/>
          <a:ln w="13970">
            <a:solidFill>
              <a:srgbClr val="EDA100">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502920" y="6473952"/>
            <a:ext cx="11185855" cy="0"/>
          </a:xfrm>
          <a:prstGeom prst="line">
            <a:avLst/>
          </a:prstGeom>
          <a:ln w="9525">
            <a:solidFill>
              <a:srgbClr val="2A3654"/>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28816"/>
            <a:ext cx="4572000" cy="274320"/>
          </a:xfrm>
          <a:prstGeom prst="rect">
            <a:avLst/>
          </a:prstGeom>
          <a:noFill/>
        </p:spPr>
        <p:txBody>
          <a:bodyPr wrap="square" anchor="t" lIns="0" rIns="0" tIns="0" bIns="0">
            <a:noAutofit/>
          </a:bodyPr>
          <a:lstStyle/>
          <a:p>
            <a:pPr algn="l">
              <a:lnSpc>
                <a:spcPct val="100000"/>
              </a:lnSpc>
              <a:spcAft>
                <a:spcPts val="0"/>
              </a:spcAft>
            </a:pPr>
            <a:r>
              <a:rPr sz="900" b="0" i="0">
                <a:solidFill>
                  <a:srgbClr val="64708A"/>
                </a:solidFill>
                <a:latin typeface="Segoe UI"/>
              </a:rPr>
              <a:t>KAVACH  ·  PSB Hackathon 2026</a:t>
            </a:r>
          </a:p>
        </p:txBody>
      </p:sp>
      <p:sp>
        <p:nvSpPr>
          <p:cNvPr id="6" name="TextBox 5"/>
          <p:cNvSpPr txBox="1"/>
          <p:nvPr/>
        </p:nvSpPr>
        <p:spPr>
          <a:xfrm>
            <a:off x="4480560" y="6528816"/>
            <a:ext cx="4572000" cy="274320"/>
          </a:xfrm>
          <a:prstGeom prst="rect">
            <a:avLst/>
          </a:prstGeom>
          <a:noFill/>
        </p:spPr>
        <p:txBody>
          <a:bodyPr wrap="square" anchor="t" lIns="0" rIns="0" tIns="0" bIns="0">
            <a:noAutofit/>
          </a:bodyPr>
          <a:lstStyle/>
          <a:p>
            <a:pPr algn="ctr">
              <a:lnSpc>
                <a:spcPct val="100000"/>
              </a:lnSpc>
              <a:spcAft>
                <a:spcPts val="0"/>
              </a:spcAft>
            </a:pPr>
            <a:r>
              <a:rPr sz="900" b="0" i="0">
                <a:solidFill>
                  <a:srgbClr val="64708A"/>
                </a:solidFill>
                <a:latin typeface="Segoe UI"/>
              </a:rPr>
              <a:t>FUTURE SCOPE</a:t>
            </a:r>
          </a:p>
        </p:txBody>
      </p:sp>
      <p:sp>
        <p:nvSpPr>
          <p:cNvPr id="7" name="TextBox 6"/>
          <p:cNvSpPr txBox="1"/>
          <p:nvPr/>
        </p:nvSpPr>
        <p:spPr>
          <a:xfrm>
            <a:off x="10820095" y="6528816"/>
            <a:ext cx="914400" cy="274320"/>
          </a:xfrm>
          <a:prstGeom prst="rect">
            <a:avLst/>
          </a:prstGeom>
          <a:noFill/>
        </p:spPr>
        <p:txBody>
          <a:bodyPr wrap="square" anchor="t" lIns="0" rIns="0" tIns="0" bIns="0">
            <a:noAutofit/>
          </a:bodyPr>
          <a:lstStyle/>
          <a:p>
            <a:pPr algn="r">
              <a:lnSpc>
                <a:spcPct val="100000"/>
              </a:lnSpc>
              <a:spcAft>
                <a:spcPts val="0"/>
              </a:spcAft>
            </a:pPr>
            <a:r>
              <a:rPr sz="900" b="0" i="0">
                <a:solidFill>
                  <a:srgbClr val="64708A"/>
                </a:solidFill>
                <a:latin typeface="Segoe UI"/>
              </a:rPr>
              <a:t>21 / 22</a:t>
            </a:r>
          </a:p>
        </p:txBody>
      </p:sp>
      <p:sp>
        <p:nvSpPr>
          <p:cNvPr id="8" name="TextBox 7"/>
          <p:cNvSpPr txBox="1"/>
          <p:nvPr/>
        </p:nvSpPr>
        <p:spPr>
          <a:xfrm>
            <a:off x="502920" y="457200"/>
            <a:ext cx="9601200" cy="292608"/>
          </a:xfrm>
          <a:prstGeom prst="rect">
            <a:avLst/>
          </a:prstGeom>
          <a:noFill/>
        </p:spPr>
        <p:txBody>
          <a:bodyPr wrap="square" anchor="t" lIns="0" rIns="0" tIns="0" bIns="0">
            <a:noAutofit/>
          </a:bodyPr>
          <a:lstStyle/>
          <a:p>
            <a:pPr algn="l">
              <a:lnSpc>
                <a:spcPct val="100000"/>
              </a:lnSpc>
              <a:spcAft>
                <a:spcPts val="0"/>
              </a:spcAft>
            </a:pPr>
            <a:r>
              <a:rPr sz="1250" b="1" i="0" spc="160">
                <a:solidFill>
                  <a:srgbClr val="EDA100"/>
                </a:solidFill>
                <a:latin typeface="Segoe UI"/>
              </a:rPr>
              <a:t>FUTURE SCOPE</a:t>
            </a:r>
          </a:p>
        </p:txBody>
      </p:sp>
      <p:sp>
        <p:nvSpPr>
          <p:cNvPr id="9" name="TextBox 8"/>
          <p:cNvSpPr txBox="1"/>
          <p:nvPr/>
        </p:nvSpPr>
        <p:spPr>
          <a:xfrm>
            <a:off x="502920" y="768096"/>
            <a:ext cx="10789920" cy="984504"/>
          </a:xfrm>
          <a:prstGeom prst="rect">
            <a:avLst/>
          </a:prstGeom>
          <a:noFill/>
        </p:spPr>
        <p:txBody>
          <a:bodyPr wrap="square" anchor="t" lIns="0" rIns="0" tIns="0" bIns="0">
            <a:noAutofit/>
          </a:bodyPr>
          <a:lstStyle/>
          <a:p>
            <a:pPr algn="l">
              <a:lnSpc>
                <a:spcPct val="102000"/>
              </a:lnSpc>
              <a:spcAft>
                <a:spcPts val="0"/>
              </a:spcAft>
            </a:pPr>
            <a:r>
              <a:rPr sz="3000" b="1" i="0">
                <a:solidFill>
                  <a:srgbClr val="F5F7FA"/>
                </a:solidFill>
                <a:latin typeface="Segoe UI"/>
              </a:rPr>
              <a:t>Realistic Next Steps -- Grounded In What's Already Built</a:t>
            </a:r>
          </a:p>
        </p:txBody>
      </p:sp>
      <p:cxnSp>
        <p:nvCxnSpPr>
          <p:cNvPr id="10" name="Connector 9"/>
          <p:cNvCxnSpPr/>
          <p:nvPr/>
        </p:nvCxnSpPr>
        <p:spPr>
          <a:xfrm>
            <a:off x="502920" y="1816608"/>
            <a:ext cx="960120" cy="0"/>
          </a:xfrm>
          <a:prstGeom prst="line">
            <a:avLst/>
          </a:prstGeom>
          <a:ln w="28575">
            <a:solidFill>
              <a:srgbClr val="EDA100"/>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02920" y="1847088"/>
            <a:ext cx="11183112" cy="274320"/>
          </a:xfrm>
          <a:prstGeom prst="rect">
            <a:avLst/>
          </a:prstGeom>
          <a:noFill/>
        </p:spPr>
        <p:txBody>
          <a:bodyPr wrap="square" anchor="t" lIns="0" rIns="0" tIns="0" bIns="0">
            <a:noAutofit/>
          </a:bodyPr>
          <a:lstStyle/>
          <a:p>
            <a:pPr algn="l">
              <a:lnSpc>
                <a:spcPct val="100000"/>
              </a:lnSpc>
              <a:spcAft>
                <a:spcPts val="0"/>
              </a:spcAft>
            </a:pPr>
            <a:r>
              <a:rPr sz="1150" b="1" i="0" spc="100">
                <a:solidFill>
                  <a:srgbClr val="EDA100"/>
                </a:solidFill>
                <a:latin typeface="Segoe UI"/>
              </a:rPr>
              <a:t>IN ACTIVE DEVELOPMENT</a:t>
            </a:r>
          </a:p>
        </p:txBody>
      </p:sp>
      <p:sp>
        <p:nvSpPr>
          <p:cNvPr id="12" name="TextBox 11"/>
          <p:cNvSpPr txBox="1"/>
          <p:nvPr/>
        </p:nvSpPr>
        <p:spPr>
          <a:xfrm>
            <a:off x="502920" y="2148840"/>
            <a:ext cx="11183112" cy="1051560"/>
          </a:xfrm>
          <a:prstGeom prst="rect">
            <a:avLst/>
          </a:prstGeom>
          <a:noFill/>
        </p:spPr>
        <p:txBody>
          <a:bodyPr wrap="square" lIns="0" rIns="0" tIns="0" bIns="0">
            <a:spAutoFit/>
          </a:bodyPr>
          <a:lstStyle/>
          <a:p>
            <a:pPr>
              <a:lnSpc>
                <a:spcPct val="105000"/>
              </a:lnSpc>
              <a:spcAft>
                <a:spcPts val="576"/>
              </a:spcAft>
            </a:pPr>
            <a:r>
              <a:rPr sz="1150" b="1">
                <a:solidFill>
                  <a:srgbClr val="EDA100"/>
                </a:solidFill>
                <a:latin typeface="Segoe UI"/>
              </a:rPr>
              <a:t>›  </a:t>
            </a:r>
            <a:r>
              <a:rPr sz="1150">
                <a:solidFill>
                  <a:srgbClr val="F5F7FA"/>
                </a:solidFill>
                <a:latin typeface="Segoe UI"/>
              </a:rPr>
              <a:t>Wiring the Flutter app's live scan-progress screen to the existing WebSocket endpoint (currently polling)</a:t>
            </a:r>
          </a:p>
          <a:p>
            <a:pPr>
              <a:lnSpc>
                <a:spcPct val="105000"/>
              </a:lnSpc>
              <a:spcAft>
                <a:spcPts val="576"/>
              </a:spcAft>
            </a:pPr>
            <a:r>
              <a:rPr sz="1150" b="1">
                <a:solidFill>
                  <a:srgbClr val="EDA100"/>
                </a:solidFill>
                <a:latin typeface="Segoe UI"/>
              </a:rPr>
              <a:t>›  </a:t>
            </a:r>
            <a:r>
              <a:rPr sz="1150">
                <a:solidFill>
                  <a:srgbClr val="F5F7FA"/>
                </a:solidFill>
                <a:latin typeface="Segoe UI"/>
              </a:rPr>
              <a:t>A cross-scan findings/compliance rollup endpoint, so both clients can show portfolio-wide views</a:t>
            </a:r>
          </a:p>
          <a:p>
            <a:pPr>
              <a:lnSpc>
                <a:spcPct val="105000"/>
              </a:lnSpc>
              <a:spcAft>
                <a:spcPts val="576"/>
              </a:spcAft>
            </a:pPr>
            <a:r>
              <a:rPr sz="1150" b="1">
                <a:solidFill>
                  <a:srgbClr val="EDA100"/>
                </a:solidFill>
                <a:latin typeface="Segoe UI"/>
              </a:rPr>
              <a:t>›  </a:t>
            </a:r>
            <a:r>
              <a:rPr sz="1150">
                <a:solidFill>
                  <a:srgbClr val="F5F7FA"/>
                </a:solidFill>
                <a:latin typeface="Segoe UI"/>
              </a:rPr>
              <a:t>Full SAML 2.0 assertion validation (currently a scaffolded 503, pending an XML-security toolkit)</a:t>
            </a:r>
          </a:p>
        </p:txBody>
      </p:sp>
      <p:sp>
        <p:nvSpPr>
          <p:cNvPr id="13" name="TextBox 12"/>
          <p:cNvSpPr txBox="1"/>
          <p:nvPr/>
        </p:nvSpPr>
        <p:spPr>
          <a:xfrm>
            <a:off x="502920" y="3429000"/>
            <a:ext cx="5394960" cy="274320"/>
          </a:xfrm>
          <a:prstGeom prst="rect">
            <a:avLst/>
          </a:prstGeom>
          <a:noFill/>
        </p:spPr>
        <p:txBody>
          <a:bodyPr wrap="square" anchor="t" lIns="0" rIns="0" tIns="0" bIns="0">
            <a:noAutofit/>
          </a:bodyPr>
          <a:lstStyle/>
          <a:p>
            <a:pPr algn="l">
              <a:lnSpc>
                <a:spcPct val="100000"/>
              </a:lnSpc>
              <a:spcAft>
                <a:spcPts val="0"/>
              </a:spcAft>
            </a:pPr>
            <a:r>
              <a:rPr sz="1150" b="1" i="0" spc="100">
                <a:solidFill>
                  <a:srgbClr val="6CAEF2"/>
                </a:solidFill>
                <a:latin typeface="Segoe UI"/>
              </a:rPr>
              <a:t>ON THE ROADMAP</a:t>
            </a:r>
          </a:p>
        </p:txBody>
      </p:sp>
      <p:sp>
        <p:nvSpPr>
          <p:cNvPr id="14" name="TextBox 13"/>
          <p:cNvSpPr txBox="1"/>
          <p:nvPr/>
        </p:nvSpPr>
        <p:spPr>
          <a:xfrm>
            <a:off x="502920" y="3730752"/>
            <a:ext cx="5394960" cy="2468880"/>
          </a:xfrm>
          <a:prstGeom prst="rect">
            <a:avLst/>
          </a:prstGeom>
          <a:noFill/>
        </p:spPr>
        <p:txBody>
          <a:bodyPr wrap="square" lIns="0" rIns="0" tIns="0" bIns="0">
            <a:spAutoFit/>
          </a:bodyPr>
          <a:lstStyle/>
          <a:p>
            <a:pPr>
              <a:lnSpc>
                <a:spcPct val="105000"/>
              </a:lnSpc>
              <a:spcAft>
                <a:spcPts val="576"/>
              </a:spcAft>
            </a:pPr>
            <a:r>
              <a:rPr sz="1100" b="1">
                <a:solidFill>
                  <a:srgbClr val="6CAEF2"/>
                </a:solidFill>
                <a:latin typeface="Segoe UI"/>
              </a:rPr>
              <a:t>›  </a:t>
            </a:r>
            <a:r>
              <a:rPr sz="1100">
                <a:solidFill>
                  <a:srgbClr val="F5F7FA"/>
                </a:solidFill>
                <a:latin typeface="Segoe UI"/>
              </a:rPr>
              <a:t>Notifications inbox API + mobile push registration (delivery is outbound-only today)</a:t>
            </a:r>
          </a:p>
          <a:p>
            <a:pPr>
              <a:lnSpc>
                <a:spcPct val="105000"/>
              </a:lnSpc>
              <a:spcAft>
                <a:spcPts val="576"/>
              </a:spcAft>
            </a:pPr>
            <a:r>
              <a:rPr sz="1100" b="1">
                <a:solidFill>
                  <a:srgbClr val="6CAEF2"/>
                </a:solidFill>
                <a:latin typeface="Segoe UI"/>
              </a:rPr>
              <a:t>›  </a:t>
            </a:r>
            <a:r>
              <a:rPr sz="1100">
                <a:solidFill>
                  <a:srgbClr val="F5F7FA"/>
                </a:solidFill>
                <a:latin typeface="Segoe UI"/>
              </a:rPr>
              <a:t>Knowledge Graph linking findings, CWEs, and compliance clauses</a:t>
            </a:r>
          </a:p>
          <a:p>
            <a:pPr>
              <a:lnSpc>
                <a:spcPct val="105000"/>
              </a:lnSpc>
              <a:spcAft>
                <a:spcPts val="576"/>
              </a:spcAft>
            </a:pPr>
            <a:r>
              <a:rPr sz="1100" b="1">
                <a:solidFill>
                  <a:srgbClr val="6CAEF2"/>
                </a:solidFill>
                <a:latin typeface="Segoe UI"/>
              </a:rPr>
              <a:t>›  </a:t>
            </a:r>
            <a:r>
              <a:rPr sz="1100">
                <a:solidFill>
                  <a:srgbClr val="F5F7FA"/>
                </a:solidFill>
                <a:latin typeface="Segoe UI"/>
              </a:rPr>
              <a:t>Root Cause Intelligence -- trace a finding class back to the introducing commit</a:t>
            </a:r>
          </a:p>
          <a:p>
            <a:pPr>
              <a:lnSpc>
                <a:spcPct val="105000"/>
              </a:lnSpc>
              <a:spcAft>
                <a:spcPts val="576"/>
              </a:spcAft>
            </a:pPr>
            <a:r>
              <a:rPr sz="1100" b="1">
                <a:solidFill>
                  <a:srgbClr val="6CAEF2"/>
                </a:solidFill>
                <a:latin typeface="Segoe UI"/>
              </a:rPr>
              <a:t>›  </a:t>
            </a:r>
            <a:r>
              <a:rPr sz="1100">
                <a:solidFill>
                  <a:srgbClr val="F5F7FA"/>
                </a:solidFill>
                <a:latin typeface="Segoe UI"/>
              </a:rPr>
              <a:t>Security Copilot -- propose (not silently apply) a remediation diff</a:t>
            </a:r>
          </a:p>
          <a:p>
            <a:pPr>
              <a:lnSpc>
                <a:spcPct val="105000"/>
              </a:lnSpc>
              <a:spcAft>
                <a:spcPts val="576"/>
              </a:spcAft>
            </a:pPr>
            <a:r>
              <a:rPr sz="1100" b="1">
                <a:solidFill>
                  <a:srgbClr val="6CAEF2"/>
                </a:solidFill>
                <a:latin typeface="Segoe UI"/>
              </a:rPr>
              <a:t>›  </a:t>
            </a:r>
            <a:r>
              <a:rPr sz="1100">
                <a:solidFill>
                  <a:srgbClr val="F5F7FA"/>
                </a:solidFill>
                <a:latin typeface="Segoe UI"/>
              </a:rPr>
              <a:t>Enterprise integrations -- GitLab/Bitbucket inbound webhooks, PR-scoped scans, Jira/ServiceNow, SIEM export</a:t>
            </a:r>
          </a:p>
          <a:p>
            <a:pPr>
              <a:lnSpc>
                <a:spcPct val="105000"/>
              </a:lnSpc>
              <a:spcAft>
                <a:spcPts val="576"/>
              </a:spcAft>
            </a:pPr>
            <a:r>
              <a:rPr sz="1100" b="1">
                <a:solidFill>
                  <a:srgbClr val="6CAEF2"/>
                </a:solidFill>
                <a:latin typeface="Segoe UI"/>
              </a:rPr>
              <a:t>›  </a:t>
            </a:r>
            <a:r>
              <a:rPr sz="1100">
                <a:solidFill>
                  <a:srgbClr val="F5F7FA"/>
                </a:solidFill>
                <a:latin typeface="Segoe UI"/>
              </a:rPr>
              <a:t>Expanded compliance coverage -- ISO 27001, SOC 2</a:t>
            </a:r>
          </a:p>
        </p:txBody>
      </p:sp>
      <p:sp>
        <p:nvSpPr>
          <p:cNvPr id="15" name="TextBox 14"/>
          <p:cNvSpPr txBox="1"/>
          <p:nvPr/>
        </p:nvSpPr>
        <p:spPr>
          <a:xfrm>
            <a:off x="6400800" y="3429000"/>
            <a:ext cx="5285232" cy="274320"/>
          </a:xfrm>
          <a:prstGeom prst="rect">
            <a:avLst/>
          </a:prstGeom>
          <a:noFill/>
        </p:spPr>
        <p:txBody>
          <a:bodyPr wrap="square" anchor="t" lIns="0" rIns="0" tIns="0" bIns="0">
            <a:noAutofit/>
          </a:bodyPr>
          <a:lstStyle/>
          <a:p>
            <a:pPr algn="l">
              <a:lnSpc>
                <a:spcPct val="100000"/>
              </a:lnSpc>
              <a:spcAft>
                <a:spcPts val="0"/>
              </a:spcAft>
            </a:pPr>
            <a:r>
              <a:rPr sz="1150" b="1" i="0" spc="100">
                <a:solidFill>
                  <a:srgbClr val="9AA7BD"/>
                </a:solidFill>
                <a:latin typeface="Segoe UI"/>
              </a:rPr>
              <a:t>PROPOSED DIRECTION (VISION)</a:t>
            </a:r>
          </a:p>
        </p:txBody>
      </p:sp>
      <p:sp>
        <p:nvSpPr>
          <p:cNvPr id="16" name="TextBox 15"/>
          <p:cNvSpPr txBox="1"/>
          <p:nvPr/>
        </p:nvSpPr>
        <p:spPr>
          <a:xfrm>
            <a:off x="6400800" y="3730752"/>
            <a:ext cx="5285232" cy="2468880"/>
          </a:xfrm>
          <a:prstGeom prst="rect">
            <a:avLst/>
          </a:prstGeom>
          <a:noFill/>
        </p:spPr>
        <p:txBody>
          <a:bodyPr wrap="square" lIns="0" rIns="0" tIns="0" bIns="0">
            <a:spAutoFit/>
          </a:bodyPr>
          <a:lstStyle/>
          <a:p>
            <a:pPr>
              <a:lnSpc>
                <a:spcPct val="105000"/>
              </a:lnSpc>
              <a:spcAft>
                <a:spcPts val="720"/>
              </a:spcAft>
            </a:pPr>
            <a:r>
              <a:rPr sz="1100" b="1">
                <a:solidFill>
                  <a:srgbClr val="9AA7BD"/>
                </a:solidFill>
                <a:latin typeface="Segoe UI"/>
              </a:rPr>
              <a:t>›  </a:t>
            </a:r>
            <a:r>
              <a:rPr sz="1100">
                <a:solidFill>
                  <a:srgbClr val="F5F7FA"/>
                </a:solidFill>
                <a:latin typeface="Segoe UI"/>
              </a:rPr>
              <a:t>IDE plugin -- surface findings at the point of writing code, not just at scan time</a:t>
            </a:r>
          </a:p>
          <a:p>
            <a:pPr>
              <a:lnSpc>
                <a:spcPct val="105000"/>
              </a:lnSpc>
              <a:spcAft>
                <a:spcPts val="720"/>
              </a:spcAft>
            </a:pPr>
            <a:r>
              <a:rPr sz="1100" b="1">
                <a:solidFill>
                  <a:srgbClr val="9AA7BD"/>
                </a:solidFill>
                <a:latin typeface="Segoe UI"/>
              </a:rPr>
              <a:t>›  </a:t>
            </a:r>
            <a:r>
              <a:rPr sz="1100">
                <a:solidFill>
                  <a:srgbClr val="F5F7FA"/>
                </a:solidFill>
                <a:latin typeface="Segoe UI"/>
              </a:rPr>
              <a:t>Continuous-learning RAG -- incorporate analyst feedback signals already being collected today</a:t>
            </a:r>
          </a:p>
          <a:p>
            <a:pPr>
              <a:lnSpc>
                <a:spcPct val="105000"/>
              </a:lnSpc>
              <a:spcAft>
                <a:spcPts val="720"/>
              </a:spcAft>
            </a:pPr>
            <a:r>
              <a:rPr sz="1100" b="1">
                <a:solidFill>
                  <a:srgbClr val="9AA7BD"/>
                </a:solidFill>
                <a:latin typeface="Segoe UI"/>
              </a:rPr>
              <a:t>›  </a:t>
            </a:r>
            <a:r>
              <a:rPr sz="1100">
                <a:solidFill>
                  <a:srgbClr val="F5F7FA"/>
                </a:solidFill>
                <a:latin typeface="Segoe UI"/>
              </a:rPr>
              <a:t>Multi-bank / multi-tenant SaaS packaging for smaller banks and NBFCs</a:t>
            </a:r>
          </a:p>
        </p:txBody>
      </p:sp>
      <p:sp>
        <p:nvSpPr>
          <p:cNvPr id="17" name="TextBox 16"/>
          <p:cNvSpPr txBox="1"/>
          <p:nvPr/>
        </p:nvSpPr>
        <p:spPr>
          <a:xfrm>
            <a:off x="6400800" y="4846320"/>
            <a:ext cx="5285232" cy="274320"/>
          </a:xfrm>
          <a:prstGeom prst="rect">
            <a:avLst/>
          </a:prstGeom>
          <a:noFill/>
        </p:spPr>
        <p:txBody>
          <a:bodyPr wrap="square" anchor="t" lIns="0" rIns="0" tIns="0" bIns="0">
            <a:noAutofit/>
          </a:bodyPr>
          <a:lstStyle/>
          <a:p>
            <a:pPr algn="l">
              <a:lnSpc>
                <a:spcPct val="100000"/>
              </a:lnSpc>
              <a:spcAft>
                <a:spcPts val="0"/>
              </a:spcAft>
            </a:pPr>
            <a:r>
              <a:rPr sz="850" b="0" i="1">
                <a:solidFill>
                  <a:srgbClr val="64708A"/>
                </a:solidFill>
                <a:latin typeface="Segoe UI"/>
              </a:rPr>
              <a:t>Labeled as vision, not in-progress -- not yet started in the codebase.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362895" y="-3291840"/>
            <a:ext cx="5852160" cy="5852160"/>
          </a:xfrm>
          <a:prstGeom prst="ellipse">
            <a:avLst/>
          </a:prstGeom>
          <a:noFill/>
          <a:ln w="13970">
            <a:solidFill>
              <a:srgbClr val="EDA100">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502920" y="6473952"/>
            <a:ext cx="11185855" cy="0"/>
          </a:xfrm>
          <a:prstGeom prst="line">
            <a:avLst/>
          </a:prstGeom>
          <a:ln w="9525">
            <a:solidFill>
              <a:srgbClr val="2A3654"/>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28816"/>
            <a:ext cx="4572000" cy="274320"/>
          </a:xfrm>
          <a:prstGeom prst="rect">
            <a:avLst/>
          </a:prstGeom>
          <a:noFill/>
        </p:spPr>
        <p:txBody>
          <a:bodyPr wrap="square" anchor="t" lIns="0" rIns="0" tIns="0" bIns="0">
            <a:noAutofit/>
          </a:bodyPr>
          <a:lstStyle/>
          <a:p>
            <a:pPr algn="l">
              <a:lnSpc>
                <a:spcPct val="100000"/>
              </a:lnSpc>
              <a:spcAft>
                <a:spcPts val="0"/>
              </a:spcAft>
            </a:pPr>
            <a:r>
              <a:rPr sz="900" b="0" i="0">
                <a:solidFill>
                  <a:srgbClr val="64708A"/>
                </a:solidFill>
                <a:latin typeface="Segoe UI"/>
              </a:rPr>
              <a:t>KAVACH  ·  PSB Hackathon 2026</a:t>
            </a:r>
          </a:p>
        </p:txBody>
      </p:sp>
      <p:sp>
        <p:nvSpPr>
          <p:cNvPr id="6" name="TextBox 5"/>
          <p:cNvSpPr txBox="1"/>
          <p:nvPr/>
        </p:nvSpPr>
        <p:spPr>
          <a:xfrm>
            <a:off x="10820095" y="6528816"/>
            <a:ext cx="914400" cy="274320"/>
          </a:xfrm>
          <a:prstGeom prst="rect">
            <a:avLst/>
          </a:prstGeom>
          <a:noFill/>
        </p:spPr>
        <p:txBody>
          <a:bodyPr wrap="square" anchor="t" lIns="0" rIns="0" tIns="0" bIns="0">
            <a:noAutofit/>
          </a:bodyPr>
          <a:lstStyle/>
          <a:p>
            <a:pPr algn="r">
              <a:lnSpc>
                <a:spcPct val="100000"/>
              </a:lnSpc>
              <a:spcAft>
                <a:spcPts val="0"/>
              </a:spcAft>
            </a:pPr>
            <a:r>
              <a:rPr sz="900" b="0" i="0">
                <a:solidFill>
                  <a:srgbClr val="64708A"/>
                </a:solidFill>
                <a:latin typeface="Segoe UI"/>
              </a:rPr>
              <a:t>22 / 22</a:t>
            </a:r>
          </a:p>
        </p:txBody>
      </p:sp>
      <p:sp>
        <p:nvSpPr>
          <p:cNvPr id="7" name="Freeform 6"/>
          <p:cNvSpPr/>
          <p:nvPr/>
        </p:nvSpPr>
        <p:spPr>
          <a:xfrm>
            <a:off x="5184648" y="1051560"/>
            <a:ext cx="914400" cy="914400"/>
          </a:xfrm>
          <a:custGeom>
            <a:avLst/>
            <a:gdLst/>
            <a:ahLst/>
            <a:cxnLst/>
            <a:rect l="l" t="t" r="r" b="b"/>
            <a:pathLst>
              <a:path w="914400" h="914400">
                <a:moveTo>
                  <a:pt x="457200" y="0"/>
                </a:moveTo>
                <a:lnTo>
                  <a:pt x="914400" y="109728"/>
                </a:lnTo>
                <a:lnTo>
                  <a:pt x="914400" y="457200"/>
                </a:lnTo>
                <a:lnTo>
                  <a:pt x="457200" y="914400"/>
                </a:lnTo>
                <a:lnTo>
                  <a:pt x="0" y="457200"/>
                </a:lnTo>
                <a:lnTo>
                  <a:pt x="0" y="109728"/>
                </a:lnTo>
                <a:lnTo>
                  <a:pt x="457200" y="0"/>
                </a:lnTo>
                <a:close/>
              </a:path>
            </a:pathLst>
          </a:cu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0" y="2148840"/>
            <a:ext cx="6702552" cy="731520"/>
          </a:xfrm>
          <a:prstGeom prst="rect">
            <a:avLst/>
          </a:prstGeom>
          <a:noFill/>
        </p:spPr>
        <p:txBody>
          <a:bodyPr wrap="square" anchor="t" lIns="0" rIns="0" tIns="0" bIns="0">
            <a:noAutofit/>
          </a:bodyPr>
          <a:lstStyle/>
          <a:p>
            <a:pPr algn="ctr">
              <a:lnSpc>
                <a:spcPct val="100000"/>
              </a:lnSpc>
              <a:spcAft>
                <a:spcPts val="0"/>
              </a:spcAft>
            </a:pPr>
            <a:r>
              <a:rPr sz="4000" b="1" i="0">
                <a:solidFill>
                  <a:srgbClr val="F5F7FA"/>
                </a:solidFill>
                <a:latin typeface="Segoe UI"/>
              </a:rPr>
              <a:t>Thank You</a:t>
            </a:r>
          </a:p>
        </p:txBody>
      </p:sp>
      <p:sp>
        <p:nvSpPr>
          <p:cNvPr id="9" name="TextBox 8"/>
          <p:cNvSpPr txBox="1"/>
          <p:nvPr/>
        </p:nvSpPr>
        <p:spPr>
          <a:xfrm>
            <a:off x="2743200" y="2926080"/>
            <a:ext cx="6702552" cy="457200"/>
          </a:xfrm>
          <a:prstGeom prst="rect">
            <a:avLst/>
          </a:prstGeom>
          <a:noFill/>
        </p:spPr>
        <p:txBody>
          <a:bodyPr wrap="square" anchor="t" lIns="0" rIns="0" tIns="0" bIns="0">
            <a:noAutofit/>
          </a:bodyPr>
          <a:lstStyle/>
          <a:p>
            <a:pPr algn="ctr">
              <a:lnSpc>
                <a:spcPct val="100000"/>
              </a:lnSpc>
              <a:spcAft>
                <a:spcPts val="0"/>
              </a:spcAft>
            </a:pPr>
            <a:r>
              <a:rPr sz="1500" b="0" i="1">
                <a:solidFill>
                  <a:srgbClr val="EDA100"/>
                </a:solidFill>
                <a:latin typeface="Segoe UI"/>
              </a:rPr>
              <a:t>KAVACH -- AI-Powered DevSecOps Platform for Banking</a:t>
            </a:r>
          </a:p>
        </p:txBody>
      </p:sp>
      <p:sp>
        <p:nvSpPr>
          <p:cNvPr id="10" name="Rounded Rectangle 9"/>
          <p:cNvSpPr/>
          <p:nvPr/>
        </p:nvSpPr>
        <p:spPr>
          <a:xfrm>
            <a:off x="3566160" y="3703320"/>
            <a:ext cx="5056632" cy="1417320"/>
          </a:xfrm>
          <a:prstGeom prst="roundRect">
            <a:avLst>
              <a:gd name="adj" fmla="val 5500"/>
            </a:avLst>
          </a:prstGeom>
          <a:solidFill>
            <a:srgbClr val="131B2E"/>
          </a:solidFill>
          <a:ln w="12700">
            <a:solidFill>
              <a:srgbClr val="2A36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840480" y="3858768"/>
            <a:ext cx="4572000" cy="274320"/>
          </a:xfrm>
          <a:prstGeom prst="rect">
            <a:avLst/>
          </a:prstGeom>
          <a:noFill/>
        </p:spPr>
        <p:txBody>
          <a:bodyPr wrap="square" anchor="t" lIns="0" rIns="0" tIns="0" bIns="0">
            <a:noAutofit/>
          </a:bodyPr>
          <a:lstStyle/>
          <a:p>
            <a:pPr algn="ctr">
              <a:lnSpc>
                <a:spcPct val="100000"/>
              </a:lnSpc>
              <a:spcAft>
                <a:spcPts val="0"/>
              </a:spcAft>
            </a:pPr>
            <a:r>
              <a:rPr sz="1100" b="1" i="0" spc="120">
                <a:solidFill>
                  <a:srgbClr val="EDA100"/>
                </a:solidFill>
                <a:latin typeface="Segoe UI"/>
              </a:rPr>
              <a:t>TEAM KAVACH</a:t>
            </a:r>
          </a:p>
        </p:txBody>
      </p:sp>
      <p:sp>
        <p:nvSpPr>
          <p:cNvPr id="12" name="TextBox 11"/>
          <p:cNvSpPr txBox="1"/>
          <p:nvPr/>
        </p:nvSpPr>
        <p:spPr>
          <a:xfrm>
            <a:off x="3840480" y="4160520"/>
            <a:ext cx="4572000" cy="365760"/>
          </a:xfrm>
          <a:prstGeom prst="rect">
            <a:avLst/>
          </a:prstGeom>
          <a:noFill/>
        </p:spPr>
        <p:txBody>
          <a:bodyPr wrap="square" anchor="t" lIns="0" rIns="0" tIns="0" bIns="0">
            <a:noAutofit/>
          </a:bodyPr>
          <a:lstStyle/>
          <a:p>
            <a:pPr algn="ctr">
              <a:lnSpc>
                <a:spcPct val="100000"/>
              </a:lnSpc>
              <a:spcAft>
                <a:spcPts val="0"/>
              </a:spcAft>
            </a:pPr>
            <a:r>
              <a:rPr sz="1300" b="1" i="0">
                <a:solidFill>
                  <a:srgbClr val="F5F7FA"/>
                </a:solidFill>
                <a:latin typeface="Segoe UI"/>
              </a:rPr>
              <a:t>Harshith B · Tejashwan Gangishetty · Pratham Lal</a:t>
            </a:r>
          </a:p>
        </p:txBody>
      </p:sp>
      <p:sp>
        <p:nvSpPr>
          <p:cNvPr id="13" name="TextBox 12"/>
          <p:cNvSpPr txBox="1"/>
          <p:nvPr/>
        </p:nvSpPr>
        <p:spPr>
          <a:xfrm>
            <a:off x="3840480" y="4498848"/>
            <a:ext cx="4572000" cy="320040"/>
          </a:xfrm>
          <a:prstGeom prst="rect">
            <a:avLst/>
          </a:prstGeom>
          <a:noFill/>
        </p:spPr>
        <p:txBody>
          <a:bodyPr wrap="square" anchor="t" lIns="0" rIns="0" tIns="0" bIns="0">
            <a:noAutofit/>
          </a:bodyPr>
          <a:lstStyle/>
          <a:p>
            <a:pPr algn="ctr">
              <a:lnSpc>
                <a:spcPct val="100000"/>
              </a:lnSpc>
              <a:spcAft>
                <a:spcPts val="0"/>
              </a:spcAft>
            </a:pPr>
            <a:r>
              <a:rPr sz="1150" b="0" i="0">
                <a:solidFill>
                  <a:srgbClr val="9AA7BD"/>
                </a:solidFill>
                <a:latin typeface="Segoe UI"/>
              </a:rPr>
              <a:t>Vellore Institute of Technology</a:t>
            </a:r>
          </a:p>
        </p:txBody>
      </p:sp>
      <p:sp>
        <p:nvSpPr>
          <p:cNvPr id="14" name="TextBox 13"/>
          <p:cNvSpPr txBox="1"/>
          <p:nvPr/>
        </p:nvSpPr>
        <p:spPr>
          <a:xfrm>
            <a:off x="3840480" y="4773168"/>
            <a:ext cx="4572000" cy="274320"/>
          </a:xfrm>
          <a:prstGeom prst="rect">
            <a:avLst/>
          </a:prstGeom>
          <a:noFill/>
        </p:spPr>
        <p:txBody>
          <a:bodyPr wrap="square" anchor="t" lIns="0" rIns="0" tIns="0" bIns="0">
            <a:noAutofit/>
          </a:bodyPr>
          <a:lstStyle/>
          <a:p>
            <a:pPr algn="ctr">
              <a:lnSpc>
                <a:spcPct val="100000"/>
              </a:lnSpc>
              <a:spcAft>
                <a:spcPts val="0"/>
              </a:spcAft>
            </a:pPr>
            <a:r>
              <a:rPr sz="1100" b="0" i="0">
                <a:solidFill>
                  <a:srgbClr val="6CAEF2"/>
                </a:solidFill>
                <a:latin typeface="Segoe UI"/>
              </a:rPr>
              <a:t>github.com/TROJAN1HAMMER/KAVACH</a:t>
            </a:r>
          </a:p>
        </p:txBody>
      </p:sp>
      <p:sp>
        <p:nvSpPr>
          <p:cNvPr id="15" name="Rounded Rectangle 14"/>
          <p:cNvSpPr/>
          <p:nvPr/>
        </p:nvSpPr>
        <p:spPr>
          <a:xfrm>
            <a:off x="9326880" y="3703320"/>
            <a:ext cx="1417320" cy="1417320"/>
          </a:xfrm>
          <a:prstGeom prst="roundRect">
            <a:avLst>
              <a:gd name="adj" fmla="val 6000"/>
            </a:avLst>
          </a:prstGeom>
          <a:solidFill>
            <a:srgbClr val="131B2E"/>
          </a:solidFill>
          <a:ln w="9525">
            <a:solidFill>
              <a:srgbClr val="3A486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50">
                <a:solidFill>
                  <a:srgbClr val="64708A"/>
                </a:solidFill>
                <a:latin typeface="Segoe UI"/>
              </a:rPr>
              <a:t>QR
(GitHub repo)</a:t>
            </a:r>
          </a:p>
        </p:txBody>
      </p:sp>
      <p:sp>
        <p:nvSpPr>
          <p:cNvPr id="16" name="TextBox 15"/>
          <p:cNvSpPr txBox="1"/>
          <p:nvPr/>
        </p:nvSpPr>
        <p:spPr>
          <a:xfrm>
            <a:off x="2743200" y="5486400"/>
            <a:ext cx="6702552" cy="457200"/>
          </a:xfrm>
          <a:prstGeom prst="rect">
            <a:avLst/>
          </a:prstGeom>
          <a:noFill/>
        </p:spPr>
        <p:txBody>
          <a:bodyPr wrap="square" anchor="t" lIns="0" rIns="0" tIns="0" bIns="0">
            <a:noAutofit/>
          </a:bodyPr>
          <a:lstStyle/>
          <a:p>
            <a:pPr algn="ctr">
              <a:lnSpc>
                <a:spcPct val="100000"/>
              </a:lnSpc>
              <a:spcAft>
                <a:spcPts val="0"/>
              </a:spcAft>
            </a:pPr>
            <a:r>
              <a:rPr sz="2000" b="1" i="0">
                <a:solidFill>
                  <a:srgbClr val="FFC64B"/>
                </a:solidFill>
                <a:latin typeface="Segoe UI"/>
              </a:rPr>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